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83" r:id="rId5"/>
    <p:sldId id="284" r:id="rId6"/>
    <p:sldId id="285" r:id="rId7"/>
    <p:sldId id="286" r:id="rId8"/>
    <p:sldId id="259" r:id="rId9"/>
    <p:sldId id="281" r:id="rId10"/>
    <p:sldId id="282" r:id="rId11"/>
    <p:sldId id="260" r:id="rId12"/>
    <p:sldId id="268" r:id="rId13"/>
    <p:sldId id="273" r:id="rId14"/>
    <p:sldId id="275" r:id="rId15"/>
    <p:sldId id="277" r:id="rId16"/>
    <p:sldId id="276" r:id="rId17"/>
    <p:sldId id="278" r:id="rId18"/>
    <p:sldId id="279" r:id="rId19"/>
    <p:sldId id="261" r:id="rId20"/>
    <p:sldId id="262" r:id="rId21"/>
    <p:sldId id="263" r:id="rId22"/>
    <p:sldId id="264" r:id="rId23"/>
    <p:sldId id="265" r:id="rId24"/>
    <p:sldId id="266" r:id="rId25"/>
  </p:sldIdLst>
  <p:sldSz cx="12192000" cy="6858000"/>
  <p:notesSz cx="6858000" cy="12192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049"/>
    <a:srgbClr val="F1844E"/>
    <a:srgbClr val="E78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97" autoAdjust="0"/>
    <p:restoredTop sz="86375" autoAdjust="0"/>
  </p:normalViewPr>
  <p:slideViewPr>
    <p:cSldViewPr snapToGrid="0">
      <p:cViewPr varScale="1">
        <p:scale>
          <a:sx n="110" d="100"/>
          <a:sy n="110" d="100"/>
        </p:scale>
        <p:origin x="120" y="7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desplazar la diapositiva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91FBB5-54EE-48E9-8D81-C0BB26974BA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2A1DD-1459-4EF5-8A04-0CA7884779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29DAB-6C00-4A48-8B49-B4807E0277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C2A1DD-1459-4EF5-8A04-0CA7884779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2366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78AB3-840B-4C67-8FE5-1FCB1A0F47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9C574C-F0E4-4A05-AA7A-D58DB1738B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F25260-7B0B-4E7A-A10F-D58BF1644F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364147-AD81-414A-BC68-A4CE14600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1C4F11-CF54-42CF-84C2-AE98547CA5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E62C6B-C47D-4652-8564-62EADB014D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BA637-85BE-4331-89CC-6AD7D773FA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E34853-672D-41B8-B00A-5A9397403D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Pulse para editar el formato de texto del esquema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nivel del esquema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Tercer nivel del esquema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Cuarto nivel del esquema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nivel del esquema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Sexto nivel del esquema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13" Type="http://schemas.openxmlformats.org/officeDocument/2006/relationships/slide" Target="slide22.xml"/><Relationship Id="rId18" Type="http://schemas.openxmlformats.org/officeDocument/2006/relationships/slide" Target="slide13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12" Type="http://schemas.openxmlformats.org/officeDocument/2006/relationships/slide" Target="slide21.xml"/><Relationship Id="rId17" Type="http://schemas.openxmlformats.org/officeDocument/2006/relationships/slide" Target="slide12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11" Type="http://schemas.openxmlformats.org/officeDocument/2006/relationships/slide" Target="slide20.xml"/><Relationship Id="rId5" Type="http://schemas.openxmlformats.org/officeDocument/2006/relationships/slide" Target="slide3.xml"/><Relationship Id="rId15" Type="http://schemas.openxmlformats.org/officeDocument/2006/relationships/image" Target="../media/image2.png"/><Relationship Id="rId10" Type="http://schemas.openxmlformats.org/officeDocument/2006/relationships/slide" Target="slide19.xml"/><Relationship Id="rId19" Type="http://schemas.openxmlformats.org/officeDocument/2006/relationships/image" Target="../media/image6.png"/><Relationship Id="rId4" Type="http://schemas.openxmlformats.org/officeDocument/2006/relationships/slide" Target="slide4.xml"/><Relationship Id="rId9" Type="http://schemas.openxmlformats.org/officeDocument/2006/relationships/slide" Target="slide11.xml"/><Relationship Id="rId1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slide" Target="slide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slide" Target="slide3.xml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slide" Target="slide1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slide" Target="slide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13.jpeg"/><Relationship Id="rId7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10" Type="http://schemas.openxmlformats.org/officeDocument/2006/relationships/image" Target="../media/image6.png"/><Relationship Id="rId4" Type="http://schemas.openxmlformats.org/officeDocument/2006/relationships/slide" Target="slide14.xml"/><Relationship Id="rId9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26" Type="http://schemas.openxmlformats.org/officeDocument/2006/relationships/image" Target="../media/image9.png"/><Relationship Id="rId3" Type="http://schemas.openxmlformats.org/officeDocument/2006/relationships/image" Target="../media/image15.png"/><Relationship Id="rId21" Type="http://schemas.openxmlformats.org/officeDocument/2006/relationships/image" Target="../media/image32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.png"/><Relationship Id="rId25" Type="http://schemas.openxmlformats.org/officeDocument/2006/relationships/slide" Target="slide13.xml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24" Type="http://schemas.openxmlformats.org/officeDocument/2006/relationships/image" Target="../media/image8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23" Type="http://schemas.openxmlformats.org/officeDocument/2006/relationships/slide" Target="slide3.xml"/><Relationship Id="rId10" Type="http://schemas.openxmlformats.org/officeDocument/2006/relationships/image" Target="../media/image22.png"/><Relationship Id="rId19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3.png"/><Relationship Id="rId27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4.jp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8.png"/><Relationship Id="rId4" Type="http://schemas.openxmlformats.org/officeDocument/2006/relationships/slide" Target="slide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image" Target="../media/image35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.xml"/><Relationship Id="rId5" Type="http://schemas.openxmlformats.org/officeDocument/2006/relationships/image" Target="../media/image37.jpeg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8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8.png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office_dark.jpg"/>
          <p:cNvPicPr>
            <a:picLocks noChangeAspect="1"/>
          </p:cNvPicPr>
          <p:nvPr/>
        </p:nvPicPr>
        <p:blipFill>
          <a:blip r:embed="rId3"/>
          <a:srcRect t="7279" b="7279"/>
          <a:stretch>
            <a:fillRect/>
          </a:stretch>
        </p:blipFill>
        <p:spPr>
          <a:xfrm>
            <a:off x="0" y="438480"/>
            <a:ext cx="12188952" cy="6008040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85089BF-ADF6-CD49-BBDA-EF721C2E2416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11" name="Shape 1"/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5" name="Text 5"/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Text 12"/>
          <p:cNvSpPr/>
          <p:nvPr/>
        </p:nvSpPr>
        <p:spPr>
          <a:xfrm>
            <a:off x="713232" y="1481328"/>
            <a:ext cx="658368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Ingeniería Aumentada</a:t>
            </a: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con Sistemas Inteligentes</a:t>
            </a: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9808" y="3182112"/>
            <a:ext cx="6217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CE8F2"/>
                </a:solidFill>
                <a:effectLst/>
                <a:uFillTx/>
                <a:latin typeface="Aptos"/>
                <a:ea typeface="Aptos"/>
              </a:rPr>
              <a:t>De la tesis metodológica a la infraestructura operativa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IASI </a:t>
            </a:r>
            <a:r>
              <a:rPr lang="es-ES" sz="100" b="0" u="none" strike="noStrike" dirty="0" err="1">
                <a:solidFill>
                  <a:schemeClr val="dk1"/>
                </a:solidFill>
                <a:effectLst/>
                <a:uFillTx/>
                <a:latin typeface="Aptos Display"/>
              </a:rPr>
              <a:t>Ecosystem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4160520"/>
            <a:ext cx="6217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CDDCE8"/>
                </a:solidFill>
                <a:latin typeface="Aptos"/>
              </a:rPr>
              <a:t>METODOLOGÍA  ·  SOFTWARE  ·  INFRAESTRUCTURA  ·  PUBLICACIÓN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9CC4322-3CF9-F389-69F2-DF421FA74E5B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10" name="Shape 0"/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04" y="103291"/>
              <a:ext cx="135761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1200" b="1" dirty="0">
                  <a:solidFill>
                    <a:schemeClr val="bg1"/>
                  </a:solidFill>
                  <a:latin typeface="Aptos"/>
                </a:rPr>
                <a:t>IASI ECOSYSTEM</a:t>
              </a: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9C6B46F7-C537-AE0B-47BC-493B878FB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" descr="under-construction(1).png"/>
          <p:cNvPicPr/>
          <p:nvPr/>
        </p:nvPicPr>
        <p:blipFill>
          <a:blip r:embed="rId2"/>
          <a:stretch/>
        </p:blipFill>
        <p:spPr>
          <a:xfrm>
            <a:off x="0" y="412674"/>
            <a:ext cx="12191400" cy="603384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46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IASI está en construcción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1FA1567-3255-6439-131D-60FD24BD5ACD}"/>
              </a:ext>
            </a:extLst>
          </p:cNvPr>
          <p:cNvSpPr/>
          <p:nvPr/>
        </p:nvSpPr>
        <p:spPr>
          <a:xfrm>
            <a:off x="0" y="0"/>
            <a:ext cx="12191400" cy="438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496C9DBB-30D0-8D21-2CAA-665CD9A9F61D}"/>
              </a:ext>
            </a:extLst>
          </p:cNvPr>
          <p:cNvSpPr txBox="1"/>
          <p:nvPr/>
        </p:nvSpPr>
        <p:spPr>
          <a:xfrm>
            <a:off x="0" y="80740"/>
            <a:ext cx="163589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200" b="1" dirty="0">
                <a:solidFill>
                  <a:schemeClr val="bg1"/>
                </a:solidFill>
                <a:latin typeface="Aptos"/>
              </a:rPr>
              <a:t>WORK IN PROGRESS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pic>
        <p:nvPicPr>
          <p:cNvPr id="5" name="Imagen 4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3F79661-5F74-8517-AF1A-E95953E14C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1840" y="34674"/>
            <a:ext cx="378000" cy="378000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684F4F7B-90F1-B801-8E6C-29002625FEC9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6AE4DC4D-F005-3FF4-7A89-FD9AAB917287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EC7A5F53-7485-C986-2955-D616B1006BC4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desktop_wash.jpg"/>
          <p:cNvPicPr>
            <a:picLocks noChangeAspect="1"/>
          </p:cNvPicPr>
          <p:nvPr/>
        </p:nvPicPr>
        <p:blipFill>
          <a:blip r:embed="rId3"/>
          <a:srcRect l="33963" r="33963"/>
          <a:stretch>
            <a:fillRect/>
          </a:stretch>
        </p:blipFill>
        <p:spPr>
          <a:xfrm>
            <a:off x="8769030" y="1508760"/>
            <a:ext cx="2386650" cy="4251960"/>
          </a:xfrm>
          <a:prstGeom prst="rect">
            <a:avLst/>
          </a:prstGeom>
        </p:spPr>
      </p:pic>
      <p:sp>
        <p:nvSpPr>
          <p:cNvPr id="30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ÍNDICE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Una lectura rápida de la idea, los productos, la infraestructura y la forma de publicación.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>
            <a:hlinkClick r:id="rId4" action="ppaction://hlinksldjump"/>
          </p:cNvPr>
          <p:cNvSpPr/>
          <p:nvPr/>
        </p:nvSpPr>
        <p:spPr>
          <a:xfrm>
            <a:off x="914400" y="178308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 dirty="0">
                <a:solidFill>
                  <a:schemeClr val="accent4"/>
                </a:solidFill>
                <a:effectLst/>
                <a:uFillTx/>
                <a:latin typeface="Aptos"/>
                <a:hlinkClick r:id="rId5" action="ppaction://hlinksldjump"/>
              </a:rPr>
              <a:t>01</a:t>
            </a:r>
            <a:endParaRPr lang="es-E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>
            <a:hlinkClick r:id="rId4" action="ppaction://hlinksldjump"/>
          </p:cNvPr>
          <p:cNvSpPr/>
          <p:nvPr/>
        </p:nvSpPr>
        <p:spPr>
          <a:xfrm>
            <a:off x="1417320" y="178308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 dirty="0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IASI </a:t>
            </a:r>
            <a:r>
              <a:rPr lang="en-US" sz="1500" b="0" u="sng" strike="noStrike" dirty="0" err="1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nace</a:t>
            </a:r>
            <a:r>
              <a:rPr lang="en-US" sz="1500" b="0" u="sng" strike="noStrike" dirty="0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 </a:t>
            </a:r>
            <a:r>
              <a:rPr lang="en-US" sz="1500" b="0" u="sng" strike="noStrike" dirty="0" err="1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como</a:t>
            </a:r>
            <a:r>
              <a:rPr lang="en-US" sz="1500" b="0" u="sng" strike="noStrike" dirty="0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 </a:t>
            </a:r>
            <a:r>
              <a:rPr lang="en-US" sz="1500" b="0" u="sng" strike="noStrike" dirty="0" err="1">
                <a:solidFill>
                  <a:schemeClr val="dk1"/>
                </a:solidFill>
                <a:effectLst/>
                <a:uFillTx/>
                <a:latin typeface="Aptos"/>
                <a:hlinkClick r:id="rId5" action="ppaction://hlinksldjump"/>
              </a:rPr>
              <a:t>metodología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8412480" y="190188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Text 13">
            <a:hlinkClick r:id="rId6" action="ppaction://hlinksldjump"/>
          </p:cNvPr>
          <p:cNvSpPr/>
          <p:nvPr/>
        </p:nvSpPr>
        <p:spPr>
          <a:xfrm>
            <a:off x="914400" y="228600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 dirty="0">
                <a:solidFill>
                  <a:schemeClr val="accent4"/>
                </a:solidFill>
                <a:effectLst/>
                <a:uFillTx/>
                <a:latin typeface="Aptos"/>
                <a:hlinkClick r:id="rId7" action="ppaction://hlinksldjump"/>
              </a:rPr>
              <a:t>02</a:t>
            </a:r>
            <a:endParaRPr lang="es-E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>
            <a:hlinkClick r:id="rId6" action="ppaction://hlinksldjump"/>
          </p:cNvPr>
          <p:cNvSpPr/>
          <p:nvPr/>
        </p:nvSpPr>
        <p:spPr>
          <a:xfrm>
            <a:off x="1417320" y="228600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 dirty="0" err="1">
                <a:solidFill>
                  <a:schemeClr val="dk1"/>
                </a:solidFill>
                <a:effectLst/>
                <a:uFillTx/>
                <a:latin typeface="Aptos"/>
              </a:rPr>
              <a:t>Ecosistema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5"/>
          <p:cNvSpPr/>
          <p:nvPr/>
        </p:nvSpPr>
        <p:spPr>
          <a:xfrm>
            <a:off x="8412480" y="240480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Text 17">
            <a:hlinkClick r:id="rId8" action="ppaction://hlinksldjump"/>
          </p:cNvPr>
          <p:cNvSpPr/>
          <p:nvPr/>
        </p:nvSpPr>
        <p:spPr>
          <a:xfrm>
            <a:off x="914400" y="580644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>
                <a:solidFill>
                  <a:schemeClr val="accent4"/>
                </a:solidFill>
                <a:effectLst/>
                <a:uFillTx/>
                <a:latin typeface="Aptos"/>
                <a:hlinkClick r:id="rId9" action="ppaction://hlinksldjump"/>
              </a:rPr>
              <a:t>09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>
            <a:hlinkClick r:id="rId10" action="ppaction://hlinksldjump"/>
          </p:cNvPr>
          <p:cNvSpPr/>
          <p:nvPr/>
        </p:nvSpPr>
        <p:spPr>
          <a:xfrm>
            <a:off x="1417320" y="32918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9" action="ppaction://hlinksldjump"/>
              </a:rPr>
              <a:t>Principios de infraestructura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8412480" y="290772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Text 21">
            <a:hlinkClick r:id="rId10" action="ppaction://hlinksldjump"/>
          </p:cNvPr>
          <p:cNvSpPr/>
          <p:nvPr/>
        </p:nvSpPr>
        <p:spPr>
          <a:xfrm>
            <a:off x="914400" y="329184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>
                <a:solidFill>
                  <a:schemeClr val="accent4"/>
                </a:solidFill>
                <a:effectLst/>
                <a:uFillTx/>
                <a:latin typeface="Aptos"/>
                <a:hlinkClick r:id="rId10" action="ppaction://hlinksldjump"/>
              </a:rPr>
              <a:t>04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>
            <a:hlinkClick r:id="rId11" action="ppaction://hlinksldjump"/>
          </p:cNvPr>
          <p:cNvSpPr/>
          <p:nvPr/>
        </p:nvSpPr>
        <p:spPr>
          <a:xfrm>
            <a:off x="1417320" y="379476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0" action="ppaction://hlinksldjump"/>
              </a:rPr>
              <a:t>Topología IASI Infrastructure V2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8412480" y="341064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Text 25">
            <a:hlinkClick r:id="rId11" action="ppaction://hlinksldjump"/>
          </p:cNvPr>
          <p:cNvSpPr/>
          <p:nvPr/>
        </p:nvSpPr>
        <p:spPr>
          <a:xfrm>
            <a:off x="914400" y="379476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>
                <a:solidFill>
                  <a:schemeClr val="accent4"/>
                </a:solidFill>
                <a:effectLst/>
                <a:uFillTx/>
                <a:latin typeface="Aptos"/>
                <a:hlinkClick r:id="rId11" action="ppaction://hlinksldjump"/>
              </a:rPr>
              <a:t>05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>
            <a:hlinkClick r:id="rId12" action="ppaction://hlinksldjump"/>
          </p:cNvPr>
          <p:cNvSpPr/>
          <p:nvPr/>
        </p:nvSpPr>
        <p:spPr>
          <a:xfrm>
            <a:off x="1417320" y="429768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1" action="ppaction://hlinksldjump"/>
              </a:rPr>
              <a:t>Nodos y responsabilidades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8412480" y="391356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8412480" y="441648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Text 33">
            <a:hlinkClick r:id="rId13" action="ppaction://hlinksldjump"/>
          </p:cNvPr>
          <p:cNvSpPr/>
          <p:nvPr/>
        </p:nvSpPr>
        <p:spPr>
          <a:xfrm>
            <a:off x="914400" y="480060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>
                <a:solidFill>
                  <a:schemeClr val="accent4"/>
                </a:solidFill>
                <a:effectLst/>
                <a:uFillTx/>
                <a:latin typeface="Aptos"/>
                <a:hlinkClick r:id="rId13" action="ppaction://hlinksldjump"/>
              </a:rPr>
              <a:t>07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4">
            <a:hlinkClick r:id="rId14" action="ppaction://hlinksldjump"/>
          </p:cNvPr>
          <p:cNvSpPr/>
          <p:nvPr/>
        </p:nvSpPr>
        <p:spPr>
          <a:xfrm>
            <a:off x="1417320" y="530352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3" action="ppaction://hlinksldjump"/>
              </a:rPr>
              <a:t>Promoción desde labs/work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5"/>
          <p:cNvSpPr/>
          <p:nvPr/>
        </p:nvSpPr>
        <p:spPr>
          <a:xfrm>
            <a:off x="8412480" y="491940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Text 37">
            <a:hlinkClick r:id="rId14" action="ppaction://hlinksldjump"/>
          </p:cNvPr>
          <p:cNvSpPr/>
          <p:nvPr/>
        </p:nvSpPr>
        <p:spPr>
          <a:xfrm>
            <a:off x="914400" y="530352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>
                <a:solidFill>
                  <a:schemeClr val="accent4"/>
                </a:solidFill>
                <a:effectLst/>
                <a:uFillTx/>
                <a:latin typeface="Aptos"/>
                <a:hlinkClick r:id="rId14" action="ppaction://hlinksldjump"/>
              </a:rPr>
              <a:t>08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8">
            <a:hlinkClick r:id="rId8" action="ppaction://hlinksldjump"/>
          </p:cNvPr>
          <p:cNvSpPr/>
          <p:nvPr/>
        </p:nvSpPr>
        <p:spPr>
          <a:xfrm>
            <a:off x="1417320" y="58064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4" action="ppaction://hlinksldjump"/>
              </a:rPr>
              <a:t>Próximos pasos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9"/>
          <p:cNvSpPr/>
          <p:nvPr/>
        </p:nvSpPr>
        <p:spPr>
          <a:xfrm>
            <a:off x="8412480" y="5422320"/>
            <a:ext cx="19202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181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Índice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79408" y="4773168"/>
            <a:ext cx="192024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182938"/>
                </a:solidFill>
                <a:latin typeface="Aptos"/>
              </a:rPr>
              <a:t>DEL CONCEPTO</a:t>
            </a:r>
            <a:br/>
            <a:r>
              <a:t>AL SISTEMA</a:t>
            </a:r>
          </a:p>
        </p:txBody>
      </p:sp>
      <p:sp>
        <p:nvSpPr>
          <p:cNvPr id="60" name="TextBox 59">
            <a:hlinkClick r:id="rId12" action="ppaction://hlinksldjump"/>
          </p:cNvPr>
          <p:cNvSpPr txBox="1"/>
          <p:nvPr/>
        </p:nvSpPr>
        <p:spPr>
          <a:xfrm>
            <a:off x="914400" y="4297680"/>
            <a:ext cx="365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59B7E1"/>
                </a:solidFill>
                <a:latin typeface="Aptos"/>
              </a:rPr>
              <a:t>06</a:t>
            </a:r>
          </a:p>
        </p:txBody>
      </p:sp>
      <p:sp>
        <p:nvSpPr>
          <p:cNvPr id="61" name="TextBox 60">
            <a:hlinkClick r:id="rId13" action="ppaction://hlinksldjump"/>
          </p:cNvPr>
          <p:cNvSpPr txBox="1"/>
          <p:nvPr/>
        </p:nvSpPr>
        <p:spPr>
          <a:xfrm>
            <a:off x="1417320" y="4800600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419DCC"/>
                </a:solidFill>
                <a:latin typeface="Aptos"/>
              </a:rPr>
              <a:t>Publicación y materialización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E935A56-D81C-28D6-ACD0-68588F9D0A59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FD24C44D-5BC7-AB3F-7674-08860BD34C27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A7E40812-FA85-2A92-7EFF-420F4E891D15}"/>
                </a:ext>
              </a:extLst>
            </p:cNvPr>
            <p:cNvSpPr txBox="1"/>
            <p:nvPr/>
          </p:nvSpPr>
          <p:spPr>
            <a:xfrm>
              <a:off x="19004" y="103291"/>
              <a:ext cx="688009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s-ES" sz="1200" b="1" dirty="0" err="1">
                  <a:solidFill>
                    <a:schemeClr val="bg1"/>
                  </a:solidFill>
                  <a:latin typeface="Aptos"/>
                </a:rPr>
                <a:t>íNDICE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E0C71D7C-0F66-068B-F1A2-01330EC6F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pic>
        <p:nvPicPr>
          <p:cNvPr id="10" name="Imagen 9" descr="Un monitor de computadora azul">
            <a:extLst>
              <a:ext uri="{FF2B5EF4-FFF2-40B4-BE49-F238E27FC236}">
                <a16:creationId xmlns:a16="http://schemas.microsoft.com/office/drawing/2014/main" id="{A7A760C3-ABD6-D7B7-378E-9326E76F0BB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400" y="412077"/>
            <a:ext cx="4572000" cy="6034443"/>
          </a:xfrm>
          <a:prstGeom prst="rect">
            <a:avLst/>
          </a:prstGeom>
        </p:spPr>
      </p:pic>
      <p:sp>
        <p:nvSpPr>
          <p:cNvPr id="62" name="Text 17_products_num">
            <a:hlinkClick r:id="rId17" action="ppaction://hlinksldjump"/>
          </p:cNvPr>
          <p:cNvSpPr/>
          <p:nvPr/>
        </p:nvSpPr>
        <p:spPr>
          <a:xfrm>
            <a:off x="914400" y="2788920"/>
            <a:ext cx="3654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sng" strike="noStrike" dirty="0">
                <a:solidFill>
                  <a:schemeClr val="accent4"/>
                </a:solidFill>
                <a:effectLst/>
                <a:uFillTx/>
                <a:latin typeface="Aptos"/>
                <a:hlinkClick r:id="rId18" action="ppaction://hlinksldjump"/>
              </a:rPr>
              <a:t>03</a:t>
            </a:r>
            <a:endParaRPr lang="es-E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_products_title">
            <a:hlinkClick r:id="rId17" action="ppaction://hlinksldjump"/>
          </p:cNvPr>
          <p:cNvSpPr/>
          <p:nvPr/>
        </p:nvSpPr>
        <p:spPr>
          <a:xfrm>
            <a:off x="1417320" y="278892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sng" strike="noStrike" dirty="0" err="1">
                <a:solidFill>
                  <a:schemeClr val="dk1"/>
                </a:solidFill>
                <a:effectLst/>
                <a:uFillTx/>
                <a:latin typeface="Aptos"/>
                <a:hlinkClick r:id="rId18" action="ppaction://hlinksldjump"/>
              </a:rPr>
              <a:t>Productos</a:t>
            </a:r>
            <a:r>
              <a:rPr lang="en-US" sz="1500" b="0" u="sng" strike="noStrike" dirty="0">
                <a:solidFill>
                  <a:schemeClr val="dk1"/>
                </a:solidFill>
                <a:effectLst/>
                <a:uFillTx/>
                <a:latin typeface="Aptos"/>
                <a:hlinkClick r:id="rId18" action="ppaction://hlinksldjump"/>
              </a:rPr>
              <a:t> IASI</a:t>
            </a:r>
            <a:endParaRPr lang="es-E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477B48E-3921-D153-DF76-C7940D2CB28E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31" name="Text 5"/>
            <p:cNvSpPr/>
            <p:nvPr/>
          </p:nvSpPr>
          <p:spPr>
            <a:xfrm>
              <a:off x="411480" y="655632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Ingeniería Aumentada con Sistemas Inteligentes</a:t>
              </a:r>
              <a:endParaRPr lang="es-E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85359076-F6CD-FA12-C8C4-D5918B6B2E83}"/>
                </a:ext>
              </a:extLst>
            </p:cNvPr>
            <p:cNvGrpSpPr/>
            <p:nvPr/>
          </p:nvGrpSpPr>
          <p:grpSpPr>
            <a:xfrm>
              <a:off x="0" y="6446520"/>
              <a:ext cx="12191400" cy="411120"/>
              <a:chOff x="0" y="6446520"/>
              <a:chExt cx="12191400" cy="411120"/>
            </a:xfrm>
          </p:grpSpPr>
          <p:sp>
            <p:nvSpPr>
              <p:cNvPr id="18" name="Shape 1">
                <a:extLst>
                  <a:ext uri="{FF2B5EF4-FFF2-40B4-BE49-F238E27FC236}">
                    <a16:creationId xmlns:a16="http://schemas.microsoft.com/office/drawing/2014/main" id="{58E9322D-722B-C04D-76B0-DBD8D73266D7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19" name="Text 5">
                <a:extLst>
                  <a:ext uri="{FF2B5EF4-FFF2-40B4-BE49-F238E27FC236}">
                    <a16:creationId xmlns:a16="http://schemas.microsoft.com/office/drawing/2014/main" id="{1F7B2485-28A4-C3EE-0664-F9DE86968260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7" name="Imagen 16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4BADB772-BDBA-2413-71BE-1597B3CA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99840" y="6472080"/>
              <a:ext cx="360000" cy="360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verde, oscuro, luz, parada&#10;&#10;El contenido generado por IA puede ser incorrecto.">
            <a:extLst>
              <a:ext uri="{FF2B5EF4-FFF2-40B4-BE49-F238E27FC236}">
                <a16:creationId xmlns:a16="http://schemas.microsoft.com/office/drawing/2014/main" id="{4A229375-47F7-EE2E-CE52-7666D4586B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" y="438480"/>
            <a:ext cx="12172396" cy="6008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3232" y="1481328"/>
            <a:ext cx="658368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Ingeniería Aumentada</a:t>
            </a: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con Sistemas Inteligentes</a:t>
            </a: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9808" y="3182112"/>
            <a:ext cx="6217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CE8F2"/>
                </a:solidFill>
                <a:effectLst/>
                <a:uFillTx/>
                <a:latin typeface="Aptos"/>
                <a:ea typeface="Aptos"/>
              </a:rPr>
              <a:t>De la tesis metodológica a la infraestructura operativa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origen portada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4160520"/>
            <a:ext cx="6217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CDDCE8"/>
                </a:solidFill>
                <a:latin typeface="Aptos"/>
              </a:rPr>
              <a:t>METODOLOGÍA  ·  SOFTWARE  ·  INFRAESTRUCTURA  ·  PUBLICACIÓN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9CC4322-3CF9-F389-69F2-DF421FA74E5B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10" name="Shape 0"/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04" y="103291"/>
              <a:ext cx="135761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1200" b="1" dirty="0">
                  <a:solidFill>
                    <a:schemeClr val="bg1"/>
                  </a:solidFill>
                  <a:latin typeface="Aptos"/>
                </a:rPr>
                <a:t>IASI ECOSYSTEM</a:t>
              </a: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9C6B46F7-C537-AE0B-47BC-493B878FB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9DF9CFC-3F80-D6CA-9EEA-6DDBF7BDE7AF}"/>
              </a:ext>
            </a:extLst>
          </p:cNvPr>
          <p:cNvGrpSpPr/>
          <p:nvPr/>
        </p:nvGrpSpPr>
        <p:grpSpPr>
          <a:xfrm>
            <a:off x="0" y="6446520"/>
            <a:ext cx="12191400" cy="365515"/>
            <a:chOff x="0" y="6446520"/>
            <a:chExt cx="12191400" cy="365515"/>
          </a:xfrm>
        </p:grpSpPr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EDD49888-A1B2-1AEF-DD27-B9B0E177EE64}"/>
                </a:ext>
              </a:extLst>
            </p:cNvPr>
            <p:cNvSpPr/>
            <p:nvPr/>
          </p:nvSpPr>
          <p:spPr>
            <a:xfrm>
              <a:off x="411480" y="6542667"/>
              <a:ext cx="5943240" cy="14374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Ingeniería Aumentada con Sistemas Inteligentes</a:t>
              </a:r>
              <a:endParaRPr lang="es-E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E6A8C616-48A5-3D97-0CEF-DB33DA93164A}"/>
                </a:ext>
              </a:extLst>
            </p:cNvPr>
            <p:cNvGrpSpPr/>
            <p:nvPr/>
          </p:nvGrpSpPr>
          <p:grpSpPr>
            <a:xfrm>
              <a:off x="0" y="6446520"/>
              <a:ext cx="12191400" cy="360000"/>
              <a:chOff x="0" y="6446520"/>
              <a:chExt cx="12191400" cy="411120"/>
            </a:xfrm>
          </p:grpSpPr>
          <p:sp>
            <p:nvSpPr>
              <p:cNvPr id="13" name="Shape 1">
                <a:extLst>
                  <a:ext uri="{FF2B5EF4-FFF2-40B4-BE49-F238E27FC236}">
                    <a16:creationId xmlns:a16="http://schemas.microsoft.com/office/drawing/2014/main" id="{E63472AD-3B6F-DF8E-33B0-23CE221F0E6B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14" name="Text 5">
                <a:extLst>
                  <a:ext uri="{FF2B5EF4-FFF2-40B4-BE49-F238E27FC236}">
                    <a16:creationId xmlns:a16="http://schemas.microsoft.com/office/drawing/2014/main" id="{C3C4417A-66B5-FCBD-4901-CF2D5803B403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" name="Imagen 11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A8822F0B-EB8E-9348-598E-E0F447639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99840" y="6474417"/>
              <a:ext cx="360000" cy="315236"/>
            </a:xfrm>
            <a:prstGeom prst="rect">
              <a:avLst/>
            </a:prstGeom>
          </p:spPr>
        </p:pic>
        <p:pic>
          <p:nvPicPr>
            <p:cNvPr id="16" name="Imagen 15" descr="Icono&#10;&#10;El contenido generado por IA puede ser incorrecto.">
              <a:hlinkClick r:id="rId6" action="ppaction://hlinksldjump"/>
              <a:extLst>
                <a:ext uri="{FF2B5EF4-FFF2-40B4-BE49-F238E27FC236}">
                  <a16:creationId xmlns:a16="http://schemas.microsoft.com/office/drawing/2014/main" id="{8E2ECF8A-2451-8ECC-A79C-9CF951453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7008" y="64520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2256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B42E6-5C30-007A-DAF6-DEDB94C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IASI preguntas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CE62C89-866D-022F-C603-B81B4BD88CBD}"/>
              </a:ext>
            </a:extLst>
          </p:cNvPr>
          <p:cNvSpPr txBox="1"/>
          <p:nvPr/>
        </p:nvSpPr>
        <p:spPr>
          <a:xfrm>
            <a:off x="103925" y="607555"/>
            <a:ext cx="119806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Ingeniería Aumentada con Sistemas Inteligentes (IASI) nace de unas preguntas muy sencillas:</a:t>
            </a:r>
          </a:p>
          <a:p>
            <a:endParaRPr lang="es-ES" dirty="0"/>
          </a:p>
          <a:p>
            <a:r>
              <a:rPr lang="es-ES" dirty="0"/>
              <a:t>Si los Sistemas Inteligentes (actualmente conocidos popularmente como IA) ya son parte de la realidad: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b="1" dirty="0"/>
              <a:t>¿Cómo podemos integrarlos de forma rigurosa en la ingeniería?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b="1" dirty="0"/>
              <a:t>¿Cómo cambia la forma en que hacemos ingeniería cuando participan en ella?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b="1" dirty="0"/>
              <a:t>¿Cómo afecta su participación a las personas, los roles, las responsabilidades y la toma de decisiones?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D99675A-A341-0F3E-C8D3-014D2D155D86}"/>
              </a:ext>
            </a:extLst>
          </p:cNvPr>
          <p:cNvSpPr txBox="1"/>
          <p:nvPr/>
        </p:nvSpPr>
        <p:spPr>
          <a:xfrm>
            <a:off x="103925" y="3026727"/>
            <a:ext cx="10053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 partir de aquí, el proyecto nace </a:t>
            </a:r>
            <a:r>
              <a:rPr lang="es-ES" i="1" dirty="0" err="1"/>
              <a:t>from</a:t>
            </a:r>
            <a:r>
              <a:rPr lang="es-ES" i="1" dirty="0"/>
              <a:t> scratch</a:t>
            </a:r>
            <a:r>
              <a:rPr lang="es-ES" baseline="30000" dirty="0"/>
              <a:t>1</a:t>
            </a:r>
            <a:r>
              <a:rPr lang="es-ES" dirty="0"/>
              <a:t>, sin asunciones previas y con unos principios claros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17E097-AE4C-B28E-AB1D-B7F4526241ED}"/>
              </a:ext>
            </a:extLst>
          </p:cNvPr>
          <p:cNvSpPr txBox="1"/>
          <p:nvPr/>
        </p:nvSpPr>
        <p:spPr>
          <a:xfrm>
            <a:off x="103925" y="6081529"/>
            <a:ext cx="11545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aseline="30000" dirty="0"/>
              <a:t>1</a:t>
            </a:r>
            <a:r>
              <a:rPr lang="es-ES" sz="1000" i="1" dirty="0"/>
              <a:t>From </a:t>
            </a:r>
            <a:r>
              <a:rPr lang="es-ES" sz="1000" i="1" dirty="0" err="1"/>
              <a:t>scratch</a:t>
            </a:r>
            <a:r>
              <a:rPr lang="es-ES" sz="1000" dirty="0"/>
              <a:t> es un concepto teórico, significa que nace sin asunciones ni condicionantes previos, pero nada nace desde cero, en este desde la experiencia de mas 30 años diseñando y creando diferentes software y </a:t>
            </a:r>
            <a:r>
              <a:rPr lang="es-ES" sz="1000" dirty="0" err="1"/>
              <a:t>metodologias</a:t>
            </a:r>
            <a:endParaRPr lang="es-ES" sz="10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0609921-7896-2B40-DF4C-887793E10914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5E9F9EF6-07D4-5643-551C-CDD9C132F623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AD4BFF21-3432-F448-2225-CBB4B8F37550}"/>
                </a:ext>
              </a:extLst>
            </p:cNvPr>
            <p:cNvSpPr txBox="1"/>
            <p:nvPr/>
          </p:nvSpPr>
          <p:spPr>
            <a:xfrm>
              <a:off x="19004" y="103291"/>
              <a:ext cx="2048510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IASI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nace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como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metodología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11" name="Imagen 10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6EF605A1-54A9-9F0C-11BC-E4416E0D2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46C4C03-6F80-3B14-174D-B97D0760D3DA}"/>
              </a:ext>
            </a:extLst>
          </p:cNvPr>
          <p:cNvSpPr txBox="1"/>
          <p:nvPr/>
        </p:nvSpPr>
        <p:spPr>
          <a:xfrm>
            <a:off x="838571" y="5139684"/>
            <a:ext cx="9228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As implementation costs less and less, knowledge becomes more and more valuable</a:t>
            </a:r>
            <a:endParaRPr lang="es-ES" b="1" dirty="0">
              <a:solidFill>
                <a:srgbClr val="C00000"/>
              </a:solidFill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CA4210C7-1A27-CBE7-BD1F-E949653FFCCA}"/>
              </a:ext>
            </a:extLst>
          </p:cNvPr>
          <p:cNvGrpSpPr/>
          <p:nvPr/>
        </p:nvGrpSpPr>
        <p:grpSpPr>
          <a:xfrm>
            <a:off x="0" y="6446520"/>
            <a:ext cx="12191400" cy="365515"/>
            <a:chOff x="0" y="6446520"/>
            <a:chExt cx="12191400" cy="365515"/>
          </a:xfrm>
        </p:grpSpPr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EB7A6DC8-22F9-19C4-B821-BAB63E2FD28E}"/>
                </a:ext>
              </a:extLst>
            </p:cNvPr>
            <p:cNvSpPr/>
            <p:nvPr/>
          </p:nvSpPr>
          <p:spPr>
            <a:xfrm>
              <a:off x="411480" y="6542667"/>
              <a:ext cx="5943240" cy="14374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Ingeniería Aumentada con Sistemas Inteligentes</a:t>
              </a:r>
              <a:endParaRPr lang="es-ES" sz="8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683CE675-692F-2D37-E593-A913D24DA709}"/>
                </a:ext>
              </a:extLst>
            </p:cNvPr>
            <p:cNvGrpSpPr/>
            <p:nvPr/>
          </p:nvGrpSpPr>
          <p:grpSpPr>
            <a:xfrm>
              <a:off x="0" y="6446520"/>
              <a:ext cx="12191400" cy="360000"/>
              <a:chOff x="0" y="6446520"/>
              <a:chExt cx="12191400" cy="411120"/>
            </a:xfrm>
          </p:grpSpPr>
          <p:sp>
            <p:nvSpPr>
              <p:cNvPr id="33" name="Shape 1">
                <a:extLst>
                  <a:ext uri="{FF2B5EF4-FFF2-40B4-BE49-F238E27FC236}">
                    <a16:creationId xmlns:a16="http://schemas.microsoft.com/office/drawing/2014/main" id="{80EC4741-42F9-82DE-8E82-860095255FA0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34" name="Text 5">
                <a:extLst>
                  <a:ext uri="{FF2B5EF4-FFF2-40B4-BE49-F238E27FC236}">
                    <a16:creationId xmlns:a16="http://schemas.microsoft.com/office/drawing/2014/main" id="{84069CC4-52A5-C20A-1212-F81B27869996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31" name="Imagen 30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A56A533B-E32E-729D-B1EF-89591C106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99840" y="6474417"/>
              <a:ext cx="360000" cy="315236"/>
            </a:xfrm>
            <a:prstGeom prst="rect">
              <a:avLst/>
            </a:prstGeom>
          </p:spPr>
        </p:pic>
        <p:pic>
          <p:nvPicPr>
            <p:cNvPr id="32" name="Imagen 31" descr="Icono&#10;&#10;El contenido generado por IA puede ser incorrecto.">
              <a:hlinkClick r:id="rId4" action="ppaction://hlinksldjump"/>
              <a:extLst>
                <a:ext uri="{FF2B5EF4-FFF2-40B4-BE49-F238E27FC236}">
                  <a16:creationId xmlns:a16="http://schemas.microsoft.com/office/drawing/2014/main" id="{B8306CC0-A49B-1DDF-A008-73EEE8EBE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7008" y="6452035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069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B42E6-5C30-007A-DAF6-DEDB94C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principios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0609921-7896-2B40-DF4C-887793E10914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5E9F9EF6-07D4-5643-551C-CDD9C132F623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AD4BFF21-3432-F448-2225-CBB4B8F37550}"/>
                </a:ext>
              </a:extLst>
            </p:cNvPr>
            <p:cNvSpPr txBox="1"/>
            <p:nvPr/>
          </p:nvSpPr>
          <p:spPr>
            <a:xfrm>
              <a:off x="19004" y="103291"/>
              <a:ext cx="113165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IASI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Principios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11" name="Imagen 10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6EF605A1-54A9-9F0C-11BC-E4416E0D2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E3A5873-8A07-E9AD-C6F9-36D7BA5547B7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1D0450BF-ED4D-F18E-5F5A-E0BC4BD65B8F}"/>
                </a:ext>
              </a:extLst>
            </p:cNvPr>
            <p:cNvGrpSpPr/>
            <p:nvPr/>
          </p:nvGrpSpPr>
          <p:grpSpPr>
            <a:xfrm>
              <a:off x="0" y="6446520"/>
              <a:ext cx="12191400" cy="411120"/>
              <a:chOff x="0" y="6446520"/>
              <a:chExt cx="12191400" cy="411120"/>
            </a:xfrm>
          </p:grpSpPr>
          <p:sp>
            <p:nvSpPr>
              <p:cNvPr id="20" name="Shape 1">
                <a:extLst>
                  <a:ext uri="{FF2B5EF4-FFF2-40B4-BE49-F238E27FC236}">
                    <a16:creationId xmlns:a16="http://schemas.microsoft.com/office/drawing/2014/main" id="{79087FE9-0CE9-71AD-0BCE-5CCF798FEFD9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F2B06563-E345-D822-20FA-A021BF354A4E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7" name="Imagen 16" descr="Icono&#10;&#10;El contenido generado por IA puede ser incorrecto.">
              <a:hlinkClick r:id="rId3" action="ppaction://hlinksldjump"/>
              <a:extLst>
                <a:ext uri="{FF2B5EF4-FFF2-40B4-BE49-F238E27FC236}">
                  <a16:creationId xmlns:a16="http://schemas.microsoft.com/office/drawing/2014/main" id="{710CB819-93CF-08B4-B1D6-AB784FDF8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0520" y="6487423"/>
              <a:ext cx="360000" cy="360000"/>
            </a:xfrm>
            <a:prstGeom prst="rect">
              <a:avLst/>
            </a:prstGeom>
          </p:spPr>
        </p:pic>
        <p:pic>
          <p:nvPicPr>
            <p:cNvPr id="18" name="Imagen 17" descr="Icono&#10;&#10;El contenido generado por IA puede ser incorrecto.">
              <a:hlinkClick r:id="rId5" action="ppaction://hlinksldjump"/>
              <a:extLst>
                <a:ext uri="{FF2B5EF4-FFF2-40B4-BE49-F238E27FC236}">
                  <a16:creationId xmlns:a16="http://schemas.microsoft.com/office/drawing/2014/main" id="{321D892B-596B-7A53-2CA9-20D75A68A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1560" y="6487423"/>
              <a:ext cx="360000" cy="360000"/>
            </a:xfrm>
            <a:prstGeom prst="rect">
              <a:avLst/>
            </a:prstGeom>
          </p:spPr>
        </p:pic>
        <p:pic>
          <p:nvPicPr>
            <p:cNvPr id="19" name="Imagen 18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2DDB21F9-71E5-57D6-C0D1-9ED18149E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1040" y="6487423"/>
              <a:ext cx="360000" cy="360000"/>
            </a:xfrm>
            <a:prstGeom prst="rect">
              <a:avLst/>
            </a:prstGeom>
          </p:spPr>
        </p:pic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BAF848C-1792-6C81-364F-7964BB36A264}"/>
              </a:ext>
            </a:extLst>
          </p:cNvPr>
          <p:cNvSpPr txBox="1"/>
          <p:nvPr/>
        </p:nvSpPr>
        <p:spPr>
          <a:xfrm>
            <a:off x="151236" y="1073101"/>
            <a:ext cx="74448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800" dirty="0"/>
              <a:t>No adaptamos el problema a la herramienta. Adaptamos la herramienta al problema.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800" dirty="0"/>
              <a:t>Primero el problema, después, la metodología, herramientas y tecnología.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Ante una nueva necesidad:</a:t>
            </a:r>
          </a:p>
          <a:p>
            <a:pPr marL="800100" lvl="1" indent="-342900">
              <a:buFont typeface="+mj-lt"/>
              <a:buAutoNum type="alphaLcParenR"/>
            </a:pPr>
            <a:r>
              <a:rPr lang="es-ES" dirty="0"/>
              <a:t>Si  existe “algo” en el mercado y nos vale, se usa</a:t>
            </a:r>
          </a:p>
          <a:p>
            <a:pPr marL="800100" lvl="1" indent="-342900">
              <a:buFont typeface="+mj-lt"/>
              <a:buAutoNum type="alphaLcParenR"/>
            </a:pPr>
            <a:r>
              <a:rPr lang="es-ES" dirty="0"/>
              <a:t>Si existe pero no es suficiente, se adapta, extiende o integra</a:t>
            </a:r>
          </a:p>
          <a:p>
            <a:pPr marL="800100" lvl="1" indent="-342900">
              <a:buFont typeface="+mj-lt"/>
              <a:buAutoNum type="alphaLcParenR"/>
            </a:pPr>
            <a:r>
              <a:rPr lang="es-ES" dirty="0"/>
              <a:t>Si no existe, se crea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Crear es una opción, no una obligación. Reutilizar tampoco es un dogma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No se prescribe un </a:t>
            </a:r>
            <a:r>
              <a:rPr lang="es-ES" i="1" dirty="0" err="1"/>
              <a:t>stack</a:t>
            </a:r>
            <a:r>
              <a:rPr lang="es-ES" dirty="0"/>
              <a:t>, se prescribe una forma de decidir el </a:t>
            </a:r>
            <a:r>
              <a:rPr lang="es-ES" i="1" dirty="0" err="1"/>
              <a:t>stack</a:t>
            </a:r>
            <a:endParaRPr lang="es-ES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</p:txBody>
      </p:sp>
      <p:pic>
        <p:nvPicPr>
          <p:cNvPr id="5" name="Imagen 4" descr="Foto en blanco y negro de una torre">
            <a:extLst>
              <a:ext uri="{FF2B5EF4-FFF2-40B4-BE49-F238E27FC236}">
                <a16:creationId xmlns:a16="http://schemas.microsoft.com/office/drawing/2014/main" id="{4DCA2848-B194-1333-8371-C484A180700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728" y="447348"/>
            <a:ext cx="4147940" cy="599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8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B42E6-5C30-007A-DAF6-DEDB94C86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Iasi-</a:t>
            </a:r>
            <a:r>
              <a:rPr lang="es-ES" dirty="0" err="1">
                <a:solidFill>
                  <a:schemeClr val="bg1"/>
                </a:solidFill>
              </a:rPr>
              <a:t>iasi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0609921-7896-2B40-DF4C-887793E10914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9" name="Shape 0">
              <a:extLst>
                <a:ext uri="{FF2B5EF4-FFF2-40B4-BE49-F238E27FC236}">
                  <a16:creationId xmlns:a16="http://schemas.microsoft.com/office/drawing/2014/main" id="{5E9F9EF6-07D4-5643-551C-CDD9C132F623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AD4BFF21-3432-F448-2225-CBB4B8F37550}"/>
                </a:ext>
              </a:extLst>
            </p:cNvPr>
            <p:cNvSpPr txBox="1"/>
            <p:nvPr/>
          </p:nvSpPr>
          <p:spPr>
            <a:xfrm>
              <a:off x="19004" y="103291"/>
              <a:ext cx="114582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IASI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sobre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IASI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11" name="Imagen 10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6EF605A1-54A9-9F0C-11BC-E4416E0D2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E3A5873-8A07-E9AD-C6F9-36D7BA5547B7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1D0450BF-ED4D-F18E-5F5A-E0BC4BD65B8F}"/>
                </a:ext>
              </a:extLst>
            </p:cNvPr>
            <p:cNvGrpSpPr/>
            <p:nvPr/>
          </p:nvGrpSpPr>
          <p:grpSpPr>
            <a:xfrm>
              <a:off x="0" y="6446520"/>
              <a:ext cx="12191400" cy="411120"/>
              <a:chOff x="0" y="6446520"/>
              <a:chExt cx="12191400" cy="411120"/>
            </a:xfrm>
          </p:grpSpPr>
          <p:sp>
            <p:nvSpPr>
              <p:cNvPr id="20" name="Shape 1">
                <a:extLst>
                  <a:ext uri="{FF2B5EF4-FFF2-40B4-BE49-F238E27FC236}">
                    <a16:creationId xmlns:a16="http://schemas.microsoft.com/office/drawing/2014/main" id="{79087FE9-0CE9-71AD-0BCE-5CCF798FEFD9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F2B06563-E345-D822-20FA-A021BF354A4E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7" name="Imagen 16" descr="Icono&#10;&#10;El contenido generado por IA puede ser incorrecto.">
              <a:hlinkClick r:id="rId3" action="ppaction://hlinksldjump"/>
              <a:extLst>
                <a:ext uri="{FF2B5EF4-FFF2-40B4-BE49-F238E27FC236}">
                  <a16:creationId xmlns:a16="http://schemas.microsoft.com/office/drawing/2014/main" id="{710CB819-93CF-08B4-B1D6-AB784FDF8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0520" y="6487423"/>
              <a:ext cx="360000" cy="360000"/>
            </a:xfrm>
            <a:prstGeom prst="rect">
              <a:avLst/>
            </a:prstGeom>
          </p:spPr>
        </p:pic>
        <p:pic>
          <p:nvPicPr>
            <p:cNvPr id="18" name="Imagen 17" descr="Icono&#10;&#10;El contenido generado por IA puede ser incorrecto.">
              <a:hlinkClick r:id="rId5" action="ppaction://hlinksldjump"/>
              <a:extLst>
                <a:ext uri="{FF2B5EF4-FFF2-40B4-BE49-F238E27FC236}">
                  <a16:creationId xmlns:a16="http://schemas.microsoft.com/office/drawing/2014/main" id="{321D892B-596B-7A53-2CA9-20D75A68A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1560" y="6487423"/>
              <a:ext cx="360000" cy="360000"/>
            </a:xfrm>
            <a:prstGeom prst="rect">
              <a:avLst/>
            </a:prstGeom>
          </p:spPr>
        </p:pic>
        <p:pic>
          <p:nvPicPr>
            <p:cNvPr id="19" name="Imagen 18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2DDB21F9-71E5-57D6-C0D1-9ED18149E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1040" y="6487423"/>
              <a:ext cx="360000" cy="360000"/>
            </a:xfrm>
            <a:prstGeom prst="rect">
              <a:avLst/>
            </a:prstGeom>
          </p:spPr>
        </p:pic>
      </p:grpSp>
      <p:pic>
        <p:nvPicPr>
          <p:cNvPr id="4" name="Imagen 3" descr="Dibujo de videojuego&#10;&#10;El contenido generado por IA puede ser incorrecto.">
            <a:extLst>
              <a:ext uri="{FF2B5EF4-FFF2-40B4-BE49-F238E27FC236}">
                <a16:creationId xmlns:a16="http://schemas.microsoft.com/office/drawing/2014/main" id="{BCDEBC40-6CDA-B037-19B1-3211A3E038E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12674"/>
            <a:ext cx="3600000" cy="60338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2987897-4F03-0929-C440-192CFC17248A}"/>
              </a:ext>
            </a:extLst>
          </p:cNvPr>
          <p:cNvSpPr txBox="1"/>
          <p:nvPr/>
        </p:nvSpPr>
        <p:spPr>
          <a:xfrm>
            <a:off x="249980" y="743774"/>
            <a:ext cx="678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IASI es objeto y producto de su propia ingeniería y metodología.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E0FEB7-AF50-7B90-45E8-B12E2ADE4B95}"/>
              </a:ext>
            </a:extLst>
          </p:cNvPr>
          <p:cNvSpPr txBox="1"/>
          <p:nvPr/>
        </p:nvSpPr>
        <p:spPr>
          <a:xfrm>
            <a:off x="215307" y="1283358"/>
            <a:ext cx="11366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IASI se construye aplicando los principios, prácticas, herramientas e infraestructura que el propio IASI desarrolla.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1B8A0D-B031-0E72-2B98-82E0E12CD74D}"/>
              </a:ext>
            </a:extLst>
          </p:cNvPr>
          <p:cNvSpPr txBox="1"/>
          <p:nvPr/>
        </p:nvSpPr>
        <p:spPr>
          <a:xfrm>
            <a:off x="215307" y="1916137"/>
            <a:ext cx="8092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s-ES" alt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IASI se construye con IASI.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IASI aplica sobre sí mismo la ingeniería y metodología que propone.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IASI no solo define una forma de hacer ingeniería: se desarrolla utilizando esa misma forma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construcción de IASI es también una aplicación real de IASI.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s-ES" altLang="es-E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IASI evoluciona mediante los mismos mecanismos de ingeniería que investiga y define. </a:t>
            </a:r>
            <a:endParaRPr kumimoji="0" lang="es-ES" altLang="es-E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A051530-1314-1714-503C-05ED600AA89F}"/>
              </a:ext>
            </a:extLst>
          </p:cNvPr>
          <p:cNvGrpSpPr/>
          <p:nvPr/>
        </p:nvGrpSpPr>
        <p:grpSpPr>
          <a:xfrm>
            <a:off x="3373464" y="4151949"/>
            <a:ext cx="1440000" cy="720000"/>
            <a:chOff x="3055345" y="4270364"/>
            <a:chExt cx="1440000" cy="720000"/>
          </a:xfrm>
        </p:grpSpPr>
        <p:sp>
          <p:nvSpPr>
            <p:cNvPr id="22" name="Rounded Rectangle 14">
              <a:extLst>
                <a:ext uri="{FF2B5EF4-FFF2-40B4-BE49-F238E27FC236}">
                  <a16:creationId xmlns:a16="http://schemas.microsoft.com/office/drawing/2014/main" id="{037CB614-F6B0-6E87-2CD9-6F71CAAFE650}"/>
                </a:ext>
              </a:extLst>
            </p:cNvPr>
            <p:cNvSpPr/>
            <p:nvPr/>
          </p:nvSpPr>
          <p:spPr>
            <a:xfrm>
              <a:off x="3055345" y="4270364"/>
              <a:ext cx="1440000" cy="720000"/>
            </a:xfrm>
            <a:prstGeom prst="roundRect">
              <a:avLst/>
            </a:prstGeom>
            <a:solidFill>
              <a:srgbClr val="2171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9CA7A918-8FBD-DBE2-2A3F-D411D9AD8FD1}"/>
                </a:ext>
              </a:extLst>
            </p:cNvPr>
            <p:cNvSpPr txBox="1"/>
            <p:nvPr/>
          </p:nvSpPr>
          <p:spPr>
            <a:xfrm>
              <a:off x="3122856" y="4431539"/>
              <a:ext cx="1334818" cy="4114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Aptos Display"/>
                </a:rPr>
                <a:t>IASI</a:t>
              </a:r>
            </a:p>
          </p:txBody>
        </p:sp>
      </p:grp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8E614353-DA89-365F-2E8D-BF662B788C12}"/>
              </a:ext>
            </a:extLst>
          </p:cNvPr>
          <p:cNvSpPr/>
          <p:nvPr/>
        </p:nvSpPr>
        <p:spPr>
          <a:xfrm>
            <a:off x="5411842" y="4816976"/>
            <a:ext cx="1440000" cy="720000"/>
          </a:xfrm>
          <a:prstGeom prst="roundRect">
            <a:avLst/>
          </a:prstGeom>
          <a:solidFill>
            <a:srgbClr val="47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" sz="1200" dirty="0"/>
          </a:p>
          <a:p>
            <a:pPr algn="ctr"/>
            <a:r>
              <a:rPr lang="es-ES" sz="1200" b="1" dirty="0">
                <a:solidFill>
                  <a:srgbClr val="FFFFFF"/>
                </a:solidFill>
                <a:latin typeface="Aptos Display"/>
              </a:rPr>
              <a:t>Construye el ecosistema</a:t>
            </a:r>
          </a:p>
          <a:p>
            <a:pPr algn="ctr"/>
            <a:endParaRPr dirty="0"/>
          </a:p>
        </p:txBody>
      </p:sp>
      <p:sp>
        <p:nvSpPr>
          <p:cNvPr id="33" name="TextBox 24">
            <a:extLst>
              <a:ext uri="{FF2B5EF4-FFF2-40B4-BE49-F238E27FC236}">
                <a16:creationId xmlns:a16="http://schemas.microsoft.com/office/drawing/2014/main" id="{255586C1-F210-9A3E-D103-06E8BC05D5B2}"/>
              </a:ext>
            </a:extLst>
          </p:cNvPr>
          <p:cNvSpPr txBox="1"/>
          <p:nvPr/>
        </p:nvSpPr>
        <p:spPr>
          <a:xfrm>
            <a:off x="7891272" y="5230368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←</a:t>
            </a: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6C1A0E9C-9567-2CB8-225A-44AE75AF78B4}"/>
              </a:ext>
            </a:extLst>
          </p:cNvPr>
          <p:cNvSpPr txBox="1"/>
          <p:nvPr/>
        </p:nvSpPr>
        <p:spPr>
          <a:xfrm>
            <a:off x="1731376" y="6142980"/>
            <a:ext cx="48463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70C0"/>
                </a:solidFill>
                <a:latin typeface="Aptos"/>
              </a:rPr>
              <a:t>BOOTSTRAPPING BY DESIGN</a:t>
            </a:r>
          </a:p>
        </p:txBody>
      </p:sp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CBC0551D-9894-253F-FD61-1555FE4F654E}"/>
              </a:ext>
            </a:extLst>
          </p:cNvPr>
          <p:cNvSpPr/>
          <p:nvPr/>
        </p:nvSpPr>
        <p:spPr>
          <a:xfrm>
            <a:off x="3373464" y="5353467"/>
            <a:ext cx="1440000" cy="720000"/>
          </a:xfrm>
          <a:prstGeom prst="roundRect">
            <a:avLst/>
          </a:prstGeom>
          <a:solidFill>
            <a:srgbClr val="F1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" sz="1200" dirty="0"/>
          </a:p>
          <a:p>
            <a:pPr algn="ctr"/>
            <a:r>
              <a:rPr lang="es-ES" sz="1200" b="1" dirty="0">
                <a:solidFill>
                  <a:srgbClr val="FFFFFF"/>
                </a:solidFill>
                <a:latin typeface="Aptos Display"/>
              </a:rPr>
              <a:t>Genera evidencia y experiencia real</a:t>
            </a:r>
          </a:p>
          <a:p>
            <a:pPr algn="ctr"/>
            <a:endParaRPr dirty="0"/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CCFC8B30-CB19-0A7F-A22B-93DC03C93DBC}"/>
              </a:ext>
            </a:extLst>
          </p:cNvPr>
          <p:cNvSpPr/>
          <p:nvPr/>
        </p:nvSpPr>
        <p:spPr>
          <a:xfrm>
            <a:off x="1492412" y="4870368"/>
            <a:ext cx="1440000" cy="720000"/>
          </a:xfrm>
          <a:prstGeom prst="roundRect">
            <a:avLst/>
          </a:prstGeom>
          <a:solidFill>
            <a:srgbClr val="14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ES" sz="1200" dirty="0"/>
          </a:p>
          <a:p>
            <a:pPr algn="ctr"/>
            <a:r>
              <a:rPr lang="es-ES" sz="1200" b="1" dirty="0">
                <a:solidFill>
                  <a:srgbClr val="FFFFFF"/>
                </a:solidFill>
                <a:latin typeface="Aptos Display"/>
              </a:rPr>
              <a:t>Evoluciona el método</a:t>
            </a:r>
          </a:p>
          <a:p>
            <a:pPr algn="ctr"/>
            <a:endParaRPr dirty="0"/>
          </a:p>
        </p:txBody>
      </p:sp>
      <p:sp>
        <p:nvSpPr>
          <p:cNvPr id="39" name="Flecha: doblada 38">
            <a:extLst>
              <a:ext uri="{FF2B5EF4-FFF2-40B4-BE49-F238E27FC236}">
                <a16:creationId xmlns:a16="http://schemas.microsoft.com/office/drawing/2014/main" id="{3EC1189E-6833-6E0F-09AD-184D8A43AEC5}"/>
              </a:ext>
            </a:extLst>
          </p:cNvPr>
          <p:cNvSpPr/>
          <p:nvPr/>
        </p:nvSpPr>
        <p:spPr>
          <a:xfrm rot="5400000">
            <a:off x="5396320" y="3993279"/>
            <a:ext cx="288353" cy="1107959"/>
          </a:xfrm>
          <a:prstGeom prst="ben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0" name="Flecha: doblada 39">
            <a:extLst>
              <a:ext uri="{FF2B5EF4-FFF2-40B4-BE49-F238E27FC236}">
                <a16:creationId xmlns:a16="http://schemas.microsoft.com/office/drawing/2014/main" id="{D8AE56FB-3F86-F9AB-303C-E4E6C685BEB0}"/>
              </a:ext>
            </a:extLst>
          </p:cNvPr>
          <p:cNvSpPr/>
          <p:nvPr/>
        </p:nvSpPr>
        <p:spPr>
          <a:xfrm rot="5400000" flipH="1" flipV="1">
            <a:off x="2424700" y="5275836"/>
            <a:ext cx="288353" cy="1107959"/>
          </a:xfrm>
          <a:prstGeom prst="ben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1" name="Flecha: doblada 40">
            <a:extLst>
              <a:ext uri="{FF2B5EF4-FFF2-40B4-BE49-F238E27FC236}">
                <a16:creationId xmlns:a16="http://schemas.microsoft.com/office/drawing/2014/main" id="{1C85B045-E6D5-93D9-D56F-76DC63E4B3C5}"/>
              </a:ext>
            </a:extLst>
          </p:cNvPr>
          <p:cNvSpPr/>
          <p:nvPr/>
        </p:nvSpPr>
        <p:spPr>
          <a:xfrm rot="10800000">
            <a:off x="4986517" y="5623285"/>
            <a:ext cx="1107958" cy="292032"/>
          </a:xfrm>
          <a:prstGeom prst="ben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42" name="Flecha: doblada 41">
            <a:extLst>
              <a:ext uri="{FF2B5EF4-FFF2-40B4-BE49-F238E27FC236}">
                <a16:creationId xmlns:a16="http://schemas.microsoft.com/office/drawing/2014/main" id="{FDEB114F-575C-F578-1F2D-26A344280FE1}"/>
              </a:ext>
            </a:extLst>
          </p:cNvPr>
          <p:cNvSpPr/>
          <p:nvPr/>
        </p:nvSpPr>
        <p:spPr>
          <a:xfrm rot="10800000" flipH="1" flipV="1">
            <a:off x="2044980" y="4378502"/>
            <a:ext cx="1107958" cy="292032"/>
          </a:xfrm>
          <a:prstGeom prst="ben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12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 descr="office_dark.jpg"/>
          <p:cNvPicPr>
            <a:picLocks noChangeAspect="1"/>
          </p:cNvPicPr>
          <p:nvPr/>
        </p:nvPicPr>
        <p:blipFill>
          <a:blip r:embed="rId3"/>
          <a:srcRect l="18382" r="18382"/>
          <a:stretch>
            <a:fillRect/>
          </a:stretch>
        </p:blipFill>
        <p:spPr>
          <a:xfrm>
            <a:off x="731520" y="1645920"/>
            <a:ext cx="4572000" cy="4069080"/>
          </a:xfrm>
          <a:prstGeom prst="rect">
            <a:avLst/>
          </a:prstGeom>
        </p:spPr>
      </p:pic>
      <p:sp>
        <p:nvSpPr>
          <p:cNvPr id="62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INTRODUCCIÓN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El punto de partida son libros, pero el campo de juego real es más grande.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1051560" y="1993320"/>
            <a:ext cx="393156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Aunque IASI nace como una metodología, es decir, como texto, libro y marco conceptual, el entregable inicial se plantea como tres volúmenes.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1051560" y="3657600"/>
            <a:ext cx="397728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Pero cuando los Sistemas Inteligentes participan en la propia ingeniería, la metodología necesita suelo operativo: infraestructura, software, herramientas, repositorios, automatismos y formas de materializar artefactos.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3"/>
          <p:cNvSpPr/>
          <p:nvPr/>
        </p:nvSpPr>
        <p:spPr>
          <a:xfrm>
            <a:off x="5486400" y="3611880"/>
            <a:ext cx="10058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675120" y="182880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FFF8EE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6675120" y="1828800"/>
            <a:ext cx="91080" cy="10512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6876360" y="198432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No solo “escribir sobre”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6876360" y="2359080"/>
            <a:ext cx="4004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IASI también construye el entorno donde esas ideas se prueban, viven y se vuelven operativas.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6675120" y="315468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7" name="Shape 19"/>
          <p:cNvSpPr/>
          <p:nvPr/>
        </p:nvSpPr>
        <p:spPr>
          <a:xfrm>
            <a:off x="6675120" y="3154680"/>
            <a:ext cx="91080" cy="10512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6876360" y="331020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No solo “usar IA”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6876360" y="3684960"/>
            <a:ext cx="4004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La cuestión no es añadir una herramienta, sino diseñar cómo humano y SI colaboran con trazabilidad y criterio.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6675120" y="4480560"/>
            <a:ext cx="4388760" cy="1051200"/>
          </a:xfrm>
          <a:prstGeom prst="roundRect">
            <a:avLst>
              <a:gd name="adj" fmla="val 6957"/>
            </a:avLst>
          </a:prstGeom>
          <a:solidFill>
            <a:srgbClr val="EAF7F6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Shape 23"/>
          <p:cNvSpPr/>
          <p:nvPr/>
        </p:nvSpPr>
        <p:spPr>
          <a:xfrm>
            <a:off x="6675120" y="4480560"/>
            <a:ext cx="91080" cy="10512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6876360" y="463608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No solo “documentación”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6876360" y="5010840"/>
            <a:ext cx="400464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Los artefactos editables y publicables se tratan como parte del sistema de ingeniería.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48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IASI nace como metodología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51560" y="5074920"/>
            <a:ext cx="2103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7CD6CA"/>
                </a:solidFill>
                <a:latin typeface="Aptos"/>
              </a:rPr>
              <a:t>TESIS → PRÁCTICA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5332B77-AD83-8839-854C-588D38739644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2BE29127-4E5F-44FA-D71A-D9D348C32A74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175FF4C1-7248-9516-AF62-5A6E4324B1FA}"/>
                </a:ext>
              </a:extLst>
            </p:cNvPr>
            <p:cNvSpPr txBox="1"/>
            <p:nvPr/>
          </p:nvSpPr>
          <p:spPr>
            <a:xfrm>
              <a:off x="19004" y="103291"/>
              <a:ext cx="2048510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IASI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nace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como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metodología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9A7A7724-81B5-3238-2505-0DC8A2D0A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D722065-822A-E87F-3DEC-A2766A62BFA0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A42628FA-04FA-7801-78C3-54871A6F71E9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E137A9E3-6A33-C520-DF04-73CA2793DD4F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" name="Imagen 10" descr="Icono&#10;&#10;El contenido generado por IA puede ser incorrecto.">
            <a:hlinkClick r:id="rId5" action="ppaction://hlinksldjump"/>
            <a:extLst>
              <a:ext uri="{FF2B5EF4-FFF2-40B4-BE49-F238E27FC236}">
                <a16:creationId xmlns:a16="http://schemas.microsoft.com/office/drawing/2014/main" id="{5FCF9A95-0A48-4DD4-13C3-5592B36A47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520" y="6472080"/>
            <a:ext cx="360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Problema-primero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1031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32004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PRINCIPIOS IASI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6688836"/>
            <a:ext cx="4754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FFFFFF"/>
                </a:solidFill>
                <a:latin typeface="Aptos"/>
              </a:rPr>
              <a:t>IASI · Ingeniería Aumentada con Sistemas Inteligentes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9080" y="6688836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1C2B"/>
                </a:solidFill>
                <a:latin typeface="Aptos Display"/>
              </a:rPr>
              <a:t>El problema va primero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170432"/>
            <a:ext cx="95097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876"/>
                </a:solidFill>
                <a:latin typeface="Aptos"/>
              </a:rPr>
              <a:t>No elegimos primero una herramienta y después intentamos que el problema quepa dentro.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257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28800"/>
            <a:ext cx="5257800" cy="109728"/>
          </a:xfrm>
          <a:prstGeom prst="rect">
            <a:avLst/>
          </a:prstGeom>
          <a:solidFill>
            <a:srgbClr val="F1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1488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844E"/>
                </a:solidFill>
                <a:latin typeface="Aptos"/>
              </a:rPr>
              <a:t>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578608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E1C2B"/>
                </a:solidFill>
                <a:latin typeface="Aptos Display"/>
              </a:rPr>
              <a:t>Partimos del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64408"/>
            <a:ext cx="4343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876"/>
                </a:solidFill>
                <a:latin typeface="Aptos"/>
              </a:rPr>
              <a:t>Definimos qué necesitamos conseguir, qué restricciones existen y qué significa que la solución sea válida.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2578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828800"/>
            <a:ext cx="5257800" cy="10972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1488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71B5"/>
                </a:solidFill>
                <a:latin typeface="Aptos"/>
              </a:rPr>
              <a:t>PROBLEM-FIRST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78608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E1C2B"/>
                </a:solidFill>
                <a:latin typeface="Aptos Display"/>
              </a:rPr>
              <a:t>Las herramientas se adaptan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64408"/>
            <a:ext cx="434340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876"/>
                </a:solidFill>
                <a:latin typeface="Aptos"/>
              </a:rPr>
              <a:t>Metodologías, frameworks y tecnologías son medios. Se eligen, ajustan o descartan según el problema, no al revés.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1C2B"/>
                </a:solidFill>
                <a:latin typeface="Aptos"/>
              </a:rPr>
              <a:t>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3492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1C2B"/>
                </a:solidFill>
                <a:latin typeface="Aptos"/>
              </a:rPr>
              <a:t>REQUISITOS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3492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1C2B"/>
                </a:solidFill>
                <a:latin typeface="Aptos"/>
              </a:rPr>
              <a:t>DECISIONES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3492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E1C2B"/>
                </a:solidFill>
                <a:latin typeface="Aptos"/>
              </a:rPr>
              <a:t>HERRAMIENTAS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28523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71B5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28523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71B5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28523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171B5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79592"/>
            <a:ext cx="10241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171B5"/>
                </a:solidFill>
                <a:latin typeface="Aptos Display"/>
              </a:rPr>
              <a:t>Primero entendemos qué necesitamos. Después decidimos cómo construirlo.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Uasr</a:t>
            </a:r>
            <a:r>
              <a:rPr lang="es-ES" dirty="0"/>
              <a:t>-adaptar-crear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1031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2000" cy="210312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" y="32004"/>
            <a:ext cx="27432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ptos"/>
              </a:rPr>
              <a:t>PRINCIPIOS IASI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6688836"/>
            <a:ext cx="47548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80" b="0">
                <a:solidFill>
                  <a:srgbClr val="FFFFFF"/>
                </a:solidFill>
                <a:latin typeface="Aptos"/>
              </a:rPr>
              <a:t>IASI · Ingeniería Aumentada con Sistemas Inteligentes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9080" y="6688836"/>
            <a:ext cx="274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650" b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E1C2B"/>
                </a:solidFill>
                <a:latin typeface="Aptos Display"/>
              </a:rPr>
              <a:t>Usar · Adaptar · Crear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170432"/>
            <a:ext cx="9784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876"/>
                </a:solidFill>
                <a:latin typeface="Aptos"/>
              </a:rPr>
              <a:t>No reinventamos por sistema. Tampoco aceptamos una herramienta como límite del problema.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74519"/>
            <a:ext cx="30632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1874519"/>
            <a:ext cx="3063240" cy="146304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212848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71B5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E1C2B"/>
                </a:solidFill>
                <a:latin typeface="Aptos Display"/>
              </a:rPr>
              <a:t>USAR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64992"/>
            <a:ext cx="2560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876"/>
                </a:solidFill>
                <a:latin typeface="Aptos"/>
              </a:rPr>
              <a:t>Si existe y nos vale,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254203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171B5"/>
                </a:solidFill>
                <a:latin typeface="Aptos Display"/>
              </a:rPr>
              <a:t>lo utilizamos.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874519"/>
            <a:ext cx="30632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0520" y="1874519"/>
            <a:ext cx="3063240" cy="146304"/>
          </a:xfrm>
          <a:prstGeom prst="rect">
            <a:avLst/>
          </a:prstGeom>
          <a:solidFill>
            <a:srgbClr val="47B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2212848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7B39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651760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E1C2B"/>
                </a:solidFill>
                <a:latin typeface="Aptos Display"/>
              </a:rPr>
              <a:t>ADAPTAR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364992"/>
            <a:ext cx="2560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876"/>
                </a:solidFill>
                <a:latin typeface="Aptos"/>
              </a:rPr>
              <a:t>Si existe pero no es suficiente,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913632"/>
            <a:ext cx="254203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47B39B"/>
                </a:solidFill>
                <a:latin typeface="Aptos Display"/>
              </a:rPr>
              <a:t>lo adecuamos, extendemos o integramos.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1874519"/>
            <a:ext cx="30632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07808" y="1874519"/>
            <a:ext cx="3063240" cy="146304"/>
          </a:xfrm>
          <a:prstGeom prst="rect">
            <a:avLst/>
          </a:prstGeom>
          <a:solidFill>
            <a:srgbClr val="F1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854696" y="2212848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1844E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2651760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E1C2B"/>
                </a:solidFill>
                <a:latin typeface="Aptos Display"/>
              </a:rPr>
              <a:t>CREAR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54696" y="3364992"/>
            <a:ext cx="2560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876"/>
                </a:solidFill>
                <a:latin typeface="Aptos"/>
              </a:rPr>
              <a:t>Si no existe,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3913632"/>
            <a:ext cx="2542032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F1844E"/>
                </a:solidFill>
                <a:latin typeface="Aptos Display"/>
              </a:rPr>
              <a:t>lo construimos.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70432" y="5532120"/>
            <a:ext cx="9829800" cy="658368"/>
          </a:xfrm>
          <a:prstGeom prst="roundRect">
            <a:avLst/>
          </a:prstGeom>
          <a:solidFill>
            <a:srgbClr val="14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5687568"/>
            <a:ext cx="9326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Crear es una opción, no una obligación. Reutilizar tampoco es un dogma.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26" descr="cloud_wash.jpg"/>
          <p:cNvPicPr>
            <a:picLocks noChangeAspect="1"/>
          </p:cNvPicPr>
          <p:nvPr/>
        </p:nvPicPr>
        <p:blipFill>
          <a:blip r:embed="rId3"/>
          <a:srcRect l="3217" r="3217"/>
          <a:stretch>
            <a:fillRect/>
          </a:stretch>
        </p:blipFill>
        <p:spPr>
          <a:xfrm>
            <a:off x="0" y="438480"/>
            <a:ext cx="12191999" cy="6008039"/>
          </a:xfrm>
          <a:prstGeom prst="rect">
            <a:avLst/>
          </a:prstGeom>
        </p:spPr>
      </p:pic>
      <p:sp>
        <p:nvSpPr>
          <p:cNvPr id="89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ECOSISTEMA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745416" y="7491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Los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tres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volúmenes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son la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tesis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La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infraestructura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es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el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laboratorio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donde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se </a:t>
            </a:r>
            <a:r>
              <a:rPr lang="en-US" sz="1400" b="1" u="none" strike="noStrike" dirty="0" err="1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vuelve</a:t>
            </a:r>
            <a:r>
              <a:rPr lang="en-US" sz="1400" b="1" u="none" strike="noStrike" dirty="0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 tangible.</a:t>
            </a:r>
            <a:endParaRPr lang="es-ES" sz="1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731520" y="1600200"/>
            <a:ext cx="3245760" cy="114264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731520" y="1600200"/>
            <a:ext cx="91080" cy="11426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932760" y="175572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Volumen 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932760" y="2130480"/>
            <a:ext cx="286164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Fundamentos de Ingeniería Aumentada y cambio de paradigma.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731520" y="2971800"/>
            <a:ext cx="3245760" cy="1142640"/>
          </a:xfrm>
          <a:prstGeom prst="roundRect">
            <a:avLst>
              <a:gd name="adj" fmla="val 6400"/>
            </a:avLst>
          </a:prstGeom>
          <a:solidFill>
            <a:srgbClr val="EAF7F6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731520" y="2971800"/>
            <a:ext cx="91080" cy="11426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932760" y="312732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Volumen II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932760" y="3502080"/>
            <a:ext cx="286164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Método, prácticas, ciclos de vida y artefactos.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731520" y="4343400"/>
            <a:ext cx="3245760" cy="1142640"/>
          </a:xfrm>
          <a:prstGeom prst="roundRect">
            <a:avLst>
              <a:gd name="adj" fmla="val 6400"/>
            </a:avLst>
          </a:prstGeom>
          <a:solidFill>
            <a:srgbClr val="F0ECFA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4" name="Shape 19"/>
          <p:cNvSpPr/>
          <p:nvPr/>
        </p:nvSpPr>
        <p:spPr>
          <a:xfrm>
            <a:off x="731520" y="4343400"/>
            <a:ext cx="91080" cy="11426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932760" y="449892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3"/>
                </a:solidFill>
                <a:effectLst/>
                <a:uFillTx/>
                <a:latin typeface="Aptos Display"/>
                <a:ea typeface="Aptos Display"/>
              </a:rPr>
              <a:t>Volumen III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932760" y="4873680"/>
            <a:ext cx="286164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 dirty="0" err="1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Metodología</a:t>
            </a:r>
            <a:r>
              <a:rPr lang="en-US" sz="112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</a:t>
            </a:r>
            <a:r>
              <a:rPr lang="en-US" sz="1120" b="0" u="none" strike="noStrike" dirty="0" err="1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gobierno</a:t>
            </a:r>
            <a:r>
              <a:rPr lang="en-US" sz="112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</a:t>
            </a:r>
            <a:r>
              <a:rPr lang="en-US" sz="1120" b="0" u="none" strike="noStrike" dirty="0" err="1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auditoría</a:t>
            </a:r>
            <a:r>
              <a:rPr lang="en-US" sz="112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, </a:t>
            </a:r>
            <a:r>
              <a:rPr lang="en-US" sz="1120" b="0" u="none" strike="noStrike" dirty="0" err="1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operación</a:t>
            </a:r>
            <a:r>
              <a:rPr lang="en-US" sz="112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 y </a:t>
            </a:r>
            <a:r>
              <a:rPr lang="en-US" sz="1120" b="0" u="none" strike="noStrike" dirty="0" err="1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evolución</a:t>
            </a:r>
            <a:r>
              <a:rPr lang="en-US" sz="1120" b="0" u="none" strike="noStrike" dirty="0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s-E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4160520" y="3456360"/>
            <a:ext cx="100584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6499698" y="2002789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82938"/>
                </a:solidFill>
                <a:effectLst/>
                <a:uFillTx/>
                <a:latin typeface="Aptos Display"/>
                <a:ea typeface="Aptos Display"/>
              </a:rPr>
              <a:t>IASI operativo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5"/>
          <p:cNvSpPr/>
          <p:nvPr/>
        </p:nvSpPr>
        <p:spPr>
          <a:xfrm>
            <a:off x="6499698" y="2597149"/>
            <a:ext cx="2331360" cy="840960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1" name="Shape 26"/>
          <p:cNvSpPr/>
          <p:nvPr/>
        </p:nvSpPr>
        <p:spPr>
          <a:xfrm>
            <a:off x="6499698" y="2597149"/>
            <a:ext cx="91080" cy="84096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6700938" y="2752669"/>
            <a:ext cx="194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Infraestructura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8"/>
          <p:cNvSpPr/>
          <p:nvPr/>
        </p:nvSpPr>
        <p:spPr>
          <a:xfrm>
            <a:off x="6700938" y="3127429"/>
            <a:ext cx="194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Hyper-V, red privada, nodos especializados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9"/>
          <p:cNvSpPr/>
          <p:nvPr/>
        </p:nvSpPr>
        <p:spPr>
          <a:xfrm>
            <a:off x="9242898" y="2597149"/>
            <a:ext cx="2331360" cy="840960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Shape 30"/>
          <p:cNvSpPr/>
          <p:nvPr/>
        </p:nvSpPr>
        <p:spPr>
          <a:xfrm>
            <a:off x="9242898" y="2597149"/>
            <a:ext cx="91080" cy="840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6" name="Text 31"/>
          <p:cNvSpPr/>
          <p:nvPr/>
        </p:nvSpPr>
        <p:spPr>
          <a:xfrm>
            <a:off x="9444138" y="2752669"/>
            <a:ext cx="194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Software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2"/>
          <p:cNvSpPr/>
          <p:nvPr/>
        </p:nvSpPr>
        <p:spPr>
          <a:xfrm>
            <a:off x="9444138" y="3127429"/>
            <a:ext cx="194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iasi-r · iasi-lua · iasi-dev · iasi-rstudio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3"/>
          <p:cNvSpPr/>
          <p:nvPr/>
        </p:nvSpPr>
        <p:spPr>
          <a:xfrm>
            <a:off x="6499698" y="3767509"/>
            <a:ext cx="2331360" cy="840960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9" name="Shape 34"/>
          <p:cNvSpPr/>
          <p:nvPr/>
        </p:nvSpPr>
        <p:spPr>
          <a:xfrm>
            <a:off x="6499698" y="3767509"/>
            <a:ext cx="91080" cy="84096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0" name="Text 35"/>
          <p:cNvSpPr/>
          <p:nvPr/>
        </p:nvSpPr>
        <p:spPr>
          <a:xfrm>
            <a:off x="6700938" y="3923029"/>
            <a:ext cx="194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5"/>
                </a:solidFill>
                <a:effectLst/>
                <a:uFillTx/>
                <a:latin typeface="Aptos Display"/>
                <a:ea typeface="Aptos Display"/>
              </a:rPr>
              <a:t>Herramientas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6"/>
          <p:cNvSpPr/>
          <p:nvPr/>
        </p:nvSpPr>
        <p:spPr>
          <a:xfrm>
            <a:off x="6700938" y="4297789"/>
            <a:ext cx="194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Quarto, PowerPoint, repos, IA local y cloud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7"/>
          <p:cNvSpPr/>
          <p:nvPr/>
        </p:nvSpPr>
        <p:spPr>
          <a:xfrm>
            <a:off x="9242898" y="3767509"/>
            <a:ext cx="2331360" cy="840960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3" name="Shape 38"/>
          <p:cNvSpPr/>
          <p:nvPr/>
        </p:nvSpPr>
        <p:spPr>
          <a:xfrm>
            <a:off x="9242898" y="3767509"/>
            <a:ext cx="91080" cy="8409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4" name="Text 39"/>
          <p:cNvSpPr/>
          <p:nvPr/>
        </p:nvSpPr>
        <p:spPr>
          <a:xfrm>
            <a:off x="9444138" y="3923029"/>
            <a:ext cx="194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Publicación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0"/>
          <p:cNvSpPr/>
          <p:nvPr/>
        </p:nvSpPr>
        <p:spPr>
          <a:xfrm>
            <a:off x="9444138" y="4297789"/>
            <a:ext cx="194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6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web navegable, PDF, documentación derivada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43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Del libro al ecosistema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961511" y="3275111"/>
            <a:ext cx="240969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>
                <a:solidFill>
                  <a:srgbClr val="566778"/>
                </a:solidFill>
                <a:latin typeface="Aptos"/>
              </a:rPr>
              <a:t>La </a:t>
            </a:r>
            <a:r>
              <a:rPr sz="1400" b="1" dirty="0" err="1">
                <a:solidFill>
                  <a:srgbClr val="566778"/>
                </a:solidFill>
                <a:latin typeface="Aptos"/>
              </a:rPr>
              <a:t>tesis</a:t>
            </a:r>
            <a:r>
              <a:rPr sz="1400" b="1" dirty="0">
                <a:solidFill>
                  <a:srgbClr val="566778"/>
                </a:solidFill>
                <a:latin typeface="Aptos"/>
              </a:rPr>
              <a:t> se </a:t>
            </a:r>
            <a:r>
              <a:rPr sz="1400" b="1" dirty="0" err="1">
                <a:solidFill>
                  <a:srgbClr val="566778"/>
                </a:solidFill>
                <a:latin typeface="Aptos"/>
              </a:rPr>
              <a:t>vuelve</a:t>
            </a:r>
            <a:r>
              <a:rPr sz="1400" b="1" dirty="0">
                <a:solidFill>
                  <a:srgbClr val="566778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566778"/>
                </a:solidFill>
                <a:latin typeface="Aptos"/>
              </a:rPr>
              <a:t>operativa</a:t>
            </a:r>
            <a:endParaRPr sz="1400" b="1" dirty="0">
              <a:solidFill>
                <a:srgbClr val="566778"/>
              </a:solidFill>
              <a:latin typeface="Apto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692800A5-5EB6-A162-3840-08B95A7A9403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30329246-AD12-ABC4-E387-602E23FA3280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9D57CFB1-3EE9-BF5C-14B7-F5460D4FA1D2}"/>
                </a:ext>
              </a:extLst>
            </p:cNvPr>
            <p:cNvSpPr txBox="1"/>
            <p:nvPr/>
          </p:nvSpPr>
          <p:spPr>
            <a:xfrm>
              <a:off x="19004" y="103291"/>
              <a:ext cx="2070823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s-ES" sz="1200" b="1" dirty="0">
                  <a:solidFill>
                    <a:schemeClr val="bg1"/>
                  </a:solidFill>
                  <a:latin typeface="Aptos"/>
                </a:rPr>
                <a:t>De los libros al Ecosistema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34D41E24-FD68-362F-2963-DE90F517D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712FFCCB-C685-35AC-E276-A9BD1E5E2604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7" name="Shape 1">
              <a:extLst>
                <a:ext uri="{FF2B5EF4-FFF2-40B4-BE49-F238E27FC236}">
                  <a16:creationId xmlns:a16="http://schemas.microsoft.com/office/drawing/2014/main" id="{491F3741-DFC2-0849-367C-40B4D3E7DFD0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63D05EB2-2621-C997-5049-3DBB9CFBF7E4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office_dark.jpg"/>
          <p:cNvPicPr>
            <a:picLocks noChangeAspect="1"/>
          </p:cNvPicPr>
          <p:nvPr/>
        </p:nvPicPr>
        <p:blipFill>
          <a:blip r:embed="rId2"/>
          <a:srcRect t="7279" b="7279"/>
          <a:stretch>
            <a:fillRect/>
          </a:stretch>
        </p:blipFill>
        <p:spPr>
          <a:xfrm>
            <a:off x="0" y="438480"/>
            <a:ext cx="12188952" cy="6008040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85089BF-ADF6-CD49-BBDA-EF721C2E2416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11" name="Shape 1"/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5" name="Text 5"/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Text 12"/>
          <p:cNvSpPr/>
          <p:nvPr/>
        </p:nvSpPr>
        <p:spPr>
          <a:xfrm>
            <a:off x="713232" y="1481328"/>
            <a:ext cx="658368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Productos IASI</a:t>
            </a: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" sz="3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9808" y="3182112"/>
            <a:ext cx="6217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CE8F2"/>
                </a:solidFill>
                <a:effectLst/>
                <a:uFillTx/>
                <a:latin typeface="Aptos"/>
                <a:ea typeface="Aptos"/>
              </a:rPr>
              <a:t>Software nacido de necesidades reales del ecosistema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Productos Portada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4160520"/>
            <a:ext cx="6217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CDDCE8"/>
                </a:solidFill>
                <a:latin typeface="Aptos"/>
              </a:rPr>
              <a:t>IASI-R  ·  IASI-LUA  ·  IASI-DEV  ·  IASI-RSTUDIO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9CC4322-3CF9-F389-69F2-DF421FA74E5B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10" name="Shape 0"/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04" y="103291"/>
              <a:ext cx="135761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sz="1200" b="1" dirty="0">
                  <a:solidFill>
                    <a:schemeClr val="bg1"/>
                  </a:solidFill>
                  <a:latin typeface="Aptos"/>
                </a:rPr>
                <a:t>PRODUCTOS IASI</a:t>
              </a: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9C6B46F7-C537-AE0B-47BC-493B878FB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AF703F91-E665-065C-5C8C-14481E60A4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Productos</a:t>
            </a:r>
            <a:r>
              <a:rPr lang="es-ES" baseline="0" dirty="0">
                <a:solidFill>
                  <a:schemeClr val="bg1"/>
                </a:solidFill>
              </a:rPr>
              <a:t> </a:t>
            </a:r>
            <a:r>
              <a:rPr lang="es-ES" baseline="0" dirty="0" err="1">
                <a:solidFill>
                  <a:schemeClr val="bg1"/>
                </a:solidFill>
              </a:rPr>
              <a:t>indice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1785379-F6B7-6D2D-6018-4B6CCB419139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732B60ED-DA13-3947-3300-ECE4DE446BEE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F7C2FD9D-BDE4-E617-6C59-06BA12093327}"/>
                </a:ext>
              </a:extLst>
            </p:cNvPr>
            <p:cNvSpPr txBox="1"/>
            <p:nvPr/>
          </p:nvSpPr>
          <p:spPr>
            <a:xfrm>
              <a:off x="19004" y="103291"/>
              <a:ext cx="2031518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PRODUCTOS IASI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A0D8A59A-A2DD-2D52-BEAC-11399FC66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0A37F344-B735-9897-1F8D-13923FBA2111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8" name="Shape 1">
              <a:extLst>
                <a:ext uri="{FF2B5EF4-FFF2-40B4-BE49-F238E27FC236}">
                  <a16:creationId xmlns:a16="http://schemas.microsoft.com/office/drawing/2014/main" id="{8AC0B241-8FF1-1651-B7DE-0F3E7744CED0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A92018B3-B002-19C7-F92A-824402043736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0506484E-9FF9-BD6E-1748-60C82B75AA10}"/>
              </a:ext>
            </a:extLst>
          </p:cNvPr>
          <p:cNvSpPr txBox="1"/>
          <p:nvPr/>
        </p:nvSpPr>
        <p:spPr>
          <a:xfrm>
            <a:off x="103926" y="607555"/>
            <a:ext cx="84460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Los productos IASI son software que se crea para cubrir las necesidades de diseño, desarrollo, productividad, etc. </a:t>
            </a:r>
          </a:p>
          <a:p>
            <a:r>
              <a:rPr lang="es-ES" dirty="0"/>
              <a:t>de su ecosistemas.</a:t>
            </a:r>
          </a:p>
          <a:p>
            <a:endParaRPr lang="es-ES" dirty="0"/>
          </a:p>
          <a:p>
            <a:r>
              <a:rPr lang="es-ES" dirty="0"/>
              <a:t>Pero que no se limitan a IASI, tienen su propio ciclo de vida y pueden satisfacer necesidades comunes en muchos otros</a:t>
            </a:r>
          </a:p>
          <a:p>
            <a:r>
              <a:rPr lang="es-ES" dirty="0"/>
              <a:t> tipos de proyectos con unos mínimos ajustes sin cambiar su diseño ni su arquitectura.</a:t>
            </a:r>
          </a:p>
          <a:p>
            <a:endParaRPr lang="es-ES" dirty="0"/>
          </a:p>
          <a:p>
            <a:r>
              <a:rPr lang="es-ES" dirty="0"/>
              <a:t>Actualmente:</a:t>
            </a:r>
          </a:p>
          <a:p>
            <a:endParaRPr lang="es-ES" dirty="0"/>
          </a:p>
        </p:txBody>
      </p:sp>
      <p:pic>
        <p:nvPicPr>
          <p:cNvPr id="13" name="Imagen 12" descr="Una puerta de vidrio&#10;&#10;El contenido generado por IA puede ser incorrecto.">
            <a:extLst>
              <a:ext uri="{FF2B5EF4-FFF2-40B4-BE49-F238E27FC236}">
                <a16:creationId xmlns:a16="http://schemas.microsoft.com/office/drawing/2014/main" id="{CF88A685-4B4C-64E2-6585-B937424C785F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37388"/>
            <a:ext cx="3600000" cy="6009132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90DC9F9-C1EB-18E1-B646-FC7A07728132}"/>
              </a:ext>
            </a:extLst>
          </p:cNvPr>
          <p:cNvSpPr txBox="1"/>
          <p:nvPr/>
        </p:nvSpPr>
        <p:spPr>
          <a:xfrm>
            <a:off x="192224" y="3753291"/>
            <a:ext cx="17572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rgbClr val="0070C0"/>
                </a:solidFill>
                <a:hlinkClick r:id="rId4" action="ppaction://hlinksldjump"/>
              </a:rPr>
              <a:t>Iasi-R</a:t>
            </a:r>
            <a:endParaRPr lang="es-ES" b="1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rgbClr val="0070C0"/>
                </a:solidFill>
                <a:hlinkClick r:id="rId5" action="ppaction://hlinksldjump"/>
              </a:rPr>
              <a:t>Iasi-</a:t>
            </a:r>
            <a:r>
              <a:rPr lang="es-ES" b="1" dirty="0" err="1">
                <a:solidFill>
                  <a:srgbClr val="0070C0"/>
                </a:solidFill>
                <a:hlinkClick r:id="rId5" action="ppaction://hlinksldjump"/>
              </a:rPr>
              <a:t>dev</a:t>
            </a:r>
            <a:endParaRPr lang="es-ES" b="1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rgbClr val="0070C0"/>
                </a:solidFill>
                <a:hlinkClick r:id="rId6" action="ppaction://hlinksldjump"/>
              </a:rPr>
              <a:t>Iasi-</a:t>
            </a:r>
            <a:r>
              <a:rPr lang="es-ES" b="1" dirty="0" err="1">
                <a:solidFill>
                  <a:srgbClr val="0070C0"/>
                </a:solidFill>
                <a:hlinkClick r:id="rId6" action="ppaction://hlinksldjump"/>
              </a:rPr>
              <a:t>lua</a:t>
            </a:r>
            <a:endParaRPr lang="es-ES" b="1" dirty="0">
              <a:solidFill>
                <a:srgbClr val="0070C0"/>
              </a:solidFill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rgbClr val="0070C0"/>
                </a:solidFill>
                <a:hlinkClick r:id="rId7" action="ppaction://hlinksldjump"/>
              </a:rPr>
              <a:t>Iasi-</a:t>
            </a:r>
            <a:r>
              <a:rPr lang="es-ES" b="1" dirty="0" err="1">
                <a:solidFill>
                  <a:srgbClr val="0070C0"/>
                </a:solidFill>
                <a:hlinkClick r:id="rId7" action="ppaction://hlinksldjump"/>
              </a:rPr>
              <a:t>RStudio</a:t>
            </a:r>
            <a:endParaRPr lang="es-ES" b="1" dirty="0">
              <a:solidFill>
                <a:srgbClr val="0070C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</p:txBody>
      </p:sp>
      <p:pic>
        <p:nvPicPr>
          <p:cNvPr id="21" name="Imagen 20" descr="Icono&#10;&#10;El contenido generado por IA puede ser incorrecto.">
            <a:hlinkClick r:id="rId8" action="ppaction://hlinksldjump"/>
            <a:extLst>
              <a:ext uri="{FF2B5EF4-FFF2-40B4-BE49-F238E27FC236}">
                <a16:creationId xmlns:a16="http://schemas.microsoft.com/office/drawing/2014/main" id="{DAACC69D-4B5E-8E85-DF4F-838AF723337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520" y="6487423"/>
            <a:ext cx="360000" cy="360000"/>
          </a:xfrm>
          <a:prstGeom prst="rect">
            <a:avLst/>
          </a:prstGeom>
        </p:spPr>
      </p:pic>
      <p:pic>
        <p:nvPicPr>
          <p:cNvPr id="23" name="Imagen 22" descr="Icono&#10;&#10;El contenido generado por IA puede ser incorrecto.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E4413319-B395-D44E-F306-A79829CBDC4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040" y="648742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26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ítulo 121">
            <a:extLst>
              <a:ext uri="{FF2B5EF4-FFF2-40B4-BE49-F238E27FC236}">
                <a16:creationId xmlns:a16="http://schemas.microsoft.com/office/drawing/2014/main" id="{04654CC5-074E-FBD5-A7E5-5F574042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</a:t>
            </a:r>
            <a:r>
              <a:rPr lang="es-ES" dirty="0">
                <a:solidFill>
                  <a:schemeClr val="bg1"/>
                </a:solidFill>
              </a:rPr>
              <a:t>asi-r</a:t>
            </a:r>
          </a:p>
        </p:txBody>
      </p:sp>
      <p:pic>
        <p:nvPicPr>
          <p:cNvPr id="4" name="Imagen 3" descr="Icono">
            <a:extLst>
              <a:ext uri="{FF2B5EF4-FFF2-40B4-BE49-F238E27FC236}">
                <a16:creationId xmlns:a16="http://schemas.microsoft.com/office/drawing/2014/main" id="{F0BF9EF0-148D-C127-AB63-4C9136FED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121" y="1460934"/>
            <a:ext cx="540000" cy="360000"/>
          </a:xfrm>
          <a:prstGeom prst="rect">
            <a:avLst/>
          </a:prstGeom>
        </p:spPr>
      </p:pic>
      <p:pic>
        <p:nvPicPr>
          <p:cNvPr id="5" name="Imagen 4" descr="Logotipo">
            <a:extLst>
              <a:ext uri="{FF2B5EF4-FFF2-40B4-BE49-F238E27FC236}">
                <a16:creationId xmlns:a16="http://schemas.microsoft.com/office/drawing/2014/main" id="{2515D8CC-4C03-8BE6-6A86-CA7076FD0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121" y="2216607"/>
            <a:ext cx="312000" cy="360000"/>
          </a:xfrm>
          <a:prstGeom prst="rect">
            <a:avLst/>
          </a:prstGeom>
        </p:spPr>
      </p:pic>
      <p:pic>
        <p:nvPicPr>
          <p:cNvPr id="7" name="Imagen 6" descr="Icono">
            <a:extLst>
              <a:ext uri="{FF2B5EF4-FFF2-40B4-BE49-F238E27FC236}">
                <a16:creationId xmlns:a16="http://schemas.microsoft.com/office/drawing/2014/main" id="{24058DAF-EA66-0458-4176-65FFC663C1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882" y="2972280"/>
            <a:ext cx="346479" cy="360000"/>
          </a:xfrm>
          <a:prstGeom prst="rect">
            <a:avLst/>
          </a:prstGeom>
        </p:spPr>
      </p:pic>
      <p:pic>
        <p:nvPicPr>
          <p:cNvPr id="9" name="Imagen 8" descr="Imagen que contiene Icono">
            <a:extLst>
              <a:ext uri="{FF2B5EF4-FFF2-40B4-BE49-F238E27FC236}">
                <a16:creationId xmlns:a16="http://schemas.microsoft.com/office/drawing/2014/main" id="{961BBA5C-6016-DCD0-E2BB-6F8E7239E5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979" y="2216607"/>
            <a:ext cx="311913" cy="360000"/>
          </a:xfrm>
          <a:prstGeom prst="rect">
            <a:avLst/>
          </a:prstGeom>
        </p:spPr>
      </p:pic>
      <p:pic>
        <p:nvPicPr>
          <p:cNvPr id="11" name="Imagen 10" descr="Forma">
            <a:extLst>
              <a:ext uri="{FF2B5EF4-FFF2-40B4-BE49-F238E27FC236}">
                <a16:creationId xmlns:a16="http://schemas.microsoft.com/office/drawing/2014/main" id="{2F7CA32E-220C-A966-12E7-02AD3DE947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863" y="4659227"/>
            <a:ext cx="558140" cy="360000"/>
          </a:xfrm>
          <a:prstGeom prst="rect">
            <a:avLst/>
          </a:prstGeom>
        </p:spPr>
      </p:pic>
      <p:pic>
        <p:nvPicPr>
          <p:cNvPr id="17" name="Imagen 16" descr="Texto&#10;&#10;El contenido generado por IA puede ser incorrecto.">
            <a:extLst>
              <a:ext uri="{FF2B5EF4-FFF2-40B4-BE49-F238E27FC236}">
                <a16:creationId xmlns:a16="http://schemas.microsoft.com/office/drawing/2014/main" id="{6B448040-C8D5-529D-C245-FAF6165E9F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703" y="5403394"/>
            <a:ext cx="432000" cy="360000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47C75DB0-9B00-B82A-80A7-307A04111BC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571" y="5403394"/>
            <a:ext cx="360000" cy="360000"/>
          </a:xfrm>
          <a:prstGeom prst="rect">
            <a:avLst/>
          </a:prstGeom>
        </p:spPr>
      </p:pic>
      <p:pic>
        <p:nvPicPr>
          <p:cNvPr id="23" name="Imagen 2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67B84519-E1F3-DBE5-E756-8114A10E5E1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967" y="5403394"/>
            <a:ext cx="344286" cy="360000"/>
          </a:xfrm>
          <a:prstGeom prst="rect">
            <a:avLst/>
          </a:prstGeom>
        </p:spPr>
      </p:pic>
      <p:pic>
        <p:nvPicPr>
          <p:cNvPr id="27" name="Imagen 2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F517091E-A659-75FF-E64E-C90C7128A41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7514" y="5403394"/>
            <a:ext cx="360000" cy="360000"/>
          </a:xfrm>
          <a:prstGeom prst="rect">
            <a:avLst/>
          </a:prstGeom>
        </p:spPr>
      </p:pic>
      <p:pic>
        <p:nvPicPr>
          <p:cNvPr id="29" name="Imagen 28" descr="Logotipo">
            <a:extLst>
              <a:ext uri="{FF2B5EF4-FFF2-40B4-BE49-F238E27FC236}">
                <a16:creationId xmlns:a16="http://schemas.microsoft.com/office/drawing/2014/main" id="{1DD06AA2-CFFA-83B4-7AFE-0035A0726F8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84" y="5403394"/>
            <a:ext cx="640000" cy="360000"/>
          </a:xfrm>
          <a:prstGeom prst="rect">
            <a:avLst/>
          </a:prstGeom>
        </p:spPr>
      </p:pic>
      <p:pic>
        <p:nvPicPr>
          <p:cNvPr id="31" name="Imagen 30" descr="Caja de cartón&#10;&#10;El contenido generado por IA puede ser incorrecto.">
            <a:extLst>
              <a:ext uri="{FF2B5EF4-FFF2-40B4-BE49-F238E27FC236}">
                <a16:creationId xmlns:a16="http://schemas.microsoft.com/office/drawing/2014/main" id="{36422E88-52DA-E276-C359-9D5F11C6478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318" y="5403394"/>
            <a:ext cx="480121" cy="360000"/>
          </a:xfrm>
          <a:prstGeom prst="rect">
            <a:avLst/>
          </a:prstGeom>
        </p:spPr>
      </p:pic>
      <p:pic>
        <p:nvPicPr>
          <p:cNvPr id="35" name="Imagen 34" descr="Imagen que contiene estacionaria&#10;&#10;El contenido generado por IA puede ser incorrecto.">
            <a:extLst>
              <a:ext uri="{FF2B5EF4-FFF2-40B4-BE49-F238E27FC236}">
                <a16:creationId xmlns:a16="http://schemas.microsoft.com/office/drawing/2014/main" id="{B0A238D6-50E3-0E0F-D19D-F057A87270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6967" y="754181"/>
            <a:ext cx="540000" cy="360000"/>
          </a:xfrm>
          <a:prstGeom prst="rect">
            <a:avLst/>
          </a:prstGeom>
        </p:spPr>
      </p:pic>
      <p:pic>
        <p:nvPicPr>
          <p:cNvPr id="39" name="Imagen 38" descr="Un texto en blanco&#10;&#10;El contenido generado por IA puede ser incorrecto.">
            <a:extLst>
              <a:ext uri="{FF2B5EF4-FFF2-40B4-BE49-F238E27FC236}">
                <a16:creationId xmlns:a16="http://schemas.microsoft.com/office/drawing/2014/main" id="{7F294BD7-A449-C7C4-CDE9-45061B3AC1E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835" y="5403394"/>
            <a:ext cx="540000" cy="360000"/>
          </a:xfrm>
          <a:prstGeom prst="rect">
            <a:avLst/>
          </a:prstGeom>
        </p:spPr>
      </p:pic>
      <p:pic>
        <p:nvPicPr>
          <p:cNvPr id="41" name="Imagen 40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04A2F3FB-BC56-1AD2-AB43-6D74241731E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628" y="3807668"/>
            <a:ext cx="360000" cy="360000"/>
          </a:xfrm>
          <a:prstGeom prst="rect">
            <a:avLst/>
          </a:prstGeom>
        </p:spPr>
      </p:pic>
      <p:pic>
        <p:nvPicPr>
          <p:cNvPr id="45" name="Imagen 44" descr="Icono&#10;&#10;El contenido generado por IA puede ser incorrecto.">
            <a:extLst>
              <a:ext uri="{FF2B5EF4-FFF2-40B4-BE49-F238E27FC236}">
                <a16:creationId xmlns:a16="http://schemas.microsoft.com/office/drawing/2014/main" id="{702110D3-CF36-A192-8285-60F9D19D86E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121" y="3804577"/>
            <a:ext cx="469836" cy="360000"/>
          </a:xfrm>
          <a:prstGeom prst="rect">
            <a:avLst/>
          </a:prstGeom>
        </p:spPr>
      </p:pic>
      <p:grpSp>
        <p:nvGrpSpPr>
          <p:cNvPr id="46" name="Grupo 45">
            <a:extLst>
              <a:ext uri="{FF2B5EF4-FFF2-40B4-BE49-F238E27FC236}">
                <a16:creationId xmlns:a16="http://schemas.microsoft.com/office/drawing/2014/main" id="{5AC30ADA-B4F6-2DF0-9B3E-333C81FFF327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9E2CEB42-1380-4540-43D9-7C6FFBEB38C0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5C8E654F-50AB-D47D-575A-43E2CCB125AC}"/>
                </a:ext>
              </a:extLst>
            </p:cNvPr>
            <p:cNvSpPr txBox="1"/>
            <p:nvPr/>
          </p:nvSpPr>
          <p:spPr>
            <a:xfrm>
              <a:off x="19004" y="103291"/>
              <a:ext cx="1797672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PRODUCTOS 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: </a:t>
              </a:r>
              <a:r>
                <a:rPr lang="en-US" sz="1200" b="1" dirty="0" err="1">
                  <a:solidFill>
                    <a:schemeClr val="bg1"/>
                  </a:solidFill>
                  <a:latin typeface="Aptos Display"/>
                  <a:ea typeface="Aptos Display"/>
                </a:rPr>
                <a:t>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-R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49" name="Imagen 48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50971BF-6B67-3D82-024F-AB2901038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C879865-3E8A-FAF1-0A7C-A1821EFB35A7}"/>
              </a:ext>
            </a:extLst>
          </p:cNvPr>
          <p:cNvSpPr txBox="1"/>
          <p:nvPr/>
        </p:nvSpPr>
        <p:spPr>
          <a:xfrm>
            <a:off x="103926" y="607555"/>
            <a:ext cx="89058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iasi</a:t>
            </a:r>
            <a:r>
              <a:rPr lang="es-ES" b="1" dirty="0"/>
              <a:t>-R</a:t>
            </a:r>
            <a:r>
              <a:rPr lang="es-ES" dirty="0"/>
              <a:t> es un paquete R (</a:t>
            </a:r>
            <a:r>
              <a:rPr lang="es-ES" b="1" i="1" dirty="0" err="1"/>
              <a:t>iasi</a:t>
            </a:r>
            <a:r>
              <a:rPr lang="es-ES" dirty="0"/>
              <a:t>) focalizado para trabajar con un proyecto o conjunto de proyectos R agrupados bajo una única unidad CVS.</a:t>
            </a:r>
          </a:p>
          <a:p>
            <a:endParaRPr lang="es-ES" dirty="0"/>
          </a:p>
          <a:p>
            <a:r>
              <a:rPr lang="es-ES" dirty="0"/>
              <a:t>El paquete permite homogeneizar cualquier documento de acuerdo con las normas, estilos y maquetación de una organización, tipo de documento y formatos de salida </a:t>
            </a:r>
          </a:p>
          <a:p>
            <a:endParaRPr lang="es-ES" dirty="0"/>
          </a:p>
          <a:p>
            <a:r>
              <a:rPr lang="es-ES" dirty="0"/>
              <a:t>También implementa, y obliga a usarlo, el flujo de trabajo de la metodología IASI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CD3913E8-90D4-3D83-31CA-67F001AFCE62}"/>
              </a:ext>
            </a:extLst>
          </p:cNvPr>
          <p:cNvSpPr txBox="1"/>
          <p:nvPr/>
        </p:nvSpPr>
        <p:spPr>
          <a:xfrm>
            <a:off x="280327" y="3290505"/>
            <a:ext cx="81561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Validate</a:t>
            </a:r>
            <a:r>
              <a:rPr lang="es-ES" dirty="0"/>
              <a:t>: 	Verifica si el proyecto cumple los requerimientos de IASI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Build</a:t>
            </a:r>
            <a:r>
              <a:rPr lang="es-ES" dirty="0"/>
              <a:t>:	Construye el artefacto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Publish</a:t>
            </a:r>
            <a:r>
              <a:rPr lang="es-ES" dirty="0"/>
              <a:t>:	Realiza el proceso de </a:t>
            </a:r>
            <a:r>
              <a:rPr lang="es-ES" dirty="0" err="1"/>
              <a:t>post-producción</a:t>
            </a:r>
            <a:r>
              <a:rPr lang="es-ES" dirty="0"/>
              <a:t> sobre los documentos de acuerdo con los estándares de la organización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 err="1"/>
              <a:t>Release</a:t>
            </a:r>
            <a:r>
              <a:rPr lang="es-ES" dirty="0"/>
              <a:t>: 	Genera el artefacto como validado y aprobado</a:t>
            </a:r>
          </a:p>
          <a:p>
            <a:pPr lvl="4"/>
            <a:endParaRPr lang="es-ES" dirty="0"/>
          </a:p>
        </p:txBody>
      </p:sp>
      <p:pic>
        <p:nvPicPr>
          <p:cNvPr id="58" name="Imagen 57" descr="Icono&#10;&#10;El contenido generado por IA puede ser incorrecto.">
            <a:extLst>
              <a:ext uri="{FF2B5EF4-FFF2-40B4-BE49-F238E27FC236}">
                <a16:creationId xmlns:a16="http://schemas.microsoft.com/office/drawing/2014/main" id="{448B94A4-2E0A-A6FC-F308-C03C77A182F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8" y="5050819"/>
            <a:ext cx="1080000" cy="1080000"/>
          </a:xfrm>
          <a:prstGeom prst="rect">
            <a:avLst/>
          </a:prstGeom>
        </p:spPr>
      </p:pic>
      <p:pic>
        <p:nvPicPr>
          <p:cNvPr id="60" name="Imagen 59" descr="Icono&#10;&#10;El contenido generado por IA puede ser incorrecto.">
            <a:extLst>
              <a:ext uri="{FF2B5EF4-FFF2-40B4-BE49-F238E27FC236}">
                <a16:creationId xmlns:a16="http://schemas.microsoft.com/office/drawing/2014/main" id="{A549B8A2-DD74-F81F-8B6F-8DABF35128A1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681" y="5050819"/>
            <a:ext cx="1080000" cy="1080000"/>
          </a:xfrm>
          <a:prstGeom prst="rect">
            <a:avLst/>
          </a:prstGeom>
        </p:spPr>
      </p:pic>
      <p:pic>
        <p:nvPicPr>
          <p:cNvPr id="62" name="Imagen 61" descr="Icono&#10;&#10;El contenido generado por IA puede ser incorrecto.">
            <a:extLst>
              <a:ext uri="{FF2B5EF4-FFF2-40B4-BE49-F238E27FC236}">
                <a16:creationId xmlns:a16="http://schemas.microsoft.com/office/drawing/2014/main" id="{A1FD49BE-E799-6F65-3079-7C6C0D68F4B8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514" y="5050819"/>
            <a:ext cx="1080000" cy="1080000"/>
          </a:xfrm>
          <a:prstGeom prst="rect">
            <a:avLst/>
          </a:prstGeom>
        </p:spPr>
      </p:pic>
      <p:pic>
        <p:nvPicPr>
          <p:cNvPr id="64" name="Imagen 63" descr="Icono&#10;&#10;El contenido generado por IA puede ser incorrecto.">
            <a:extLst>
              <a:ext uri="{FF2B5EF4-FFF2-40B4-BE49-F238E27FC236}">
                <a16:creationId xmlns:a16="http://schemas.microsoft.com/office/drawing/2014/main" id="{42C990AF-4B90-3623-F694-D891790C80B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347" y="5050819"/>
            <a:ext cx="1080000" cy="1080000"/>
          </a:xfrm>
          <a:prstGeom prst="rect">
            <a:avLst/>
          </a:prstGeom>
        </p:spPr>
      </p:pic>
      <p:pic>
        <p:nvPicPr>
          <p:cNvPr id="66" name="Imagen 65" descr="Icono&#10;&#10;El contenido generado por IA puede ser incorrecto.">
            <a:extLst>
              <a:ext uri="{FF2B5EF4-FFF2-40B4-BE49-F238E27FC236}">
                <a16:creationId xmlns:a16="http://schemas.microsoft.com/office/drawing/2014/main" id="{3FD9ECB5-4EAC-6002-000D-990059F35DC2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181" y="5050819"/>
            <a:ext cx="1080000" cy="1080000"/>
          </a:xfrm>
          <a:prstGeom prst="rect">
            <a:avLst/>
          </a:prstGeom>
        </p:spPr>
      </p:pic>
      <p:sp>
        <p:nvSpPr>
          <p:cNvPr id="67" name="Flecha: a la derecha 66">
            <a:extLst>
              <a:ext uri="{FF2B5EF4-FFF2-40B4-BE49-F238E27FC236}">
                <a16:creationId xmlns:a16="http://schemas.microsoft.com/office/drawing/2014/main" id="{D6F3C2E5-51DE-2C34-1C58-47C64485C9E8}"/>
              </a:ext>
            </a:extLst>
          </p:cNvPr>
          <p:cNvSpPr/>
          <p:nvPr/>
        </p:nvSpPr>
        <p:spPr>
          <a:xfrm>
            <a:off x="1141768" y="5486620"/>
            <a:ext cx="435913" cy="245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Flecha: a la derecha 67">
            <a:extLst>
              <a:ext uri="{FF2B5EF4-FFF2-40B4-BE49-F238E27FC236}">
                <a16:creationId xmlns:a16="http://schemas.microsoft.com/office/drawing/2014/main" id="{BA389461-B7E5-445C-6D14-D9A0E3897846}"/>
              </a:ext>
            </a:extLst>
          </p:cNvPr>
          <p:cNvSpPr/>
          <p:nvPr/>
        </p:nvSpPr>
        <p:spPr>
          <a:xfrm>
            <a:off x="2657680" y="5467938"/>
            <a:ext cx="435913" cy="245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FBE18A70-BAD7-5688-CE59-D59904AE4205}"/>
              </a:ext>
            </a:extLst>
          </p:cNvPr>
          <p:cNvSpPr/>
          <p:nvPr/>
        </p:nvSpPr>
        <p:spPr>
          <a:xfrm>
            <a:off x="4108258" y="5467937"/>
            <a:ext cx="435913" cy="245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Flecha: a la derecha 69">
            <a:extLst>
              <a:ext uri="{FF2B5EF4-FFF2-40B4-BE49-F238E27FC236}">
                <a16:creationId xmlns:a16="http://schemas.microsoft.com/office/drawing/2014/main" id="{32B1FD96-1781-FE95-9BB9-099E48CA0EDF}"/>
              </a:ext>
            </a:extLst>
          </p:cNvPr>
          <p:cNvSpPr/>
          <p:nvPr/>
        </p:nvSpPr>
        <p:spPr>
          <a:xfrm>
            <a:off x="5658563" y="5467936"/>
            <a:ext cx="435913" cy="2457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951F80EC-FAD0-D1AE-98F0-74A7B757A063}"/>
              </a:ext>
            </a:extLst>
          </p:cNvPr>
          <p:cNvSpPr txBox="1"/>
          <p:nvPr/>
        </p:nvSpPr>
        <p:spPr>
          <a:xfrm>
            <a:off x="273465" y="5977300"/>
            <a:ext cx="754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</a:rPr>
              <a:t>Validate</a:t>
            </a:r>
            <a:endParaRPr lang="es-E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993C0EF-819A-0248-B370-D731D32694EF}"/>
              </a:ext>
            </a:extLst>
          </p:cNvPr>
          <p:cNvSpPr txBox="1"/>
          <p:nvPr/>
        </p:nvSpPr>
        <p:spPr>
          <a:xfrm>
            <a:off x="1698472" y="5965607"/>
            <a:ext cx="754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</a:rPr>
              <a:t>Build</a:t>
            </a:r>
            <a:endParaRPr lang="es-E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002AE6F-C744-F07D-6CD8-8E5379BA95A2}"/>
              </a:ext>
            </a:extLst>
          </p:cNvPr>
          <p:cNvSpPr txBox="1"/>
          <p:nvPr/>
        </p:nvSpPr>
        <p:spPr>
          <a:xfrm>
            <a:off x="3148925" y="5965606"/>
            <a:ext cx="754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</a:rPr>
              <a:t>Publish</a:t>
            </a:r>
            <a:endParaRPr lang="es-E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D36C375C-5B1C-C021-A3C2-9078F0A861B4}"/>
              </a:ext>
            </a:extLst>
          </p:cNvPr>
          <p:cNvSpPr txBox="1"/>
          <p:nvPr/>
        </p:nvSpPr>
        <p:spPr>
          <a:xfrm>
            <a:off x="4700174" y="5978904"/>
            <a:ext cx="754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</a:rPr>
              <a:t>Release</a:t>
            </a:r>
            <a:endParaRPr lang="es-E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685B6562-5B15-D27B-7E37-CDD1F368F514}"/>
              </a:ext>
            </a:extLst>
          </p:cNvPr>
          <p:cNvCxnSpPr>
            <a:cxnSpLocks/>
            <a:stCxn id="35" idx="2"/>
            <a:endCxn id="9" idx="0"/>
          </p:cNvCxnSpPr>
          <p:nvPr/>
        </p:nvCxnSpPr>
        <p:spPr>
          <a:xfrm>
            <a:off x="9976967" y="1114181"/>
            <a:ext cx="22969" cy="1102426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2377CCAA-955D-8ED8-7A2F-DF6F693738DD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10155892" y="1640934"/>
            <a:ext cx="697229" cy="755673"/>
          </a:xfrm>
          <a:prstGeom prst="straightConnector1">
            <a:avLst/>
          </a:prstGeom>
          <a:ln w="19050">
            <a:solidFill>
              <a:schemeClr val="accent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4F0CFB28-B0CE-7E77-783B-BCF4255F6D14}"/>
              </a:ext>
            </a:extLst>
          </p:cNvPr>
          <p:cNvCxnSpPr>
            <a:cxnSpLocks/>
            <a:stCxn id="9" idx="3"/>
            <a:endCxn id="5" idx="1"/>
          </p:cNvCxnSpPr>
          <p:nvPr/>
        </p:nvCxnSpPr>
        <p:spPr>
          <a:xfrm>
            <a:off x="10155892" y="2396607"/>
            <a:ext cx="811229" cy="0"/>
          </a:xfrm>
          <a:prstGeom prst="straightConnector1">
            <a:avLst/>
          </a:prstGeom>
          <a:ln w="19050">
            <a:solidFill>
              <a:schemeClr val="accent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3A95E7CD-F696-2176-BE2C-C4AE9979F1EB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10155892" y="2396607"/>
            <a:ext cx="793990" cy="755673"/>
          </a:xfrm>
          <a:prstGeom prst="straightConnector1">
            <a:avLst/>
          </a:prstGeom>
          <a:ln w="19050">
            <a:solidFill>
              <a:schemeClr val="accent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>
            <a:extLst>
              <a:ext uri="{FF2B5EF4-FFF2-40B4-BE49-F238E27FC236}">
                <a16:creationId xmlns:a16="http://schemas.microsoft.com/office/drawing/2014/main" id="{D8BBA314-24B4-F3DA-2D72-60C6A1114DE3}"/>
              </a:ext>
            </a:extLst>
          </p:cNvPr>
          <p:cNvCxnSpPr>
            <a:cxnSpLocks/>
            <a:stCxn id="9" idx="2"/>
            <a:endCxn id="41" idx="0"/>
          </p:cNvCxnSpPr>
          <p:nvPr/>
        </p:nvCxnSpPr>
        <p:spPr>
          <a:xfrm>
            <a:off x="9999936" y="2576607"/>
            <a:ext cx="33692" cy="1231061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398A9687-40DE-8E86-B3AF-41F110D20C61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 flipV="1">
            <a:off x="10213628" y="3984577"/>
            <a:ext cx="753493" cy="3091"/>
          </a:xfrm>
          <a:prstGeom prst="straightConnector1">
            <a:avLst/>
          </a:prstGeom>
          <a:ln w="19050">
            <a:solidFill>
              <a:schemeClr val="accent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>
            <a:extLst>
              <a:ext uri="{FF2B5EF4-FFF2-40B4-BE49-F238E27FC236}">
                <a16:creationId xmlns:a16="http://schemas.microsoft.com/office/drawing/2014/main" id="{27489765-D751-CF9F-32BB-AF0DA8B30F5D}"/>
              </a:ext>
            </a:extLst>
          </p:cNvPr>
          <p:cNvCxnSpPr>
            <a:cxnSpLocks/>
            <a:stCxn id="41" idx="2"/>
            <a:endCxn id="11" idx="0"/>
          </p:cNvCxnSpPr>
          <p:nvPr/>
        </p:nvCxnSpPr>
        <p:spPr>
          <a:xfrm>
            <a:off x="10033628" y="4167668"/>
            <a:ext cx="23305" cy="491559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3F9AC649-801D-F8E7-9383-63CA378E1653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 flipH="1">
            <a:off x="7942379" y="5019227"/>
            <a:ext cx="2114554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17B988E6-B3B8-4A15-5CA3-549A1A9B3BA6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8545571" y="5019227"/>
            <a:ext cx="1511362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963488ED-2EC5-740C-84C3-6EFC98ECF30F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 flipH="1">
            <a:off x="9124703" y="5019227"/>
            <a:ext cx="932230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E523740F-8956-8322-FBEB-F3FE42C81B01}"/>
              </a:ext>
            </a:extLst>
          </p:cNvPr>
          <p:cNvCxnSpPr>
            <a:cxnSpLocks/>
            <a:stCxn id="11" idx="2"/>
            <a:endCxn id="39" idx="0"/>
          </p:cNvCxnSpPr>
          <p:nvPr/>
        </p:nvCxnSpPr>
        <p:spPr>
          <a:xfrm flipH="1">
            <a:off x="9793835" y="5019227"/>
            <a:ext cx="263098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de flecha 111">
            <a:extLst>
              <a:ext uri="{FF2B5EF4-FFF2-40B4-BE49-F238E27FC236}">
                <a16:creationId xmlns:a16="http://schemas.microsoft.com/office/drawing/2014/main" id="{4CB35B02-0D65-7763-4C66-F214E1EEA6E2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>
            <a:off x="10056933" y="5019227"/>
            <a:ext cx="362177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63AB677D-9BF2-E659-94B7-E99B9FDE8A89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>
            <a:off x="10056933" y="5019227"/>
            <a:ext cx="1037451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036D856C-8378-340E-128A-342EB2EADB46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10056933" y="5019227"/>
            <a:ext cx="1720581" cy="384167"/>
          </a:xfrm>
          <a:prstGeom prst="straightConnector1">
            <a:avLst/>
          </a:prstGeom>
          <a:ln w="1905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upo 1">
            <a:extLst>
              <a:ext uri="{FF2B5EF4-FFF2-40B4-BE49-F238E27FC236}">
                <a16:creationId xmlns:a16="http://schemas.microsoft.com/office/drawing/2014/main" id="{D9A365FD-449F-4DAD-E46A-9DAF4E77663E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4CEDC410-7C82-6286-1641-E8BF05CD3678}"/>
                </a:ext>
              </a:extLst>
            </p:cNvPr>
            <p:cNvGrpSpPr/>
            <p:nvPr/>
          </p:nvGrpSpPr>
          <p:grpSpPr>
            <a:xfrm>
              <a:off x="0" y="6446520"/>
              <a:ext cx="12191400" cy="411120"/>
              <a:chOff x="0" y="6446520"/>
              <a:chExt cx="12191400" cy="411120"/>
            </a:xfrm>
          </p:grpSpPr>
          <p:sp>
            <p:nvSpPr>
              <p:cNvPr id="53" name="Shape 1">
                <a:extLst>
                  <a:ext uri="{FF2B5EF4-FFF2-40B4-BE49-F238E27FC236}">
                    <a16:creationId xmlns:a16="http://schemas.microsoft.com/office/drawing/2014/main" id="{C3C34723-D0B3-4119-E320-62604FF3A504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4" name="Text 5">
                <a:extLst>
                  <a:ext uri="{FF2B5EF4-FFF2-40B4-BE49-F238E27FC236}">
                    <a16:creationId xmlns:a16="http://schemas.microsoft.com/office/drawing/2014/main" id="{77E06DF7-2905-9F38-FA60-0A8D0C4091C8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26" name="Imagen 125" descr="Icono&#10;&#10;El contenido generado por IA puede ser incorrecto.">
              <a:hlinkClick r:id="rId23" action="ppaction://hlinksldjump"/>
              <a:extLst>
                <a:ext uri="{FF2B5EF4-FFF2-40B4-BE49-F238E27FC236}">
                  <a16:creationId xmlns:a16="http://schemas.microsoft.com/office/drawing/2014/main" id="{9771D536-76B7-4906-F6BD-ECAD0CE21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0520" y="6487423"/>
              <a:ext cx="360000" cy="360000"/>
            </a:xfrm>
            <a:prstGeom prst="rect">
              <a:avLst/>
            </a:prstGeom>
          </p:spPr>
        </p:pic>
        <p:pic>
          <p:nvPicPr>
            <p:cNvPr id="127" name="Imagen 126" descr="Icono&#10;&#10;El contenido generado por IA puede ser incorrecto.">
              <a:hlinkClick r:id="rId25" action="ppaction://hlinksldjump"/>
              <a:extLst>
                <a:ext uri="{FF2B5EF4-FFF2-40B4-BE49-F238E27FC236}">
                  <a16:creationId xmlns:a16="http://schemas.microsoft.com/office/drawing/2014/main" id="{70D97C67-44D6-B575-6C13-7467CA3FB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1560" y="6487423"/>
              <a:ext cx="360000" cy="360000"/>
            </a:xfrm>
            <a:prstGeom prst="rect">
              <a:avLst/>
            </a:prstGeom>
          </p:spPr>
        </p:pic>
        <p:pic>
          <p:nvPicPr>
            <p:cNvPr id="128" name="Imagen 127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8583B6F7-3E86-6347-765C-7A60FC51F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1040" y="6487423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5806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D0146004-BD3A-CBB2-5669-2E578420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Iasi-</a:t>
            </a:r>
            <a:r>
              <a:rPr lang="es-ES" dirty="0" err="1">
                <a:solidFill>
                  <a:schemeClr val="bg1"/>
                </a:solidFill>
              </a:rPr>
              <a:t>dev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AC30ADA-B4F6-2DF0-9B3E-333C81FFF327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9E2CEB42-1380-4540-43D9-7C6FFBEB38C0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5C8E654F-50AB-D47D-575A-43E2CCB125AC}"/>
                </a:ext>
              </a:extLst>
            </p:cNvPr>
            <p:cNvSpPr txBox="1"/>
            <p:nvPr/>
          </p:nvSpPr>
          <p:spPr>
            <a:xfrm>
              <a:off x="19004" y="103291"/>
              <a:ext cx="1938223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PRODUCTOS 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: </a:t>
              </a:r>
              <a:r>
                <a:rPr lang="en-US" sz="1200" b="1" dirty="0" err="1">
                  <a:solidFill>
                    <a:schemeClr val="bg1"/>
                  </a:solidFill>
                  <a:latin typeface="Aptos Display"/>
                  <a:ea typeface="Aptos Display"/>
                </a:rPr>
                <a:t>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-dev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49" name="Imagen 48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50971BF-6B67-3D82-024F-AB2901038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CEDC410-7C82-6286-1641-E8BF05CD3678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53" name="Shape 1">
              <a:extLst>
                <a:ext uri="{FF2B5EF4-FFF2-40B4-BE49-F238E27FC236}">
                  <a16:creationId xmlns:a16="http://schemas.microsoft.com/office/drawing/2014/main" id="{C3C34723-D0B3-4119-E320-62604FF3A504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77E06DF7-2905-9F38-FA60-0A8D0C4091C8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C879865-3E8A-FAF1-0A7C-A1821EFB35A7}"/>
              </a:ext>
            </a:extLst>
          </p:cNvPr>
          <p:cNvSpPr txBox="1"/>
          <p:nvPr/>
        </p:nvSpPr>
        <p:spPr>
          <a:xfrm>
            <a:off x="103926" y="607555"/>
            <a:ext cx="74430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iasi-dev</a:t>
            </a:r>
            <a:r>
              <a:rPr lang="es-ES" dirty="0"/>
              <a:t> es un CLI (</a:t>
            </a:r>
            <a:r>
              <a:rPr lang="es-ES" i="1" dirty="0" err="1"/>
              <a:t>Command</a:t>
            </a:r>
            <a:r>
              <a:rPr lang="es-ES" i="1" dirty="0"/>
              <a:t> Line Interface</a:t>
            </a:r>
            <a:r>
              <a:rPr lang="es-ES" dirty="0"/>
              <a:t>) destinado a facilitar y automatizar el flujo de proceso del ecosistema IASI de manera tanto individual como colectiva.</a:t>
            </a:r>
          </a:p>
          <a:p>
            <a:endParaRPr lang="es-ES" dirty="0"/>
          </a:p>
          <a:p>
            <a:r>
              <a:rPr lang="es-ES" dirty="0"/>
              <a:t>También incluye facilidades para procesos y tareas que se han identificado como  comunes y repetitivas en el proceso de creación de IASI.</a:t>
            </a:r>
          </a:p>
          <a:p>
            <a:endParaRPr lang="es-ES" dirty="0"/>
          </a:p>
          <a:p>
            <a:r>
              <a:rPr lang="es-ES" dirty="0"/>
              <a:t>También implementa, y obliga a usarlo, el flujo de trabajo de la metodología IASI</a:t>
            </a:r>
          </a:p>
          <a:p>
            <a:endParaRPr lang="es-ES" dirty="0"/>
          </a:p>
          <a:p>
            <a:r>
              <a:rPr lang="es-ES" dirty="0"/>
              <a:t>Permite trabajar en modo </a:t>
            </a:r>
            <a:r>
              <a:rPr lang="es-ES" i="1" dirty="0"/>
              <a:t>Comando</a:t>
            </a:r>
            <a:r>
              <a:rPr lang="es-ES" dirty="0"/>
              <a:t> o </a:t>
            </a:r>
            <a:r>
              <a:rPr lang="es-ES" i="1" dirty="0" err="1"/>
              <a:t>Workflow</a:t>
            </a:r>
            <a:r>
              <a:rPr lang="es-ES" i="1" dirty="0"/>
              <a:t>, </a:t>
            </a:r>
            <a:r>
              <a:rPr lang="es-ES" dirty="0"/>
              <a:t>ejemplos</a:t>
            </a:r>
            <a:r>
              <a:rPr lang="es-ES" i="1" dirty="0"/>
              <a:t>:</a:t>
            </a:r>
            <a:r>
              <a:rPr lang="es-ES" dirty="0"/>
              <a:t> </a:t>
            </a:r>
          </a:p>
        </p:txBody>
      </p:sp>
      <p:pic>
        <p:nvPicPr>
          <p:cNvPr id="12" name="Imagen 11" descr="Imagen que contiene tabla, computer, computadora, escritorio">
            <a:extLst>
              <a:ext uri="{FF2B5EF4-FFF2-40B4-BE49-F238E27FC236}">
                <a16:creationId xmlns:a16="http://schemas.microsoft.com/office/drawing/2014/main" id="{C133D260-4FB7-2CEB-49A0-CE83402EDB8C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1040" y="438480"/>
            <a:ext cx="3600000" cy="6008040"/>
          </a:xfrm>
          <a:prstGeom prst="rect">
            <a:avLst/>
          </a:prstGeom>
        </p:spPr>
      </p:pic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96754D1-B831-FD66-E571-284FBBD1E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44477"/>
              </p:ext>
            </p:extLst>
          </p:nvPr>
        </p:nvGraphicFramePr>
        <p:xfrm>
          <a:off x="209779" y="4100973"/>
          <a:ext cx="7112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71975558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7040703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Comandos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Workflows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52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Commit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Build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31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Materialize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Publish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3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Build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Release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47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Publish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Promote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184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Restore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101052"/>
                  </a:ext>
                </a:extLst>
              </a:tr>
            </a:tbl>
          </a:graphicData>
        </a:graphic>
      </p:graphicFrame>
      <p:pic>
        <p:nvPicPr>
          <p:cNvPr id="21" name="Imagen 20" descr="Icono&#10;&#10;El contenido generado por IA puede ser incorrecto.">
            <a:hlinkClick r:id="rId4" action="ppaction://hlinksldjump"/>
            <a:extLst>
              <a:ext uri="{FF2B5EF4-FFF2-40B4-BE49-F238E27FC236}">
                <a16:creationId xmlns:a16="http://schemas.microsoft.com/office/drawing/2014/main" id="{8638B671-1214-DEA9-9FE2-023C6614D1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520" y="6487423"/>
            <a:ext cx="360000" cy="360000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hlinkClick r:id="rId6" action="ppaction://hlinksldjump"/>
            <a:extLst>
              <a:ext uri="{FF2B5EF4-FFF2-40B4-BE49-F238E27FC236}">
                <a16:creationId xmlns:a16="http://schemas.microsoft.com/office/drawing/2014/main" id="{FC0468D8-283E-CD30-75EF-6C964C8A62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560" y="6487423"/>
            <a:ext cx="360000" cy="360000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781E58EB-1160-31D6-AF63-5B153F7A13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040" y="648742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69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C5493158-C520-1495-9CDA-5D531766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Iasi-</a:t>
            </a:r>
            <a:r>
              <a:rPr lang="es-ES" dirty="0" err="1">
                <a:solidFill>
                  <a:schemeClr val="bg1"/>
                </a:solidFill>
              </a:rPr>
              <a:t>lua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AC30ADA-B4F6-2DF0-9B3E-333C81FFF327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9E2CEB42-1380-4540-43D9-7C6FFBEB38C0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5C8E654F-50AB-D47D-575A-43E2CCB125AC}"/>
                </a:ext>
              </a:extLst>
            </p:cNvPr>
            <p:cNvSpPr txBox="1"/>
            <p:nvPr/>
          </p:nvSpPr>
          <p:spPr>
            <a:xfrm>
              <a:off x="19004" y="103291"/>
              <a:ext cx="1906676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PRODUCTOS 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: </a:t>
              </a:r>
              <a:r>
                <a:rPr lang="en-US" sz="1200" b="1" dirty="0" err="1">
                  <a:solidFill>
                    <a:schemeClr val="bg1"/>
                  </a:solidFill>
                  <a:latin typeface="Aptos Display"/>
                  <a:ea typeface="Aptos Display"/>
                </a:rPr>
                <a:t>iasi-lua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49" name="Imagen 48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50971BF-6B67-3D82-024F-AB2901038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CEDC410-7C82-6286-1641-E8BF05CD3678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53" name="Shape 1">
              <a:extLst>
                <a:ext uri="{FF2B5EF4-FFF2-40B4-BE49-F238E27FC236}">
                  <a16:creationId xmlns:a16="http://schemas.microsoft.com/office/drawing/2014/main" id="{C3C34723-D0B3-4119-E320-62604FF3A504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77E06DF7-2905-9F38-FA60-0A8D0C4091C8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C879865-3E8A-FAF1-0A7C-A1821EFB35A7}"/>
              </a:ext>
            </a:extLst>
          </p:cNvPr>
          <p:cNvSpPr txBox="1"/>
          <p:nvPr/>
        </p:nvSpPr>
        <p:spPr>
          <a:xfrm>
            <a:off x="103926" y="607555"/>
            <a:ext cx="759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iasi-lua</a:t>
            </a:r>
            <a:r>
              <a:rPr lang="es-ES" dirty="0"/>
              <a:t> son un conjunto de extensiones sobre </a:t>
            </a:r>
            <a:r>
              <a:rPr lang="es-ES" dirty="0" err="1"/>
              <a:t>Quarto</a:t>
            </a:r>
            <a:r>
              <a:rPr lang="es-ES" dirty="0"/>
              <a:t> usando LUA que también se exponen mediante una interfaz MCP (</a:t>
            </a:r>
            <a:r>
              <a:rPr lang="es-ES" i="1" dirty="0" err="1"/>
              <a:t>Model</a:t>
            </a:r>
            <a:r>
              <a:rPr lang="es-ES" i="1" dirty="0"/>
              <a:t> </a:t>
            </a:r>
            <a:r>
              <a:rPr lang="es-ES" i="1" dirty="0" err="1"/>
              <a:t>Context</a:t>
            </a:r>
            <a:r>
              <a:rPr lang="es-ES" i="1" dirty="0"/>
              <a:t> </a:t>
            </a:r>
            <a:r>
              <a:rPr lang="es-ES" i="1" dirty="0" err="1"/>
              <a:t>Protocol</a:t>
            </a:r>
            <a:r>
              <a:rPr lang="es-ES" dirty="0"/>
              <a:t>).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A617FD4-FB84-7F14-BD8C-D95AC6631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550593"/>
              </p:ext>
            </p:extLst>
          </p:nvPr>
        </p:nvGraphicFramePr>
        <p:xfrm>
          <a:off x="237570" y="1386883"/>
          <a:ext cx="91993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842">
                  <a:extLst>
                    <a:ext uri="{9D8B030D-6E8A-4147-A177-3AD203B41FA5}">
                      <a16:colId xmlns:a16="http://schemas.microsoft.com/office/drawing/2014/main" val="1428850744"/>
                    </a:ext>
                  </a:extLst>
                </a:gridCol>
                <a:gridCol w="7890555">
                  <a:extLst>
                    <a:ext uri="{9D8B030D-6E8A-4147-A177-3AD203B41FA5}">
                      <a16:colId xmlns:a16="http://schemas.microsoft.com/office/drawing/2014/main" val="40380380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Extension</a:t>
                      </a:r>
                      <a:endParaRPr lang="es-ES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688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PlantUML</a:t>
                      </a:r>
                      <a:endParaRPr lang="es-E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Extensión estándar para la creación de diagramas de cualquier tipo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24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Shiny</a:t>
                      </a:r>
                      <a:endParaRPr lang="es-E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Extensión para incluir </a:t>
                      </a:r>
                      <a:r>
                        <a:rPr lang="es-ES" dirty="0" err="1"/>
                        <a:t>Shiny</a:t>
                      </a:r>
                      <a:r>
                        <a:rPr lang="es-ES" dirty="0"/>
                        <a:t> apps en páginas HTML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6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Graphics</a:t>
                      </a:r>
                      <a:endParaRPr lang="es-E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Extensión para crear presentaciones simples estilo </a:t>
                      </a:r>
                      <a:r>
                        <a:rPr lang="es-ES" i="1" dirty="0" err="1"/>
                        <a:t>powerpoint</a:t>
                      </a:r>
                      <a:endParaRPr lang="es-ES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382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92399"/>
                  </a:ext>
                </a:extLst>
              </a:tr>
            </a:tbl>
          </a:graphicData>
        </a:graphic>
      </p:graphicFrame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DB2BA8FB-8533-4ED0-77F8-1F412B7C29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382" y="3396294"/>
            <a:ext cx="2190557" cy="1992324"/>
          </a:xfrm>
          <a:prstGeom prst="rect">
            <a:avLst/>
          </a:prstGeom>
        </p:spPr>
      </p:pic>
      <p:pic>
        <p:nvPicPr>
          <p:cNvPr id="10" name="Imagen 9" descr="Imagen que contiene tarjeta de presentación, señal&#10;&#10;El contenido generado por IA puede ser incorrecto.">
            <a:extLst>
              <a:ext uri="{FF2B5EF4-FFF2-40B4-BE49-F238E27FC236}">
                <a16:creationId xmlns:a16="http://schemas.microsoft.com/office/drawing/2014/main" id="{F01E0ABD-F5F5-ABC0-61CF-2372F3E47F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360" y="3643917"/>
            <a:ext cx="1888618" cy="2188977"/>
          </a:xfrm>
          <a:prstGeom prst="rect">
            <a:avLst/>
          </a:prstGeom>
        </p:spPr>
      </p:pic>
      <p:pic>
        <p:nvPicPr>
          <p:cNvPr id="13" name="Imagen 12" descr="Imagen que contiene artículos, tabla, diferente, montón">
            <a:extLst>
              <a:ext uri="{FF2B5EF4-FFF2-40B4-BE49-F238E27FC236}">
                <a16:creationId xmlns:a16="http://schemas.microsoft.com/office/drawing/2014/main" id="{715E73FD-D136-3633-EE10-7206D7BFA5CA}"/>
              </a:ext>
            </a:extLst>
          </p:cNvPr>
          <p:cNvPicPr preferRelativeResize="0"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38120"/>
            <a:ext cx="3600000" cy="6008400"/>
          </a:xfrm>
          <a:prstGeom prst="rect">
            <a:avLst/>
          </a:prstGeom>
        </p:spPr>
      </p:pic>
      <p:pic>
        <p:nvPicPr>
          <p:cNvPr id="21" name="Imagen 20" descr="Icono&#10;&#10;El contenido generado por IA puede ser incorrecto.">
            <a:hlinkClick r:id="rId6" action="ppaction://hlinksldjump"/>
            <a:extLst>
              <a:ext uri="{FF2B5EF4-FFF2-40B4-BE49-F238E27FC236}">
                <a16:creationId xmlns:a16="http://schemas.microsoft.com/office/drawing/2014/main" id="{5F462B3A-244B-D375-49D3-109CC4095C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0520" y="6487423"/>
            <a:ext cx="360000" cy="360000"/>
          </a:xfrm>
          <a:prstGeom prst="rect">
            <a:avLst/>
          </a:prstGeom>
        </p:spPr>
      </p:pic>
      <p:pic>
        <p:nvPicPr>
          <p:cNvPr id="22" name="Imagen 21" descr="Icono&#10;&#10;El contenido generado por IA puede ser incorrecto.">
            <a:hlinkClick r:id="rId8" action="ppaction://hlinksldjump"/>
            <a:extLst>
              <a:ext uri="{FF2B5EF4-FFF2-40B4-BE49-F238E27FC236}">
                <a16:creationId xmlns:a16="http://schemas.microsoft.com/office/drawing/2014/main" id="{45D86948-A9A1-0C8A-1145-2D5FCC6196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560" y="6487423"/>
            <a:ext cx="360000" cy="360000"/>
          </a:xfrm>
          <a:prstGeom prst="rect">
            <a:avLst/>
          </a:prstGeom>
        </p:spPr>
      </p:pic>
      <p:pic>
        <p:nvPicPr>
          <p:cNvPr id="24" name="Imagen 23" descr="Icono&#10;&#10;El contenido generado por IA puede ser incorrecto.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D1D1DE21-8BBA-1ECD-D079-2830A940309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040" y="6487423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62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1CC75331-5C9B-EF3B-9F66-E8B5D169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</a:t>
            </a:r>
            <a:r>
              <a:rPr lang="es-ES" dirty="0">
                <a:solidFill>
                  <a:schemeClr val="bg1"/>
                </a:solidFill>
              </a:rPr>
              <a:t>asi-</a:t>
            </a:r>
            <a:r>
              <a:rPr lang="es-ES" dirty="0" err="1">
                <a:solidFill>
                  <a:schemeClr val="bg1"/>
                </a:solidFill>
              </a:rPr>
              <a:t>rstudio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5AC30ADA-B4F6-2DF0-9B3E-333C81FFF327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47" name="Shape 0">
              <a:extLst>
                <a:ext uri="{FF2B5EF4-FFF2-40B4-BE49-F238E27FC236}">
                  <a16:creationId xmlns:a16="http://schemas.microsoft.com/office/drawing/2014/main" id="{9E2CEB42-1380-4540-43D9-7C6FFBEB38C0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8" name="TextBox 23">
              <a:extLst>
                <a:ext uri="{FF2B5EF4-FFF2-40B4-BE49-F238E27FC236}">
                  <a16:creationId xmlns:a16="http://schemas.microsoft.com/office/drawing/2014/main" id="{5C8E654F-50AB-D47D-575A-43E2CCB125AC}"/>
                </a:ext>
              </a:extLst>
            </p:cNvPr>
            <p:cNvSpPr txBox="1"/>
            <p:nvPr/>
          </p:nvSpPr>
          <p:spPr>
            <a:xfrm>
              <a:off x="19004" y="103291"/>
              <a:ext cx="2220864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PRODUCTOS 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: </a:t>
              </a:r>
              <a:r>
                <a:rPr lang="en-US" sz="1200" b="1" dirty="0" err="1">
                  <a:solidFill>
                    <a:schemeClr val="bg1"/>
                  </a:solidFill>
                  <a:latin typeface="Aptos Display"/>
                  <a:ea typeface="Aptos Display"/>
                </a:rPr>
                <a:t>iasi</a:t>
              </a:r>
              <a:r>
                <a:rPr lang="en-US" sz="1200" b="1" dirty="0">
                  <a:solidFill>
                    <a:schemeClr val="bg1"/>
                  </a:solidFill>
                  <a:latin typeface="Aptos Display"/>
                  <a:ea typeface="Aptos Display"/>
                </a:rPr>
                <a:t>-RStudio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49" name="Imagen 48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250971BF-6B67-3D82-024F-AB2901038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4C879865-3E8A-FAF1-0A7C-A1821EFB35A7}"/>
              </a:ext>
            </a:extLst>
          </p:cNvPr>
          <p:cNvSpPr txBox="1"/>
          <p:nvPr/>
        </p:nvSpPr>
        <p:spPr>
          <a:xfrm>
            <a:off x="103926" y="607555"/>
            <a:ext cx="7598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iasi-RStudio</a:t>
            </a:r>
            <a:r>
              <a:rPr lang="es-ES" dirty="0"/>
              <a:t> es un </a:t>
            </a:r>
            <a:r>
              <a:rPr lang="es-ES" i="1" dirty="0"/>
              <a:t>plugin</a:t>
            </a:r>
            <a:r>
              <a:rPr lang="es-ES" dirty="0"/>
              <a:t> para </a:t>
            </a:r>
            <a:r>
              <a:rPr lang="es-ES" i="1" dirty="0" err="1"/>
              <a:t>RStudio</a:t>
            </a:r>
            <a:r>
              <a:rPr lang="es-ES" dirty="0"/>
              <a:t> orientado a facilitar e integrar la metodología IASI dentro de </a:t>
            </a:r>
            <a:r>
              <a:rPr lang="es-ES" dirty="0" err="1"/>
              <a:t>RStudio</a:t>
            </a:r>
            <a:r>
              <a:rPr lang="es-ES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2435F4-6F84-8057-86ED-0C41E3D8C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401"/>
            <a:ext cx="12192000" cy="83076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C289113-BD3E-0CF6-666B-CA8B06D8C034}"/>
              </a:ext>
            </a:extLst>
          </p:cNvPr>
          <p:cNvSpPr txBox="1"/>
          <p:nvPr/>
        </p:nvSpPr>
        <p:spPr>
          <a:xfrm>
            <a:off x="103926" y="2290644"/>
            <a:ext cx="11981100" cy="20303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s-ES" dirty="0"/>
              <a:t>Su objetivo es permitir a un usuario: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Crear proyectos de documentación automáticamente mediante el uso de plantillas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Permitir la creación de registros EDR (</a:t>
            </a:r>
            <a:r>
              <a:rPr lang="es-ES" i="1" dirty="0" err="1"/>
              <a:t>Engineering</a:t>
            </a:r>
            <a:r>
              <a:rPr lang="es-ES" i="1" dirty="0"/>
              <a:t> </a:t>
            </a:r>
            <a:r>
              <a:rPr lang="es-ES" i="1" dirty="0" err="1"/>
              <a:t>Decissions</a:t>
            </a:r>
            <a:r>
              <a:rPr lang="es-ES" i="1" dirty="0"/>
              <a:t> </a:t>
            </a:r>
            <a:r>
              <a:rPr lang="es-ES" i="1" dirty="0" err="1"/>
              <a:t>Record</a:t>
            </a:r>
            <a:r>
              <a:rPr lang="es-ES" dirty="0"/>
              <a:t>) de una manera rápida y normalizada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Integrar los </a:t>
            </a:r>
            <a:r>
              <a:rPr lang="es-ES" dirty="0" err="1"/>
              <a:t>workflows</a:t>
            </a:r>
            <a:r>
              <a:rPr lang="es-ES" dirty="0"/>
              <a:t> de trabajo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Otras funciones</a:t>
            </a:r>
          </a:p>
          <a:p>
            <a:endParaRPr lang="es-ES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B10EC7-6EC8-D033-D349-BB539C96ED4B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4CEDC410-7C82-6286-1641-E8BF05CD3678}"/>
                </a:ext>
              </a:extLst>
            </p:cNvPr>
            <p:cNvGrpSpPr/>
            <p:nvPr/>
          </p:nvGrpSpPr>
          <p:grpSpPr>
            <a:xfrm>
              <a:off x="0" y="6446520"/>
              <a:ext cx="12191400" cy="411120"/>
              <a:chOff x="0" y="6446520"/>
              <a:chExt cx="12191400" cy="411120"/>
            </a:xfrm>
          </p:grpSpPr>
          <p:sp>
            <p:nvSpPr>
              <p:cNvPr id="53" name="Shape 1">
                <a:extLst>
                  <a:ext uri="{FF2B5EF4-FFF2-40B4-BE49-F238E27FC236}">
                    <a16:creationId xmlns:a16="http://schemas.microsoft.com/office/drawing/2014/main" id="{C3C34723-D0B3-4119-E320-62604FF3A504}"/>
                  </a:ext>
                </a:extLst>
              </p:cNvPr>
              <p:cNvSpPr/>
              <p:nvPr/>
            </p:nvSpPr>
            <p:spPr>
              <a:xfrm>
                <a:off x="0" y="6446520"/>
                <a:ext cx="12191400" cy="41112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s-ES" sz="1800" b="0" u="none" strike="noStrike">
                  <a:solidFill>
                    <a:schemeClr val="dk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4" name="Text 5">
                <a:extLst>
                  <a:ext uri="{FF2B5EF4-FFF2-40B4-BE49-F238E27FC236}">
                    <a16:creationId xmlns:a16="http://schemas.microsoft.com/office/drawing/2014/main" id="{77E06DF7-2905-9F38-FA60-0A8D0C4091C8}"/>
                  </a:ext>
                </a:extLst>
              </p:cNvPr>
              <p:cNvSpPr/>
              <p:nvPr/>
            </p:nvSpPr>
            <p:spPr>
              <a:xfrm>
                <a:off x="151236" y="6570000"/>
                <a:ext cx="5943240" cy="164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IASI ·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Ingeniería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Aumentada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con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Sistemas</a:t>
                </a:r>
                <a:r>
                  <a:rPr lang="en-US" sz="850" b="0" u="none" strike="noStrike" dirty="0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 </a:t>
                </a:r>
                <a:r>
                  <a:rPr lang="en-US" sz="850" b="0" u="none" strike="noStrike" dirty="0" err="1">
                    <a:solidFill>
                      <a:schemeClr val="lt2"/>
                    </a:solidFill>
                    <a:effectLst/>
                    <a:uFillTx/>
                    <a:latin typeface="Aptos"/>
                    <a:ea typeface="Aptos"/>
                  </a:rPr>
                  <a:t>Inteligentes</a:t>
                </a:r>
                <a:endParaRPr lang="es-ES" sz="85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pic>
          <p:nvPicPr>
            <p:cNvPr id="11" name="Imagen 10" descr="Icono&#10;&#10;El contenido generado por IA puede ser incorrecto.">
              <a:hlinkClick r:id="rId4" action="ppaction://hlinksldjump"/>
              <a:extLst>
                <a:ext uri="{FF2B5EF4-FFF2-40B4-BE49-F238E27FC236}">
                  <a16:creationId xmlns:a16="http://schemas.microsoft.com/office/drawing/2014/main" id="{FF1D7882-E841-C34D-3100-751AB2E0E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0520" y="6487423"/>
              <a:ext cx="360000" cy="360000"/>
            </a:xfrm>
            <a:prstGeom prst="rect">
              <a:avLst/>
            </a:prstGeom>
          </p:spPr>
        </p:pic>
        <p:pic>
          <p:nvPicPr>
            <p:cNvPr id="15" name="Imagen 14" descr="Icono&#10;&#10;El contenido generado por IA puede ser incorrecto.">
              <a:hlinkClick r:id="rId6" action="ppaction://hlinksldjump"/>
              <a:extLst>
                <a:ext uri="{FF2B5EF4-FFF2-40B4-BE49-F238E27FC236}">
                  <a16:creationId xmlns:a16="http://schemas.microsoft.com/office/drawing/2014/main" id="{BF632417-7FBF-A49D-071F-6008E7677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1560" y="6487423"/>
              <a:ext cx="360000" cy="360000"/>
            </a:xfrm>
            <a:prstGeom prst="rect">
              <a:avLst/>
            </a:prstGeom>
          </p:spPr>
        </p:pic>
        <p:pic>
          <p:nvPicPr>
            <p:cNvPr id="17" name="Imagen 16" descr="Icono&#10;&#10;El contenido generado por IA puede ser incorrecto.">
              <a:hlinkClick r:id="" action="ppaction://hlinkshowjump?jump=lastslideviewed"/>
              <a:extLst>
                <a:ext uri="{FF2B5EF4-FFF2-40B4-BE49-F238E27FC236}">
                  <a16:creationId xmlns:a16="http://schemas.microsoft.com/office/drawing/2014/main" id="{4DE0E19D-0357-35AA-98C1-BE9438A94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1040" y="6487423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6841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en blanco y negro de una puerta">
            <a:extLst>
              <a:ext uri="{FF2B5EF4-FFF2-40B4-BE49-F238E27FC236}">
                <a16:creationId xmlns:a16="http://schemas.microsoft.com/office/drawing/2014/main" id="{64D41D7B-5848-668C-1DA7-03102E4CF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5468" y="438480"/>
            <a:ext cx="12397468" cy="6008040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85089BF-ADF6-CD49-BBDA-EF721C2E2416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11" name="Shape 1"/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5" name="Text 5"/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Text 12"/>
          <p:cNvSpPr/>
          <p:nvPr/>
        </p:nvSpPr>
        <p:spPr>
          <a:xfrm>
            <a:off x="713232" y="1481328"/>
            <a:ext cx="658368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>
                <a:solidFill>
                  <a:srgbClr val="FFFFFF"/>
                </a:solidFill>
                <a:latin typeface="Aptos Display"/>
                <a:ea typeface="Aptos Display"/>
              </a:rPr>
              <a:t>I</a:t>
            </a: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NFRAESTRUCTURA IASI</a:t>
            </a:r>
            <a:endParaRPr lang="es-ES" sz="3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" sz="3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9808" y="3182112"/>
            <a:ext cx="6217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DCE8F2"/>
                </a:solidFill>
                <a:effectLst/>
                <a:uFillTx/>
                <a:latin typeface="Aptos"/>
                <a:ea typeface="Aptos"/>
              </a:rPr>
              <a:t>Software nacido de necesidades reales del ecosistema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Infraestructura Portada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4160520"/>
            <a:ext cx="62179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CDDCE8"/>
                </a:solidFill>
                <a:latin typeface="Aptos"/>
              </a:rPr>
              <a:t>IASI-R  ·  IASI-LUA  ·  IASI-DEV  ·  IASI-RSTUDIO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9CC4322-3CF9-F389-69F2-DF421FA74E5B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10" name="Shape 0"/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9004" y="103291"/>
              <a:ext cx="1872885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s-ES" sz="1200" b="1" dirty="0">
                  <a:solidFill>
                    <a:schemeClr val="bg1"/>
                  </a:solidFill>
                  <a:latin typeface="Aptos"/>
                </a:rPr>
                <a:t>INFRAESTRUCTURA</a:t>
              </a:r>
              <a:r>
                <a:rPr sz="1200" b="1" dirty="0">
                  <a:solidFill>
                    <a:schemeClr val="bg1"/>
                  </a:solidFill>
                  <a:latin typeface="Aptos"/>
                </a:rPr>
                <a:t> IASI</a:t>
              </a: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9C6B46F7-C537-AE0B-47BC-493B878FB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0267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162" name="Picture 161" descr="rack_wash.jpg"/>
          <p:cNvPicPr>
            <a:picLocks noChangeAspect="1"/>
          </p:cNvPicPr>
          <p:nvPr/>
        </p:nvPicPr>
        <p:blipFill>
          <a:blip r:embed="rId3"/>
          <a:srcRect t="41385" b="41385"/>
          <a:stretch>
            <a:fillRect/>
          </a:stretch>
        </p:blipFill>
        <p:spPr>
          <a:xfrm>
            <a:off x="303504" y="5010912"/>
            <a:ext cx="11550804" cy="1024128"/>
          </a:xfrm>
          <a:prstGeom prst="rect">
            <a:avLst/>
          </a:prstGeom>
        </p:spPr>
      </p:pic>
      <p:sp>
        <p:nvSpPr>
          <p:cNvPr id="131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PRINCIPIOS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35665" y="658404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</a:t>
            </a:r>
            <a:r>
              <a:rPr lang="en-US" sz="850" b="0" u="none" strike="noStrike" dirty="0" err="1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Ingeniería</a:t>
            </a:r>
            <a:r>
              <a:rPr lang="en-US" sz="850" b="0" u="none" strike="noStrike" dirty="0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850" b="0" u="none" strike="noStrike" dirty="0" err="1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Aumentada</a:t>
            </a:r>
            <a:r>
              <a:rPr lang="en-US" sz="850" b="0" u="none" strike="noStrike" dirty="0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 con </a:t>
            </a:r>
            <a:r>
              <a:rPr lang="en-US" sz="850" b="0" u="none" strike="noStrike" dirty="0" err="1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Sistemas</a:t>
            </a:r>
            <a:r>
              <a:rPr lang="en-US" sz="850" b="0" u="none" strike="noStrike" dirty="0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850" b="0" u="none" strike="noStrike" dirty="0" err="1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Inteligentes</a:t>
            </a:r>
            <a:endParaRPr lang="es-E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230423" y="64908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La infraestructura no es decorado técnico. Es parte del método.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303503" y="1087920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303503" y="1087920"/>
            <a:ext cx="91080" cy="13255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504743" y="124344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Local-first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504743" y="1618200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Entorno controlado para aprender, construir, romper y recomponer sin pedir permiso al Olimpo cloud.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4501745" y="1121739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4501745" y="1121739"/>
            <a:ext cx="91080" cy="1325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4702985" y="1277259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Separación clara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4702985" y="1652019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Arquitectura estable, laboratorio experimental y zona franca no son lo mismo.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8"/>
          <p:cNvSpPr/>
          <p:nvPr/>
        </p:nvSpPr>
        <p:spPr>
          <a:xfrm>
            <a:off x="8699988" y="1115640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8699988" y="1115640"/>
            <a:ext cx="91080" cy="13255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8901228" y="12711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Materializable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1"/>
          <p:cNvSpPr/>
          <p:nvPr/>
        </p:nvSpPr>
        <p:spPr>
          <a:xfrm>
            <a:off x="8901228" y="1645920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Una fuente puede producir salidas distintas: web, PDF, documentación, entornos, scripts.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303503" y="2962440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0" name="Shape 23"/>
          <p:cNvSpPr/>
          <p:nvPr/>
        </p:nvSpPr>
        <p:spPr>
          <a:xfrm>
            <a:off x="303503" y="2962440"/>
            <a:ext cx="91080" cy="1325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504743" y="31179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3"/>
                </a:solidFill>
                <a:effectLst/>
                <a:uFillTx/>
                <a:latin typeface="Aptos Display"/>
                <a:ea typeface="Aptos Display"/>
              </a:rPr>
              <a:t>Trazable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504743" y="3492720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Cada derivación debe poder explicarse: qué fuente, qué target, qué reglas y qué resultado.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4501745" y="2996259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4501745" y="2996259"/>
            <a:ext cx="91080" cy="132552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4702985" y="3151779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5"/>
                </a:solidFill>
                <a:effectLst/>
                <a:uFillTx/>
                <a:latin typeface="Aptos Display"/>
                <a:ea typeface="Aptos Display"/>
              </a:rPr>
              <a:t>Promoción explícita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4702985" y="3526539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Nada pasa de playground a arquitectura por ósmosis. Se decide y se documenta.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0"/>
          <p:cNvSpPr/>
          <p:nvPr/>
        </p:nvSpPr>
        <p:spPr>
          <a:xfrm>
            <a:off x="8699988" y="2990160"/>
            <a:ext cx="3154320" cy="1325520"/>
          </a:xfrm>
          <a:prstGeom prst="roundRect">
            <a:avLst>
              <a:gd name="adj" fmla="val 551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8699988" y="2990160"/>
            <a:ext cx="91080" cy="132552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9" name="Text 32"/>
          <p:cNvSpPr/>
          <p:nvPr/>
        </p:nvSpPr>
        <p:spPr>
          <a:xfrm>
            <a:off x="8901228" y="314568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6"/>
                </a:solidFill>
                <a:effectLst/>
                <a:uFillTx/>
                <a:latin typeface="Aptos Display"/>
                <a:ea typeface="Aptos Display"/>
              </a:rPr>
              <a:t>Extensible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8901228" y="3520440"/>
            <a:ext cx="277020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Los nodos futuros, como iasi-tests, quedan previstos sin contaminar la topología actual.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52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Principios de infraestructura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960120" y="5358384"/>
            <a:ext cx="10058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182938"/>
                </a:solidFill>
                <a:latin typeface="Aptos"/>
              </a:rPr>
              <a:t>CONTROL LOCAL  ·  SEPARACIÓN  ·  TRAZABILIDAD  ·  PROMOCIÓN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84F5084-B731-8CC8-8552-03131255BA2E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217C17C6-A6AC-FD6F-0F6B-842B7D345768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" name="TextBox 23">
              <a:extLst>
                <a:ext uri="{FF2B5EF4-FFF2-40B4-BE49-F238E27FC236}">
                  <a16:creationId xmlns:a16="http://schemas.microsoft.com/office/drawing/2014/main" id="{DD0241F8-0EA4-C4BB-763E-00B4915D1B47}"/>
                </a:ext>
              </a:extLst>
            </p:cNvPr>
            <p:cNvSpPr txBox="1"/>
            <p:nvPr/>
          </p:nvSpPr>
          <p:spPr>
            <a:xfrm>
              <a:off x="19004" y="103291"/>
              <a:ext cx="2031518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Principios</a:t>
              </a:r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 de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infraestructura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5" name="Imagen 4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E67B268C-108C-82D7-6742-012866457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 dirty="0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IASI INFRASTRUCTURE</a:t>
            </a:r>
            <a:endParaRPr lang="es-E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Subred privada IASI en Hyper-V con arquitectura estable y playground deliberado.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822960" y="17006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82938"/>
                </a:solidFill>
                <a:effectLst/>
                <a:uFillTx/>
                <a:latin typeface="Aptos"/>
              </a:rPr>
              <a:t>STABLE ARCHITECTURE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1627560" y="3401280"/>
            <a:ext cx="360" cy="107928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3492720" y="3401280"/>
            <a:ext cx="360" cy="107928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5358240" y="3401280"/>
            <a:ext cx="360" cy="107928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9" name="Shape 17"/>
          <p:cNvSpPr/>
          <p:nvPr/>
        </p:nvSpPr>
        <p:spPr>
          <a:xfrm>
            <a:off x="7223760" y="3401280"/>
            <a:ext cx="360" cy="107928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8485560" y="4681440"/>
            <a:ext cx="97848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868680" y="2103120"/>
            <a:ext cx="1508400" cy="1170000"/>
          </a:xfrm>
          <a:prstGeom prst="roundRect">
            <a:avLst>
              <a:gd name="adj" fmla="val 7031"/>
            </a:avLst>
          </a:prstGeom>
          <a:solidFill>
            <a:schemeClr val="accen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941760" y="2267640"/>
            <a:ext cx="1362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iasi-dev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978480" y="2633400"/>
            <a:ext cx="1288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Windows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entorno de desarrollo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3"/>
          <p:cNvSpPr/>
          <p:nvPr/>
        </p:nvSpPr>
        <p:spPr>
          <a:xfrm>
            <a:off x="2743200" y="2103120"/>
            <a:ext cx="1508400" cy="1170000"/>
          </a:xfrm>
          <a:prstGeom prst="roundRect">
            <a:avLst>
              <a:gd name="adj" fmla="val 7031"/>
            </a:avLst>
          </a:prstGeom>
          <a:solidFill>
            <a:schemeClr val="accent2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2816280" y="2267640"/>
            <a:ext cx="1362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iasi-tools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2853000" y="2633400"/>
            <a:ext cx="1288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Ubuntu Server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servicios de ingeniería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6"/>
          <p:cNvSpPr/>
          <p:nvPr/>
        </p:nvSpPr>
        <p:spPr>
          <a:xfrm>
            <a:off x="4608720" y="2103120"/>
            <a:ext cx="1508400" cy="1170000"/>
          </a:xfrm>
          <a:prstGeom prst="roundRect">
            <a:avLst>
              <a:gd name="adj" fmla="val 7031"/>
            </a:avLst>
          </a:prstGeom>
          <a:solidFill>
            <a:schemeClr val="accent3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4681800" y="2267640"/>
            <a:ext cx="1362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iasi-ai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4718160" y="2633400"/>
            <a:ext cx="1288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Ubuntu Server + GPU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Ollama · modelos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9"/>
          <p:cNvSpPr/>
          <p:nvPr/>
        </p:nvSpPr>
        <p:spPr>
          <a:xfrm>
            <a:off x="6473880" y="2103120"/>
            <a:ext cx="1508400" cy="1170000"/>
          </a:xfrm>
          <a:prstGeom prst="roundRect">
            <a:avLst>
              <a:gd name="adj" fmla="val 7031"/>
            </a:avLst>
          </a:prstGeom>
          <a:solidFill>
            <a:schemeClr val="accent5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6546960" y="2267640"/>
            <a:ext cx="1362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iasi-labs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1"/>
          <p:cNvSpPr/>
          <p:nvPr/>
        </p:nvSpPr>
        <p:spPr>
          <a:xfrm>
            <a:off x="6583680" y="2633400"/>
            <a:ext cx="12888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Kubuntu GUI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labs · PoC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2D98B28E-9B67-C249-0431-615184746D38}"/>
              </a:ext>
            </a:extLst>
          </p:cNvPr>
          <p:cNvGrpSpPr/>
          <p:nvPr/>
        </p:nvGrpSpPr>
        <p:grpSpPr>
          <a:xfrm>
            <a:off x="799080" y="3726000"/>
            <a:ext cx="7634880" cy="529920"/>
            <a:chOff x="864360" y="4448700"/>
            <a:chExt cx="7634880" cy="529920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97" name="Shape 35"/>
            <p:cNvSpPr/>
            <p:nvPr/>
          </p:nvSpPr>
          <p:spPr>
            <a:xfrm>
              <a:off x="864360" y="4448700"/>
              <a:ext cx="7634880" cy="529920"/>
            </a:xfrm>
            <a:prstGeom prst="roundRect">
              <a:avLst>
                <a:gd name="adj" fmla="val 12069"/>
              </a:avLst>
            </a:prstGeom>
            <a:grp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98" name="Text 36"/>
            <p:cNvSpPr/>
            <p:nvPr/>
          </p:nvSpPr>
          <p:spPr>
            <a:xfrm>
              <a:off x="1143000" y="4636080"/>
              <a:ext cx="1096920" cy="145800"/>
            </a:xfrm>
            <a:prstGeom prst="rect">
              <a:avLst/>
            </a:prstGeom>
            <a:grp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chemeClr val="accent1"/>
                  </a:solidFill>
                  <a:effectLst/>
                  <a:uFillTx/>
                  <a:latin typeface="Aptos"/>
                </a:rPr>
                <a:t>iasi-net</a:t>
              </a:r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Text 37"/>
            <p:cNvSpPr/>
            <p:nvPr/>
          </p:nvSpPr>
          <p:spPr>
            <a:xfrm>
              <a:off x="2423160" y="4654440"/>
              <a:ext cx="5668920" cy="127800"/>
            </a:xfrm>
            <a:prstGeom prst="rect">
              <a:avLst/>
            </a:prstGeom>
            <a:grp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 lnSpcReduction="9999"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30" b="0" u="none" strike="noStrike">
                  <a:solidFill>
                    <a:schemeClr val="dk2"/>
                  </a:solidFill>
                  <a:effectLst/>
                  <a:uFillTx/>
                  <a:latin typeface="Aptos"/>
                </a:rPr>
                <a:t>Hyper-V Internal Switch + NAT · 10.77.0.0/24 · gateway 10.77.0.1</a:t>
              </a:r>
              <a:endParaRPr lang="es-ES" sz="9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0" name="Text 38"/>
          <p:cNvSpPr/>
          <p:nvPr/>
        </p:nvSpPr>
        <p:spPr>
          <a:xfrm>
            <a:off x="868680" y="3456360"/>
            <a:ext cx="15084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10.77.0.10</a:t>
            </a:r>
            <a:endParaRPr lang="es-E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9"/>
          <p:cNvSpPr/>
          <p:nvPr/>
        </p:nvSpPr>
        <p:spPr>
          <a:xfrm>
            <a:off x="2743200" y="3456360"/>
            <a:ext cx="15084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10.77.0.20</a:t>
            </a:r>
            <a:endParaRPr lang="es-E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0"/>
          <p:cNvSpPr/>
          <p:nvPr/>
        </p:nvSpPr>
        <p:spPr>
          <a:xfrm>
            <a:off x="4608720" y="3456360"/>
            <a:ext cx="15084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10.77.0.30</a:t>
            </a:r>
            <a:endParaRPr lang="es-E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1"/>
          <p:cNvSpPr/>
          <p:nvPr/>
        </p:nvSpPr>
        <p:spPr>
          <a:xfrm>
            <a:off x="6473880" y="3456360"/>
            <a:ext cx="15084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10.77.0.40</a:t>
            </a:r>
            <a:endParaRPr lang="es-E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9D049F9-A0F8-123E-1DB9-AD2D3666C089}"/>
              </a:ext>
            </a:extLst>
          </p:cNvPr>
          <p:cNvGrpSpPr/>
          <p:nvPr/>
        </p:nvGrpSpPr>
        <p:grpSpPr>
          <a:xfrm>
            <a:off x="2012184" y="4555980"/>
            <a:ext cx="1490040" cy="1517400"/>
            <a:chOff x="9838800" y="2121480"/>
            <a:chExt cx="1490040" cy="1517400"/>
          </a:xfrm>
        </p:grpSpPr>
        <p:sp>
          <p:nvSpPr>
            <p:cNvPr id="194" name="Shape 32"/>
            <p:cNvSpPr/>
            <p:nvPr/>
          </p:nvSpPr>
          <p:spPr>
            <a:xfrm>
              <a:off x="9838800" y="2121480"/>
              <a:ext cx="1490040" cy="1261440"/>
            </a:xfrm>
            <a:prstGeom prst="roundRect">
              <a:avLst>
                <a:gd name="adj" fmla="val 6522"/>
              </a:avLst>
            </a:prstGeom>
            <a:solidFill>
              <a:schemeClr val="accent4"/>
            </a:solidFill>
            <a:ln w="0">
              <a:noFill/>
            </a:ln>
            <a:effectLst>
              <a:outerShdw blurRad="25560" dist="12218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95" name="Text 33"/>
            <p:cNvSpPr/>
            <p:nvPr/>
          </p:nvSpPr>
          <p:spPr>
            <a:xfrm>
              <a:off x="9912240" y="2286000"/>
              <a:ext cx="134388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1" u="none" strike="noStrike">
                  <a:solidFill>
                    <a:schemeClr val="lt1"/>
                  </a:solidFill>
                  <a:effectLst/>
                  <a:uFillTx/>
                  <a:latin typeface="Aptos Display"/>
                  <a:ea typeface="Aptos Display"/>
                </a:rPr>
                <a:t>iasi-work</a:t>
              </a:r>
              <a:endParaRPr lang="es-E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 34"/>
            <p:cNvSpPr/>
            <p:nvPr/>
          </p:nvSpPr>
          <p:spPr>
            <a:xfrm>
              <a:off x="9948600" y="2651760"/>
              <a:ext cx="127080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80" b="0" u="none" strike="noStrike">
                  <a:solidFill>
                    <a:schemeClr val="lt1"/>
                  </a:solidFill>
                  <a:effectLst/>
                  <a:uFillTx/>
                  <a:latin typeface="Aptos"/>
                  <a:ea typeface="Aptos"/>
                </a:rPr>
                <a:t>zona franca</a:t>
              </a:r>
              <a:endParaRPr lang="es-ES" sz="8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80" b="0" u="none" strike="noStrike">
                  <a:solidFill>
                    <a:schemeClr val="lt1"/>
                  </a:solidFill>
                  <a:effectLst/>
                  <a:uFillTx/>
                  <a:latin typeface="Aptos"/>
                  <a:ea typeface="Aptos"/>
                </a:rPr>
                <a:t>ad hoc · temporal</a:t>
              </a:r>
              <a:endParaRPr lang="es-ES" sz="8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 42"/>
            <p:cNvSpPr/>
            <p:nvPr/>
          </p:nvSpPr>
          <p:spPr>
            <a:xfrm>
              <a:off x="9838800" y="3529440"/>
              <a:ext cx="1490040" cy="109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760" b="1" u="none" strike="noStrike">
                  <a:solidFill>
                    <a:schemeClr val="dk2"/>
                  </a:solidFill>
                  <a:effectLst/>
                  <a:uFillTx/>
                  <a:latin typeface="Aptos"/>
                </a:rPr>
                <a:t>dynamic / reserved</a:t>
              </a:r>
              <a:endParaRPr lang="es-ES" sz="76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574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Topología IASI </a:t>
            </a:r>
            <a:r>
              <a:rPr lang="es-ES" sz="100" b="0" u="none" strike="noStrike" dirty="0" err="1">
                <a:solidFill>
                  <a:schemeClr val="dk1"/>
                </a:solidFill>
                <a:effectLst/>
                <a:uFillTx/>
                <a:latin typeface="Aptos Display"/>
              </a:rPr>
              <a:t>Infrastructure</a:t>
            </a: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 V2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5" name="Imagen 4" descr="Imagen que contiene exterior, edificio, verde, luz">
            <a:extLst>
              <a:ext uri="{FF2B5EF4-FFF2-40B4-BE49-F238E27FC236}">
                <a16:creationId xmlns:a16="http://schemas.microsoft.com/office/drawing/2014/main" id="{3AC41817-59E4-5693-4894-EC4ABB86CF4C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438480"/>
            <a:ext cx="3600000" cy="6006960"/>
          </a:xfrm>
          <a:prstGeom prst="rect">
            <a:avLst/>
          </a:prstGeom>
        </p:spPr>
      </p:pic>
      <p:sp>
        <p:nvSpPr>
          <p:cNvPr id="16" name="Shape 32">
            <a:extLst>
              <a:ext uri="{FF2B5EF4-FFF2-40B4-BE49-F238E27FC236}">
                <a16:creationId xmlns:a16="http://schemas.microsoft.com/office/drawing/2014/main" id="{61985276-55AB-5F7E-0658-C7D37C67AF4A}"/>
              </a:ext>
            </a:extLst>
          </p:cNvPr>
          <p:cNvSpPr/>
          <p:nvPr/>
        </p:nvSpPr>
        <p:spPr>
          <a:xfrm>
            <a:off x="5656140" y="4500212"/>
            <a:ext cx="1490040" cy="1261440"/>
          </a:xfrm>
          <a:prstGeom prst="roundRect">
            <a:avLst>
              <a:gd name="adj" fmla="val 6522"/>
            </a:avLst>
          </a:prstGeom>
          <a:solidFill>
            <a:srgbClr val="E78AC3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Text 33">
            <a:extLst>
              <a:ext uri="{FF2B5EF4-FFF2-40B4-BE49-F238E27FC236}">
                <a16:creationId xmlns:a16="http://schemas.microsoft.com/office/drawing/2014/main" id="{8B3DC18C-B23E-9B42-BBE8-ECCA935B32A3}"/>
              </a:ext>
            </a:extLst>
          </p:cNvPr>
          <p:cNvSpPr/>
          <p:nvPr/>
        </p:nvSpPr>
        <p:spPr>
          <a:xfrm>
            <a:off x="5729580" y="4664732"/>
            <a:ext cx="1343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 err="1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iasi</a:t>
            </a: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Aptos Display"/>
                <a:ea typeface="Aptos Display"/>
              </a:rPr>
              <a:t>-tests</a:t>
            </a:r>
            <a:endParaRPr lang="es-E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4">
            <a:extLst>
              <a:ext uri="{FF2B5EF4-FFF2-40B4-BE49-F238E27FC236}">
                <a16:creationId xmlns:a16="http://schemas.microsoft.com/office/drawing/2014/main" id="{D8EDA5F8-6C6B-6484-BF2B-9FB8725171F1}"/>
              </a:ext>
            </a:extLst>
          </p:cNvPr>
          <p:cNvSpPr/>
          <p:nvPr/>
        </p:nvSpPr>
        <p:spPr>
          <a:xfrm>
            <a:off x="5765940" y="5030492"/>
            <a:ext cx="127080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zona franca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ad hoc · temporal</a:t>
            </a:r>
            <a:endParaRPr lang="es-E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2">
            <a:extLst>
              <a:ext uri="{FF2B5EF4-FFF2-40B4-BE49-F238E27FC236}">
                <a16:creationId xmlns:a16="http://schemas.microsoft.com/office/drawing/2014/main" id="{0ACE32F2-7A0F-448B-CA41-FB2386241EA7}"/>
              </a:ext>
            </a:extLst>
          </p:cNvPr>
          <p:cNvSpPr/>
          <p:nvPr/>
        </p:nvSpPr>
        <p:spPr>
          <a:xfrm>
            <a:off x="5656140" y="5908172"/>
            <a:ext cx="1490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dynamic / reserved</a:t>
            </a:r>
            <a:endParaRPr lang="es-E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008EFE8-4E8D-E064-B0A0-266F1B9A8C2B}"/>
              </a:ext>
            </a:extLst>
          </p:cNvPr>
          <p:cNvGrpSpPr/>
          <p:nvPr/>
        </p:nvGrpSpPr>
        <p:grpSpPr>
          <a:xfrm>
            <a:off x="0" y="0"/>
            <a:ext cx="12191400" cy="438480"/>
            <a:chOff x="0" y="0"/>
            <a:chExt cx="12191400" cy="438480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4D43CDB1-6672-0BBA-54CD-A61F98D6B7D8}"/>
                </a:ext>
              </a:extLst>
            </p:cNvPr>
            <p:cNvSpPr/>
            <p:nvPr/>
          </p:nvSpPr>
          <p:spPr>
            <a:xfrm>
              <a:off x="0" y="0"/>
              <a:ext cx="12191400" cy="438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1E3D0A13-C510-8092-FB6F-248BBBF75E4E}"/>
                </a:ext>
              </a:extLst>
            </p:cNvPr>
            <p:cNvSpPr txBox="1"/>
            <p:nvPr/>
          </p:nvSpPr>
          <p:spPr>
            <a:xfrm>
              <a:off x="19004" y="103291"/>
              <a:ext cx="1458604" cy="27699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l"/>
              <a:r>
                <a:rPr lang="en-US" sz="1200" b="1" u="none" strike="noStrike" dirty="0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IASI </a:t>
              </a:r>
              <a:r>
                <a:rPr lang="en-US" sz="1200" b="1" u="none" strike="noStrike" dirty="0" err="1">
                  <a:solidFill>
                    <a:schemeClr val="bg1"/>
                  </a:solidFill>
                  <a:effectLst/>
                  <a:uFillTx/>
                  <a:latin typeface="Aptos Display"/>
                  <a:ea typeface="Aptos Display"/>
                </a:rPr>
                <a:t>Infraestructura</a:t>
              </a:r>
              <a:endParaRPr sz="1200" b="1" dirty="0">
                <a:solidFill>
                  <a:schemeClr val="bg1"/>
                </a:solidFill>
                <a:latin typeface="Aptos"/>
              </a:endParaRPr>
            </a:p>
          </p:txBody>
        </p:sp>
        <p:pic>
          <p:nvPicPr>
            <p:cNvPr id="23" name="Imagen 22" descr="Imagen que contiene Icono&#10;&#10;El contenido generado por IA puede ser incorrecto.">
              <a:extLst>
                <a:ext uri="{FF2B5EF4-FFF2-40B4-BE49-F238E27FC236}">
                  <a16:creationId xmlns:a16="http://schemas.microsoft.com/office/drawing/2014/main" id="{17B5E315-E406-B704-4128-503B61867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81840" y="34674"/>
              <a:ext cx="378000" cy="378000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9D71E2-190C-8A2B-6E84-CC97A7BCC1D6}"/>
              </a:ext>
            </a:extLst>
          </p:cNvPr>
          <p:cNvGrpSpPr/>
          <p:nvPr/>
        </p:nvGrpSpPr>
        <p:grpSpPr>
          <a:xfrm>
            <a:off x="0" y="6446520"/>
            <a:ext cx="12191400" cy="411120"/>
            <a:chOff x="0" y="6446520"/>
            <a:chExt cx="12191400" cy="411120"/>
          </a:xfrm>
        </p:grpSpPr>
        <p:sp>
          <p:nvSpPr>
            <p:cNvPr id="25" name="Shape 1">
              <a:extLst>
                <a:ext uri="{FF2B5EF4-FFF2-40B4-BE49-F238E27FC236}">
                  <a16:creationId xmlns:a16="http://schemas.microsoft.com/office/drawing/2014/main" id="{D719173D-FE74-C822-040D-5E26554D0AE2}"/>
                </a:ext>
              </a:extLst>
            </p:cNvPr>
            <p:cNvSpPr/>
            <p:nvPr/>
          </p:nvSpPr>
          <p:spPr>
            <a:xfrm>
              <a:off x="0" y="6446520"/>
              <a:ext cx="12191400" cy="41112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s-ES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A74EEA68-0C6B-4A4F-46D8-1900884DAFB0}"/>
                </a:ext>
              </a:extLst>
            </p:cNvPr>
            <p:cNvSpPr/>
            <p:nvPr/>
          </p:nvSpPr>
          <p:spPr>
            <a:xfrm>
              <a:off x="151236" y="6570000"/>
              <a:ext cx="59432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IASI ·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Ingeniería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Aumentada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con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Sistemas</a:t>
              </a:r>
              <a:r>
                <a:rPr lang="en-US" sz="850" b="0" u="none" strike="noStrike" dirty="0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 </a:t>
              </a:r>
              <a:r>
                <a:rPr lang="en-US" sz="850" b="0" u="none" strike="noStrike" dirty="0" err="1">
                  <a:solidFill>
                    <a:schemeClr val="lt2"/>
                  </a:solidFill>
                  <a:effectLst/>
                  <a:uFillTx/>
                  <a:latin typeface="Aptos"/>
                  <a:ea typeface="Aptos"/>
                </a:rPr>
                <a:t>Inteligentes</a:t>
              </a:r>
              <a:endParaRPr lang="es-ES" sz="8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12191400" cy="438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43" name="Picture 242" descr="lab_wash.jpg"/>
          <p:cNvPicPr>
            <a:picLocks noChangeAspect="1"/>
          </p:cNvPicPr>
          <p:nvPr/>
        </p:nvPicPr>
        <p:blipFill>
          <a:blip r:embed="rId3"/>
          <a:srcRect t="14093" b="14093"/>
          <a:stretch>
            <a:fillRect/>
          </a:stretch>
        </p:blipFill>
        <p:spPr>
          <a:xfrm>
            <a:off x="594360" y="1508760"/>
            <a:ext cx="10972800" cy="4434840"/>
          </a:xfrm>
          <a:prstGeom prst="rect">
            <a:avLst/>
          </a:prstGeom>
        </p:spPr>
      </p:pic>
      <p:sp>
        <p:nvSpPr>
          <p:cNvPr id="210" name="Shape 2"/>
          <p:cNvSpPr/>
          <p:nvPr/>
        </p:nvSpPr>
        <p:spPr>
          <a:xfrm>
            <a:off x="0" y="4388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0" y="63734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NODOS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640080" y="7498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Nodos y responsabilidades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Cada máquina existe porque cumple una función distinta en el sistema de ingeniería.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685800" y="1691640"/>
            <a:ext cx="3245760" cy="137124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685800" y="1691640"/>
            <a:ext cx="91080" cy="1371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887040" y="184716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iasi-dev · Windows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887040" y="222192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Desarrollo interactivo, IDEs, edición, operación diaria.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4434840" y="1691640"/>
            <a:ext cx="3245760" cy="137124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4434840" y="1691640"/>
            <a:ext cx="91080" cy="13712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4" name="Text 16"/>
          <p:cNvSpPr/>
          <p:nvPr/>
        </p:nvSpPr>
        <p:spPr>
          <a:xfrm>
            <a:off x="4636080" y="184716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iasi-tools · Ubuntu Server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4636080" y="222192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Servicios de ingeniería, automatización, soporte a repositorios.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8183880" y="1691640"/>
            <a:ext cx="3245760" cy="137124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8183880" y="1691640"/>
            <a:ext cx="91080" cy="13712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8385120" y="184716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3"/>
                </a:solidFill>
                <a:effectLst/>
                <a:uFillTx/>
                <a:latin typeface="Aptos Display"/>
                <a:ea typeface="Aptos Display"/>
              </a:rPr>
              <a:t>iasi-ai · Ubuntu Server + GPU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8385120" y="222192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Runtime de Sistemas Inteligentes, modelos, inferencia local.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685800" y="3566160"/>
            <a:ext cx="3245760" cy="137124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685800" y="3566160"/>
            <a:ext cx="91080" cy="137124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2" name="Text 24"/>
          <p:cNvSpPr/>
          <p:nvPr/>
        </p:nvSpPr>
        <p:spPr>
          <a:xfrm>
            <a:off x="887040" y="372168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5"/>
                </a:solidFill>
                <a:effectLst/>
                <a:uFillTx/>
                <a:latin typeface="Aptos Display"/>
                <a:ea typeface="Aptos Display"/>
              </a:rPr>
              <a:t>iasi-labs · Kubuntu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5"/>
          <p:cNvSpPr/>
          <p:nvPr/>
        </p:nvSpPr>
        <p:spPr>
          <a:xfrm>
            <a:off x="887040" y="409644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Entorno experimental con GUI para pruebas, PoC y aprendizaje.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6"/>
          <p:cNvSpPr/>
          <p:nvPr/>
        </p:nvSpPr>
        <p:spPr>
          <a:xfrm>
            <a:off x="4434840" y="3566160"/>
            <a:ext cx="3245760" cy="1371240"/>
          </a:xfrm>
          <a:prstGeom prst="roundRect">
            <a:avLst>
              <a:gd name="adj" fmla="val 5333"/>
            </a:avLst>
          </a:prstGeom>
          <a:solidFill>
            <a:srgbClr val="FFF8EE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5" name="Shape 27"/>
          <p:cNvSpPr/>
          <p:nvPr/>
        </p:nvSpPr>
        <p:spPr>
          <a:xfrm>
            <a:off x="4434840" y="3566160"/>
            <a:ext cx="91080" cy="137124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6" name="Text 28"/>
          <p:cNvSpPr/>
          <p:nvPr/>
        </p:nvSpPr>
        <p:spPr>
          <a:xfrm>
            <a:off x="4636080" y="372168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iasi-work · Zona franca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9"/>
          <p:cNvSpPr/>
          <p:nvPr/>
        </p:nvSpPr>
        <p:spPr>
          <a:xfrm>
            <a:off x="4636080" y="409644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Trabajo temporal y pruebas ad hoc fuera de la arquitectura estable.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0"/>
          <p:cNvSpPr/>
          <p:nvPr/>
        </p:nvSpPr>
        <p:spPr>
          <a:xfrm>
            <a:off x="8183880" y="3566160"/>
            <a:ext cx="3245760" cy="1371240"/>
          </a:xfrm>
          <a:prstGeom prst="roundRect">
            <a:avLst>
              <a:gd name="adj" fmla="val 5333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9" name="Shape 31"/>
          <p:cNvSpPr/>
          <p:nvPr/>
        </p:nvSpPr>
        <p:spPr>
          <a:xfrm>
            <a:off x="8183880" y="3566160"/>
            <a:ext cx="91080" cy="137124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0" name="Text 32"/>
          <p:cNvSpPr/>
          <p:nvPr/>
        </p:nvSpPr>
        <p:spPr>
          <a:xfrm>
            <a:off x="8385120" y="372168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6"/>
                </a:solidFill>
                <a:effectLst/>
                <a:uFillTx/>
                <a:latin typeface="Aptos Display"/>
                <a:ea typeface="Aptos Display"/>
              </a:rPr>
              <a:t>iasi-tests · Reservado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3"/>
          <p:cNvSpPr/>
          <p:nvPr/>
        </p:nvSpPr>
        <p:spPr>
          <a:xfrm>
            <a:off x="8385120" y="4096440"/>
            <a:ext cx="2861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Futuro nodo dedicado a testing. No se usa como playground.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46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Nodos y responsabilidades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8641080" y="1353312"/>
            <a:ext cx="2606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2B7BBB"/>
                </a:solidFill>
                <a:latin typeface="Aptos"/>
              </a:rPr>
              <a:t>UNA FUNCIÓN DISTINTA POR NODO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0" y="0"/>
            <a:ext cx="12191400" cy="438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4" name="Shape 1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271" name="Picture 270" descr="desktop_wash.jpg"/>
          <p:cNvPicPr>
            <a:picLocks noChangeAspect="1"/>
          </p:cNvPicPr>
          <p:nvPr/>
        </p:nvPicPr>
        <p:blipFill>
          <a:blip r:embed="rId3"/>
          <a:srcRect t="4164" b="4164"/>
          <a:stretch>
            <a:fillRect/>
          </a:stretch>
        </p:blipFill>
        <p:spPr>
          <a:xfrm>
            <a:off x="4251960" y="1536192"/>
            <a:ext cx="7178040" cy="3703320"/>
          </a:xfrm>
          <a:prstGeom prst="rect">
            <a:avLst/>
          </a:prstGeom>
        </p:spPr>
      </p:pic>
      <p:sp>
        <p:nvSpPr>
          <p:cNvPr id="245" name="Shape 2"/>
          <p:cNvSpPr/>
          <p:nvPr/>
        </p:nvSpPr>
        <p:spPr>
          <a:xfrm>
            <a:off x="0" y="4388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6" name="Shape 3"/>
          <p:cNvSpPr/>
          <p:nvPr/>
        </p:nvSpPr>
        <p:spPr>
          <a:xfrm>
            <a:off x="0" y="63734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7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PUBLICACIÓN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8"/>
          <p:cNvSpPr/>
          <p:nvPr/>
        </p:nvSpPr>
        <p:spPr>
          <a:xfrm>
            <a:off x="640080" y="7498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PPTX maestro, web navegable y PDF opcional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La comodidad de edición no se sacrifica: se convierte en fuente autoral.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0"/>
          <p:cNvSpPr/>
          <p:nvPr/>
        </p:nvSpPr>
        <p:spPr>
          <a:xfrm>
            <a:off x="868680" y="2103120"/>
            <a:ext cx="2194200" cy="1142640"/>
          </a:xfrm>
          <a:prstGeom prst="roundRect">
            <a:avLst>
              <a:gd name="adj" fmla="val 6400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4" name="Text 11"/>
          <p:cNvSpPr/>
          <p:nvPr/>
        </p:nvSpPr>
        <p:spPr>
          <a:xfrm>
            <a:off x="1078920" y="2496240"/>
            <a:ext cx="1782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Aptos"/>
              </a:rPr>
              <a:t>presentation.pptx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2"/>
          <p:cNvSpPr/>
          <p:nvPr/>
        </p:nvSpPr>
        <p:spPr>
          <a:xfrm>
            <a:off x="3246120" y="2669760"/>
            <a:ext cx="155448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6" name="Shape 13"/>
          <p:cNvSpPr/>
          <p:nvPr/>
        </p:nvSpPr>
        <p:spPr>
          <a:xfrm>
            <a:off x="4983480" y="1600200"/>
            <a:ext cx="2377080" cy="95976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7" name="Text 14"/>
          <p:cNvSpPr/>
          <p:nvPr/>
        </p:nvSpPr>
        <p:spPr>
          <a:xfrm>
            <a:off x="5212080" y="192024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"/>
              </a:rPr>
              <a:t>web navegable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5"/>
          <p:cNvSpPr/>
          <p:nvPr/>
        </p:nvSpPr>
        <p:spPr>
          <a:xfrm>
            <a:off x="4983480" y="2834640"/>
            <a:ext cx="2377080" cy="959760"/>
          </a:xfrm>
          <a:prstGeom prst="roundRect">
            <a:avLst>
              <a:gd name="adj" fmla="val 7619"/>
            </a:avLst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9" name="Text 16"/>
          <p:cNvSpPr/>
          <p:nvPr/>
        </p:nvSpPr>
        <p:spPr>
          <a:xfrm>
            <a:off x="5285160" y="3173040"/>
            <a:ext cx="1782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PDF opcional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7"/>
          <p:cNvSpPr/>
          <p:nvPr/>
        </p:nvSpPr>
        <p:spPr>
          <a:xfrm>
            <a:off x="7589520" y="2084760"/>
            <a:ext cx="114300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1" name="Shape 18"/>
          <p:cNvSpPr/>
          <p:nvPr/>
        </p:nvSpPr>
        <p:spPr>
          <a:xfrm>
            <a:off x="7589520" y="3309840"/>
            <a:ext cx="114300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2" name="Shape 19"/>
          <p:cNvSpPr/>
          <p:nvPr/>
        </p:nvSpPr>
        <p:spPr>
          <a:xfrm>
            <a:off x="8915400" y="1600200"/>
            <a:ext cx="2514240" cy="2148480"/>
          </a:xfrm>
          <a:prstGeom prst="roundRect">
            <a:avLst>
              <a:gd name="adj" fmla="val 3404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3" name="Shape 20"/>
          <p:cNvSpPr/>
          <p:nvPr/>
        </p:nvSpPr>
        <p:spPr>
          <a:xfrm>
            <a:off x="8915400" y="1600200"/>
            <a:ext cx="91080" cy="214848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4" name="Text 21"/>
          <p:cNvSpPr/>
          <p:nvPr/>
        </p:nvSpPr>
        <p:spPr>
          <a:xfrm>
            <a:off x="9116640" y="1755720"/>
            <a:ext cx="213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Regla de oro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2"/>
          <p:cNvSpPr/>
          <p:nvPr/>
        </p:nvSpPr>
        <p:spPr>
          <a:xfrm>
            <a:off x="9116640" y="2130480"/>
            <a:ext cx="2130120" cy="14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Se edita el PPTX. La web y el PDF se regeneran. No hay dos fuentes de verdad peleándose en un callejón.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3"/>
          <p:cNvSpPr/>
          <p:nvPr/>
        </p:nvSpPr>
        <p:spPr>
          <a:xfrm>
            <a:off x="914400" y="4343400"/>
            <a:ext cx="10469520" cy="959760"/>
          </a:xfrm>
          <a:prstGeom prst="roundRect">
            <a:avLst>
              <a:gd name="adj" fmla="val 7619"/>
            </a:avLst>
          </a:prstGeom>
          <a:solidFill>
            <a:srgbClr val="EAF7F6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7" name="Shape 24"/>
          <p:cNvSpPr/>
          <p:nvPr/>
        </p:nvSpPr>
        <p:spPr>
          <a:xfrm>
            <a:off x="914400" y="4343400"/>
            <a:ext cx="91080" cy="9597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8" name="Text 25"/>
          <p:cNvSpPr/>
          <p:nvPr/>
        </p:nvSpPr>
        <p:spPr>
          <a:xfrm>
            <a:off x="1115640" y="4498920"/>
            <a:ext cx="10085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66C4A6"/>
                </a:solidFill>
                <a:effectLst/>
                <a:uFillTx/>
                <a:latin typeface="Aptos Display"/>
                <a:ea typeface="Aptos Display"/>
              </a:rPr>
              <a:t>Semántica IASI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6"/>
          <p:cNvSpPr/>
          <p:nvPr/>
        </p:nvSpPr>
        <p:spPr>
          <a:xfrm>
            <a:off x="1115640" y="4873680"/>
            <a:ext cx="100854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materialize toma una representación fuente y produce una representación utilizable derivada: web, PDF, documentación, infraestructura, scripts o paquetes.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72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PPTX maestro, web navegable y PDF opcional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987552" y="1874519"/>
            <a:ext cx="205740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875B"/>
                </a:solidFill>
                <a:latin typeface="Aptos"/>
              </a:rPr>
              <a:t>UNA FUENTE AUTORAL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12191400" cy="438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05" name="Picture 304" descr="lab_wash.jpg"/>
          <p:cNvPicPr>
            <a:picLocks noChangeAspect="1"/>
          </p:cNvPicPr>
          <p:nvPr/>
        </p:nvPicPr>
        <p:blipFill>
          <a:blip r:embed="rId3"/>
          <a:srcRect t="18324" b="18324"/>
          <a:stretch>
            <a:fillRect/>
          </a:stretch>
        </p:blipFill>
        <p:spPr>
          <a:xfrm>
            <a:off x="658368" y="1627632"/>
            <a:ext cx="10899648" cy="3886200"/>
          </a:xfrm>
          <a:prstGeom prst="rect">
            <a:avLst/>
          </a:prstGeom>
        </p:spPr>
      </p:pic>
      <p:sp>
        <p:nvSpPr>
          <p:cNvPr id="273" name="Shape 2"/>
          <p:cNvSpPr/>
          <p:nvPr/>
        </p:nvSpPr>
        <p:spPr>
          <a:xfrm>
            <a:off x="0" y="4388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0" y="63734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PROMOCIÓN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640080" y="7498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De experimento a arquitectura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La frontera entre probar y adoptar debe ser explícita. Esa frontera es ingeniería.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868680" y="1874520"/>
            <a:ext cx="2148480" cy="1005480"/>
          </a:xfrm>
          <a:prstGeom prst="roundRect">
            <a:avLst>
              <a:gd name="adj" fmla="val 7273"/>
            </a:avLst>
          </a:prstGeom>
          <a:solidFill>
            <a:srgbClr val="FFF8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1234440" y="22219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4"/>
                </a:solidFill>
                <a:effectLst/>
                <a:uFillTx/>
                <a:latin typeface="Aptos"/>
              </a:rPr>
              <a:t>iasi-work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1252800" y="2496240"/>
            <a:ext cx="13896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prueba ad hoc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3"/>
          <p:cNvSpPr/>
          <p:nvPr/>
        </p:nvSpPr>
        <p:spPr>
          <a:xfrm>
            <a:off x="3200400" y="2377440"/>
            <a:ext cx="137160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5" name="Shape 14"/>
          <p:cNvSpPr/>
          <p:nvPr/>
        </p:nvSpPr>
        <p:spPr>
          <a:xfrm>
            <a:off x="4736520" y="1874520"/>
            <a:ext cx="2148480" cy="1005480"/>
          </a:xfrm>
          <a:prstGeom prst="roundRect">
            <a:avLst>
              <a:gd name="adj" fmla="val 7273"/>
            </a:avLst>
          </a:prstGeom>
          <a:solidFill>
            <a:srgbClr val="ECF7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5102280" y="22219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5"/>
                </a:solidFill>
                <a:effectLst/>
                <a:uFillTx/>
                <a:latin typeface="Aptos"/>
              </a:rPr>
              <a:t>iasi-labs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5093280" y="2496240"/>
            <a:ext cx="14169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PoC validada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7"/>
          <p:cNvSpPr/>
          <p:nvPr/>
        </p:nvSpPr>
        <p:spPr>
          <a:xfrm>
            <a:off x="7086600" y="2377440"/>
            <a:ext cx="1371600" cy="360"/>
          </a:xfrm>
          <a:prstGeom prst="line">
            <a:avLst/>
          </a:prstGeom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9" name="Shape 18"/>
          <p:cNvSpPr/>
          <p:nvPr/>
        </p:nvSpPr>
        <p:spPr>
          <a:xfrm>
            <a:off x="8641080" y="1874520"/>
            <a:ext cx="2514240" cy="100548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8942760" y="2212920"/>
            <a:ext cx="19198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"/>
              </a:rPr>
              <a:t>arquitectura estable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8961120" y="2496240"/>
            <a:ext cx="1874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chemeClr val="dk2"/>
                </a:solidFill>
                <a:effectLst/>
                <a:uFillTx/>
                <a:latin typeface="Aptos"/>
              </a:rPr>
              <a:t>promoción explícita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1"/>
          <p:cNvSpPr/>
          <p:nvPr/>
        </p:nvSpPr>
        <p:spPr>
          <a:xfrm>
            <a:off x="914400" y="3977640"/>
            <a:ext cx="3108600" cy="123408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3" name="Shape 22"/>
          <p:cNvSpPr/>
          <p:nvPr/>
        </p:nvSpPr>
        <p:spPr>
          <a:xfrm>
            <a:off x="914400" y="3977640"/>
            <a:ext cx="91080" cy="123408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1115640" y="413316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Criterios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4"/>
          <p:cNvSpPr/>
          <p:nvPr/>
        </p:nvSpPr>
        <p:spPr>
          <a:xfrm>
            <a:off x="1115640" y="4507920"/>
            <a:ext cx="27244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Funciona, se entiende, se documenta, se puede repetir y tiene dueño.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25"/>
          <p:cNvSpPr/>
          <p:nvPr/>
        </p:nvSpPr>
        <p:spPr>
          <a:xfrm>
            <a:off x="4526280" y="3977640"/>
            <a:ext cx="3108600" cy="123408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4526280" y="3977640"/>
            <a:ext cx="91080" cy="1234080"/>
          </a:xfrm>
          <a:prstGeom prst="rect">
            <a:avLst/>
          </a:pr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8" name="Text 27"/>
          <p:cNvSpPr/>
          <p:nvPr/>
        </p:nvSpPr>
        <p:spPr>
          <a:xfrm>
            <a:off x="4727520" y="413316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5"/>
                </a:solidFill>
                <a:effectLst/>
                <a:uFillTx/>
                <a:latin typeface="Aptos Display"/>
                <a:ea typeface="Aptos Display"/>
              </a:rPr>
              <a:t>Evidencias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8"/>
          <p:cNvSpPr/>
          <p:nvPr/>
        </p:nvSpPr>
        <p:spPr>
          <a:xfrm>
            <a:off x="4727520" y="4507920"/>
            <a:ext cx="27244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Notas, scripts, repos, decisiones, configuraciones y resultados observables.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9"/>
          <p:cNvSpPr/>
          <p:nvPr/>
        </p:nvSpPr>
        <p:spPr>
          <a:xfrm>
            <a:off x="8138160" y="3977640"/>
            <a:ext cx="3108600" cy="1234080"/>
          </a:xfrm>
          <a:prstGeom prst="roundRect">
            <a:avLst>
              <a:gd name="adj" fmla="val 5926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1" name="Shape 30"/>
          <p:cNvSpPr/>
          <p:nvPr/>
        </p:nvSpPr>
        <p:spPr>
          <a:xfrm>
            <a:off x="8138160" y="3977640"/>
            <a:ext cx="91080" cy="12340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2" name="Text 31"/>
          <p:cNvSpPr/>
          <p:nvPr/>
        </p:nvSpPr>
        <p:spPr>
          <a:xfrm>
            <a:off x="8339400" y="4133160"/>
            <a:ext cx="2724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Resultado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2"/>
          <p:cNvSpPr/>
          <p:nvPr/>
        </p:nvSpPr>
        <p:spPr>
          <a:xfrm>
            <a:off x="8339400" y="4507920"/>
            <a:ext cx="27244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Lo experimental deja de ser experimento cuando entra en la arquitectura con nombre y reglas.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52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De experimento a arquitectura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6" name="TextBox 305"/>
          <p:cNvSpPr txBox="1"/>
          <p:nvPr/>
        </p:nvSpPr>
        <p:spPr>
          <a:xfrm>
            <a:off x="1078992" y="306324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FF875B"/>
                </a:solidFill>
                <a:latin typeface="Aptos"/>
              </a:rPr>
              <a:t>EXPERIMENTAR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5029200" y="306324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A3D949"/>
                </a:solidFill>
                <a:latin typeface="Aptos"/>
              </a:rPr>
              <a:t>VALIDAR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8887968" y="3063240"/>
            <a:ext cx="21031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1">
                <a:solidFill>
                  <a:srgbClr val="2B7BBB"/>
                </a:solidFill>
                <a:latin typeface="Aptos"/>
              </a:rPr>
              <a:t>PROMOVER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0"/>
            <a:ext cx="12191400" cy="4384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6" name="Shape 1"/>
          <p:cNvSpPr/>
          <p:nvPr/>
        </p:nvSpPr>
        <p:spPr>
          <a:xfrm>
            <a:off x="0" y="6446520"/>
            <a:ext cx="12191400" cy="411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341" name="Picture 340" descr="cloud_wash.jpg"/>
          <p:cNvPicPr>
            <a:picLocks noChangeAspect="1"/>
          </p:cNvPicPr>
          <p:nvPr/>
        </p:nvPicPr>
        <p:blipFill>
          <a:blip r:embed="rId3"/>
          <a:srcRect t="42086" b="42086"/>
          <a:stretch>
            <a:fillRect/>
          </a:stretch>
        </p:blipFill>
        <p:spPr>
          <a:xfrm>
            <a:off x="868680" y="5029200"/>
            <a:ext cx="10469880" cy="932688"/>
          </a:xfrm>
          <a:prstGeom prst="rect">
            <a:avLst/>
          </a:prstGeom>
        </p:spPr>
      </p:pic>
      <p:sp>
        <p:nvSpPr>
          <p:cNvPr id="307" name="Shape 2"/>
          <p:cNvSpPr/>
          <p:nvPr/>
        </p:nvSpPr>
        <p:spPr>
          <a:xfrm>
            <a:off x="0" y="4388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0" y="6373440"/>
            <a:ext cx="12191400" cy="727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411480" y="109800"/>
            <a:ext cx="603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Aptos"/>
                <a:ea typeface="Aptos"/>
              </a:rPr>
              <a:t>PRÓXIMOS PASOS</a:t>
            </a:r>
            <a:endParaRPr lang="es-E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11480" y="655632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IASI · Ingeniería Aumentada con Sistemas Inteligentes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11384280" y="654696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7">
            <a:hlinkClick r:id="rId4" action="ppaction://hlinksldjump"/>
          </p:cNvPr>
          <p:cNvSpPr/>
          <p:nvPr/>
        </p:nvSpPr>
        <p:spPr>
          <a:xfrm>
            <a:off x="10561320" y="654696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sng" strike="noStrike">
                <a:solidFill>
                  <a:schemeClr val="lt2"/>
                </a:solidFill>
                <a:effectLst/>
                <a:uFillTx/>
                <a:latin typeface="Aptos"/>
                <a:ea typeface="Aptos"/>
                <a:hlinkClick r:id="rId5" action="ppaction://hlinksldjump"/>
              </a:rPr>
              <a:t>Índice</a:t>
            </a:r>
            <a:endParaRPr lang="es-E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640080" y="749880"/>
            <a:ext cx="10881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Próximos pasos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9"/>
          <p:cNvSpPr/>
          <p:nvPr/>
        </p:nvSpPr>
        <p:spPr>
          <a:xfrm>
            <a:off x="658440" y="1161360"/>
            <a:ext cx="10698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chemeClr val="dk2"/>
                </a:solidFill>
                <a:effectLst/>
                <a:uFillTx/>
                <a:latin typeface="Aptos"/>
                <a:ea typeface="Aptos"/>
              </a:rPr>
              <a:t>Convertir esta presentación en una pieza viva del ecosistema IASI.</a:t>
            </a:r>
            <a:endParaRPr lang="es-E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0"/>
          <p:cNvSpPr/>
          <p:nvPr/>
        </p:nvSpPr>
        <p:spPr>
          <a:xfrm>
            <a:off x="914400" y="1783080"/>
            <a:ext cx="502560" cy="502560"/>
          </a:xfrm>
          <a:prstGeom prst="ellipse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6" name="Text 11"/>
          <p:cNvSpPr/>
          <p:nvPr/>
        </p:nvSpPr>
        <p:spPr>
          <a:xfrm>
            <a:off x="1088280" y="1947600"/>
            <a:ext cx="145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2"/>
          <p:cNvSpPr/>
          <p:nvPr/>
        </p:nvSpPr>
        <p:spPr>
          <a:xfrm>
            <a:off x="1645920" y="1737360"/>
            <a:ext cx="4068720" cy="109692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1645920" y="1737360"/>
            <a:ext cx="91080" cy="109692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1847160" y="1892880"/>
            <a:ext cx="368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4"/>
                </a:solidFill>
                <a:effectLst/>
                <a:uFillTx/>
                <a:latin typeface="Aptos Display"/>
                <a:ea typeface="Aptos Display"/>
              </a:rPr>
              <a:t>Completar contenido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1847160" y="2267640"/>
            <a:ext cx="36846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Añadir notas, decisiones y enlaces internos/externos.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6"/>
          <p:cNvSpPr/>
          <p:nvPr/>
        </p:nvSpPr>
        <p:spPr>
          <a:xfrm>
            <a:off x="6217920" y="1783080"/>
            <a:ext cx="502560" cy="50256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6391800" y="1947600"/>
            <a:ext cx="145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2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8"/>
          <p:cNvSpPr/>
          <p:nvPr/>
        </p:nvSpPr>
        <p:spPr>
          <a:xfrm>
            <a:off x="6949440" y="1737360"/>
            <a:ext cx="4068720" cy="109692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6949440" y="1737360"/>
            <a:ext cx="91080" cy="10969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7150680" y="1892880"/>
            <a:ext cx="368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Aptos Display"/>
                <a:ea typeface="Aptos Display"/>
              </a:rPr>
              <a:t>Definir conversión web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1"/>
          <p:cNvSpPr/>
          <p:nvPr/>
        </p:nvSpPr>
        <p:spPr>
          <a:xfrm>
            <a:off x="7150680" y="2267640"/>
            <a:ext cx="36846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Mantener navegación, anclas y pantalla completa.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914400" y="3657600"/>
            <a:ext cx="502560" cy="5025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1088280" y="3822120"/>
            <a:ext cx="145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3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4"/>
          <p:cNvSpPr/>
          <p:nvPr/>
        </p:nvSpPr>
        <p:spPr>
          <a:xfrm>
            <a:off x="1645920" y="3611880"/>
            <a:ext cx="4068720" cy="109692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0" name="Shape 25"/>
          <p:cNvSpPr/>
          <p:nvPr/>
        </p:nvSpPr>
        <p:spPr>
          <a:xfrm>
            <a:off x="1645920" y="3611880"/>
            <a:ext cx="91080" cy="10969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1" name="Text 26"/>
          <p:cNvSpPr/>
          <p:nvPr/>
        </p:nvSpPr>
        <p:spPr>
          <a:xfrm>
            <a:off x="1847160" y="3767400"/>
            <a:ext cx="368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dk2"/>
                </a:solidFill>
                <a:effectLst/>
                <a:uFillTx/>
                <a:latin typeface="Aptos Display"/>
                <a:ea typeface="Aptos Display"/>
              </a:rPr>
              <a:t>Añadir target PDF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1847160" y="4142160"/>
            <a:ext cx="36846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Salida estática para distribución y archivo.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6217920" y="3657600"/>
            <a:ext cx="502560" cy="50256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4" name="Text 29"/>
          <p:cNvSpPr/>
          <p:nvPr/>
        </p:nvSpPr>
        <p:spPr>
          <a:xfrm>
            <a:off x="6391800" y="3822120"/>
            <a:ext cx="14580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4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0"/>
          <p:cNvSpPr/>
          <p:nvPr/>
        </p:nvSpPr>
        <p:spPr>
          <a:xfrm>
            <a:off x="6949440" y="3611880"/>
            <a:ext cx="4068720" cy="1096920"/>
          </a:xfrm>
          <a:prstGeom prst="roundRect">
            <a:avLst>
              <a:gd name="adj" fmla="val 6667"/>
            </a:avLst>
          </a:prstGeom>
          <a:solidFill>
            <a:schemeClr val="lt1"/>
          </a:solidFill>
          <a:ln w="0">
            <a:noFill/>
          </a:ln>
          <a:effectLst>
            <a:outerShdw blurRad="25560" dist="12218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6" name="Shape 31"/>
          <p:cNvSpPr/>
          <p:nvPr/>
        </p:nvSpPr>
        <p:spPr>
          <a:xfrm>
            <a:off x="6949440" y="3611880"/>
            <a:ext cx="91080" cy="10969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7" name="Text 32"/>
          <p:cNvSpPr/>
          <p:nvPr/>
        </p:nvSpPr>
        <p:spPr>
          <a:xfrm>
            <a:off x="7150680" y="3767400"/>
            <a:ext cx="3684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2"/>
                </a:solidFill>
                <a:effectLst/>
                <a:uFillTx/>
                <a:latin typeface="Aptos Display"/>
                <a:ea typeface="Aptos Display"/>
              </a:rPr>
              <a:t>Integrar con materialize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3"/>
          <p:cNvSpPr/>
          <p:nvPr/>
        </p:nvSpPr>
        <p:spPr>
          <a:xfrm>
            <a:off x="7150680" y="4142160"/>
            <a:ext cx="36846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PPTX como source artifact dentro del flujo IASI.</a:t>
            </a:r>
            <a:endParaRPr lang="es-E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4"/>
          <p:cNvSpPr/>
          <p:nvPr/>
        </p:nvSpPr>
        <p:spPr>
          <a:xfrm>
            <a:off x="1828800" y="5276088"/>
            <a:ext cx="8595360" cy="32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2938"/>
                </a:solidFill>
                <a:effectLst/>
                <a:uFillTx/>
                <a:latin typeface="Aptos Display"/>
                <a:ea typeface="Aptos Display"/>
              </a:rPr>
              <a:t>Cierre: IASI no solo se describe. Se materializa.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6900120"/>
            <a:ext cx="720" cy="30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s-ES" sz="100" b="0" u="none" strike="noStrike" dirty="0">
                <a:solidFill>
                  <a:schemeClr val="dk1"/>
                </a:solidFill>
                <a:effectLst/>
                <a:uFillTx/>
                <a:latin typeface="Aptos Display"/>
              </a:rPr>
              <a:t>Próximos pasos</a:t>
            </a:r>
            <a:endParaRPr lang="es-ES" sz="100" b="0" u="none" strike="noStrike" dirty="0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3"/>
      </a:dk1>
      <a:lt1>
        <a:srgbClr val="FFFFFF"/>
      </a:lt1>
      <a:dk2>
        <a:srgbClr val="52606D"/>
      </a:dk2>
      <a:lt2>
        <a:srgbClr val="F5F9FC"/>
      </a:lt2>
      <a:accent1>
        <a:srgbClr val="2171B5"/>
      </a:accent1>
      <a:accent2>
        <a:srgbClr val="66C2A5"/>
      </a:accent2>
      <a:accent3>
        <a:srgbClr val="8DA0CB"/>
      </a:accent3>
      <a:accent4>
        <a:srgbClr val="FC8D62"/>
      </a:accent4>
      <a:accent5>
        <a:srgbClr val="A6D854"/>
      </a:accent5>
      <a:accent6>
        <a:srgbClr val="E78AC3"/>
      </a:accent6>
      <a:hlink>
        <a:srgbClr val="2B8CBE"/>
      </a:hlink>
      <a:folHlink>
        <a:srgbClr val="756BB1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3174</TotalTime>
  <Words>2167</Words>
  <Application>Microsoft Office PowerPoint</Application>
  <PresentationFormat>Panorámica</PresentationFormat>
  <Paragraphs>393</Paragraphs>
  <Slides>24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IASI Ecosystem</vt:lpstr>
      <vt:lpstr>IASI está en construcción</vt:lpstr>
      <vt:lpstr>Índice</vt:lpstr>
      <vt:lpstr>origen portada</vt:lpstr>
      <vt:lpstr>IASI preguntas</vt:lpstr>
      <vt:lpstr>principios</vt:lpstr>
      <vt:lpstr>Iasi-iasi</vt:lpstr>
      <vt:lpstr>IASI nace como metodología</vt:lpstr>
      <vt:lpstr>Problema-primero</vt:lpstr>
      <vt:lpstr>Uasr-adaptar-crear</vt:lpstr>
      <vt:lpstr>Del libro al ecosistema</vt:lpstr>
      <vt:lpstr>Productos Portada</vt:lpstr>
      <vt:lpstr>Productos indice</vt:lpstr>
      <vt:lpstr>Iasi-r</vt:lpstr>
      <vt:lpstr>Iasi-dev</vt:lpstr>
      <vt:lpstr>Iasi-lua</vt:lpstr>
      <vt:lpstr>Iasi-rstudio</vt:lpstr>
      <vt:lpstr>Infraestructura Portada</vt:lpstr>
      <vt:lpstr>Principios de infraestructura</vt:lpstr>
      <vt:lpstr>Topología IASI Infrastructure V2</vt:lpstr>
      <vt:lpstr>Nodos y responsabilidades</vt:lpstr>
      <vt:lpstr>PPTX maestro, web navegable y PDF opcional</vt:lpstr>
      <vt:lpstr>De experimento a arquitectura</vt:lpstr>
      <vt:lpstr>Próximos pasos</vt:lpstr>
    </vt:vector>
  </TitlesOfParts>
  <Company>IASI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Aumentada con Sistemas Inteligentes</dc:title>
  <dc:subject>IASI Infrastructure and Augmented Engineering</dc:subject>
  <dc:creator>Javier / MiChica</dc:creator>
  <dc:description/>
  <cp:lastModifiedBy>Javier Grandez</cp:lastModifiedBy>
  <cp:revision>15</cp:revision>
  <dcterms:created xsi:type="dcterms:W3CDTF">2026-09-13T18:14:31Z</dcterms:created>
  <dcterms:modified xsi:type="dcterms:W3CDTF">2026-09-19T19:36:13Z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