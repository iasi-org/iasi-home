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5" r:id="rId17"/>
    <p:sldId id="257" r:id="rId8"/>
    <p:sldId id="258" r:id="rId9"/>
    <p:sldId id="259" r:id="rId10"/>
    <p:sldId id="260" r:id="rId11"/>
    <p:sldId id="261" r:id="rId12"/>
    <p:sldId id="262" r:id="rId13"/>
    <p:sldId id="263" r:id="rId14"/>
    <p:sldId id="264"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Introducing IASI</a:t>
            </a:r>
          </a:p>
          <a:p/>
          <a:p>
            <a:r>
              <a:t>IASI starts from a simple observation: as implementation becomes cheaper, the engineering knowledge that tells us what to build, why, and how to validate it becomes more valuable.</a:t>
            </a:r>
          </a:p>
          <a:p/>
          <a:p>
            <a:r>
              <a:t>Key points:</a:t>
            </a:r>
          </a:p>
          <a:p>
            <a:r>
              <a:t>• IASI is Engineering Assisted by Intelligent Systems</a:t>
            </a:r>
          </a:p>
          <a:p>
            <a:r>
              <a:t>• Implementation cost is falling</a:t>
            </a:r>
          </a:p>
          <a:p>
            <a:r>
              <a:t>• Knowledge and engineering judgment become more valuable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IASI?</a:t>
            </a:r>
          </a:p>
          <a:p/>
          <a:p>
            <a:r>
              <a:t>IASI is not another AI tool. It is an open initiative asking how software engineering itself has to change when intelligent systems become a real and natural part of the work.</a:t>
            </a:r>
          </a:p>
          <a:p/>
          <a:p>
            <a:r>
              <a:t>Key points:</a:t>
            </a:r>
          </a:p>
          <a:p>
            <a:r>
              <a:t>• IASI is an engineering initiative</a:t>
            </a:r>
          </a:p>
          <a:p>
            <a:r>
              <a:t>• Intelligent systems become part of the process</a:t>
            </a:r>
          </a:p>
          <a:p>
            <a:r>
              <a:t>• The process itself must be reconsidered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External inputs</a:t>
            </a:r>
          </a:p>
          <a:p/>
          <a:p>
            <a:r>
              <a:t>Anything that reaches IASI from outside the system can enter as source material. It is preserved as received and enters in its original format rather than being normalized into a single canonical representation.</a:t>
            </a:r>
          </a:p>
          <a:p/>
          <a:p>
            <a:r>
              <a:t>Key points:</a:t>
            </a:r>
          </a:p>
          <a:p>
            <a:r>
              <a:t>• Documents, messages, images, data and other source material</a:t>
            </a:r>
          </a:p>
          <a:p>
            <a:r>
              <a:t>• Original format is preserved</a:t>
            </a:r>
          </a:p>
          <a:p>
            <a:r>
              <a:t>• Provenance matters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Inputs</a:t>
            </a:r>
          </a:p>
          <a:p/>
          <a:p>
            <a:r>
              <a:t>Inputs are organized by provenance. The distinction keeps external evidence, internally created knowledge and deliberately authored source material explicit rather than mixing them into an undifferentiated pile.</a:t>
            </a:r>
          </a:p>
          <a:p/>
          <a:p>
            <a:r>
              <a:t>Key points:</a:t>
            </a:r>
          </a:p>
          <a:p>
            <a:r>
              <a:t>• externals preserve received material</a:t>
            </a:r>
          </a:p>
          <a:p>
            <a:r>
              <a:t>• internals preserve knowledge and decisions produced inside IASI</a:t>
            </a:r>
          </a:p>
          <a:p>
            <a:r>
              <a:t>• authored inputs are deliberately prepared source material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a:t>
            </a:r>
          </a:p>
          <a:p/>
          <a:p>
            <a:r>
              <a:t>This is where engineering happens. The engine is not a directory but a process: understand the inputs, specify the intended result, plan the work, execute it, verify what was produced and authorize the outcome before it can leave IASI.</a:t>
            </a:r>
          </a:p>
          <a:p/>
          <a:p>
            <a:r>
              <a:t>Key points:</a:t>
            </a:r>
          </a:p>
          <a:p>
            <a:r>
              <a:t>• Understand</a:t>
            </a:r>
          </a:p>
          <a:p>
            <a:r>
              <a:t>• Specify</a:t>
            </a:r>
          </a:p>
          <a:p>
            <a:r>
              <a:t>• Plan</a:t>
            </a:r>
          </a:p>
          <a:p>
            <a:r>
              <a:t>• Execute</a:t>
            </a:r>
          </a:p>
          <a:p>
            <a:r>
              <a:t>• Verify</a:t>
            </a:r>
          </a:p>
          <a:p>
            <a:r>
              <a:t>• Authorize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Outputs and deliverables</a:t>
            </a:r>
          </a:p>
          <a:p/>
          <a:p>
            <a:r>
              <a:t>Tasks materialize their results in outputs. Those outputs remain inside IASI until they are verified and authorized. An authorized output becomes a deliverable; authorized deliverables are then materialized into Release for external consumption.</a:t>
            </a:r>
          </a:p>
          <a:p/>
          <a:p>
            <a:r>
              <a:t>Key points:</a:t>
            </a:r>
          </a:p>
          <a:p>
            <a:r>
              <a:t>• Output is a materialized task result</a:t>
            </a:r>
          </a:p>
          <a:p>
            <a:r>
              <a:t>• Verification checks the result</a:t>
            </a:r>
          </a:p>
          <a:p>
            <a:r>
              <a:t>• Authorization may be automatic or human</a:t>
            </a:r>
          </a:p>
          <a:p>
            <a:r>
              <a:t>• Authorized deliverables feed Release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Release</a:t>
            </a:r>
          </a:p>
          <a:p/>
          <a:p>
            <a:r>
              <a:t>Release is the current authorized materialization of what IASI is prepared to expose outside. It is not a history of releases. Outputs are working results; authorized deliverables are materialized into the current release for consumption.</a:t>
            </a:r>
          </a:p>
          <a:p/>
          <a:p>
            <a:r>
              <a:t>Key points:</a:t>
            </a:r>
          </a:p>
          <a:p>
            <a:r>
              <a:t>• One current release materialization</a:t>
            </a:r>
          </a:p>
          <a:p>
            <a:r>
              <a:t>• Built from verified and authorized results</a:t>
            </a:r>
          </a:p>
          <a:p>
            <a:r>
              <a:t>• Stable surface for external consumption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targets</a:t>
            </a:r>
          </a:p>
          <a:p/>
          <a:p>
            <a:r>
              <a:t>Once results have been verified and authorized, their current materialization is exposed through Release. The destination can be a person, repository, deployment environment, publication channel, communication channel or packaged distribution.</a:t>
            </a:r>
          </a:p>
          <a:p/>
          <a:p>
            <a:r>
              <a:t>Key points:</a:t>
            </a:r>
          </a:p>
          <a:p>
            <a:r>
              <a:t>• Release is the externally consumable materialization</a:t>
            </a:r>
          </a:p>
          <a:p>
            <a:r>
              <a:t>• Human or client</a:t>
            </a:r>
          </a:p>
          <a:p>
            <a:r>
              <a:t>• Repository</a:t>
            </a:r>
          </a:p>
          <a:p>
            <a:r>
              <a:t>• Deployment</a:t>
            </a:r>
          </a:p>
          <a:p>
            <a:r>
              <a:t>• Publication</a:t>
            </a:r>
          </a:p>
          <a:p>
            <a:r>
              <a:t>• Communication</a:t>
            </a:r>
          </a:p>
          <a:p>
            <a:r>
              <a:t>• Package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IASI boundary</a:t>
            </a:r>
          </a:p>
          <a:p/>
          <a:p>
            <a:r>
              <a:t>IASI has a simple external shape: outside material enters as input, is engineered inside the system, produces outputs, and authorized deliverables are materialized into the current Release. Release is the surface exposed for external consumption. Inputs, Engine, Outputs and Release belong to IASI; the outside world does not.</a:t>
            </a:r>
          </a:p>
          <a:p/>
          <a:p>
            <a:r>
              <a:t>Key points:</a:t>
            </a:r>
          </a:p>
          <a:p>
            <a:r>
              <a:t>• Outside is deliberately outside the IASI boundary</a:t>
            </a:r>
          </a:p>
          <a:p>
            <a:r>
              <a:t>• Inputs, Engine, Outputs and Release are contained by IASI</a:t>
            </a:r>
          </a:p>
          <a:p>
            <a:r>
              <a:t>• Release is the current authorized materialization</a:t>
            </a:r>
          </a:p>
          <a:p>
            <a:r>
              <a:t>• Internal cycles do not change the simple external contract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7" name="Title 1"/>
          <p:cNvSpPr>
            <a:spLocks noGrp="1"/>
          </p:cNvSpPr>
          <p:nvPr>
            <p:ph type="title"/>
          </p:nvPr>
        </p:nvSpPr>
        <p:spPr>
          <a:xfrm>
            <a:off x="0" y="6900000"/>
            <a:ext cx="1000" cy="1000"/>
          </a:xfrm>
          <a:noFill/>
          <a:ln>
            <a:noFill/>
          </a:ln>
        </p:spPr>
        <p:txBody>
          <a:bodyPr/>
          <a:lstStyle/>
          <a:p>
            <a:r>
              <a:rPr lang="en-US" sz="100"/>
              <a:t>Introducing IASI</a:t>
            </a:r>
            <a:endParaRPr lang="en-US" sz="100"/>
          </a:p>
        </p:txBody>
      </p:sp>
      <p:sp>
        <p:nvSpPr>
          <p:cNvPr id="2" name="Rectangle 1"/>
          <p:cNvSpPr/>
          <p:nvPr/>
        </p:nvSpPr>
        <p:spPr>
          <a:xfrm>
            <a:off x="0" y="0"/>
            <a:ext cx="12191999" cy="25603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999" cy="237744"/>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50292"/>
            <a:ext cx="2743200" cy="146304"/>
          </a:xfrm>
          <a:prstGeom prst="rect">
            <a:avLst/>
          </a:prstGeom>
          <a:noFill/>
        </p:spPr>
        <p:txBody>
          <a:bodyPr wrap="square" lIns="0" rIns="0" tIns="0" bIns="0" anchor="t">
            <a:spAutoFit/>
          </a:bodyPr>
          <a:lstStyle/>
          <a:p>
            <a:pPr algn="l"/>
            <a:r>
              <a:rPr sz="580" b="1" i="0">
                <a:solidFill>
                  <a:srgbClr val="FFFFFF"/>
                </a:solidFill>
                <a:latin typeface="Aptos"/>
              </a:rPr>
              <a:t>INTRODUCING IASI</a:t>
            </a:r>
          </a:p>
        </p:txBody>
      </p:sp>
      <p:sp>
        <p:nvSpPr>
          <p:cNvPr id="5" name="TextBox 4"/>
          <p:cNvSpPr txBox="1"/>
          <p:nvPr/>
        </p:nvSpPr>
        <p:spPr>
          <a:xfrm>
            <a:off x="384048" y="6670548"/>
            <a:ext cx="4754880" cy="109728"/>
          </a:xfrm>
          <a:prstGeom prst="rect">
            <a:avLst/>
          </a:prstGeom>
          <a:noFill/>
        </p:spPr>
        <p:txBody>
          <a:bodyPr wrap="square" lIns="0" rIns="0" tIns="0" bIns="0" anchor="t">
            <a:spAutoFit/>
          </a:bodyPr>
          <a:lstStyle/>
          <a:p>
            <a:pPr algn="l"/>
            <a:r>
              <a:rPr sz="560" b="0" i="0">
                <a:solidFill>
                  <a:srgbClr val="DCEAF5"/>
                </a:solidFill>
                <a:latin typeface="Aptos"/>
              </a:rPr>
              <a:t>IASI · Introducing IASI</a:t>
            </a:r>
          </a:p>
        </p:txBody>
      </p:sp>
      <p:sp>
        <p:nvSpPr>
          <p:cNvPr id="6" name="TextBox 5"/>
          <p:cNvSpPr txBox="1"/>
          <p:nvPr/>
        </p:nvSpPr>
        <p:spPr>
          <a:xfrm>
            <a:off x="11597639" y="6670548"/>
            <a:ext cx="256032" cy="109728"/>
          </a:xfrm>
          <a:prstGeom prst="rect">
            <a:avLst/>
          </a:prstGeom>
          <a:noFill/>
        </p:spPr>
        <p:txBody>
          <a:bodyPr wrap="square" lIns="0" rIns="0" tIns="0" bIns="0" anchor="t">
            <a:spAutoFit/>
          </a:bodyPr>
          <a:lstStyle/>
          <a:p>
            <a:pPr algn="r"/>
            <a:r>
              <a:rPr sz="560" b="1" i="0">
                <a:solidFill>
                  <a:srgbClr val="FFFFFF"/>
                </a:solidFill>
                <a:latin typeface="Aptos"/>
              </a:rPr>
              <a:t>01</a:t>
            </a:r>
          </a:p>
        </p:txBody>
      </p:sp>
      <p:sp>
        <p:nvSpPr>
          <p:cNvPr id="7" name="Arc 6"/>
          <p:cNvSpPr/>
          <p:nvPr/>
        </p:nvSpPr>
        <p:spPr>
          <a:xfrm>
            <a:off x="9692640" y="868680"/>
            <a:ext cx="1645920" cy="2194560"/>
          </a:xfrm>
          <a:prstGeom prst="arc">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676656"/>
            <a:ext cx="713232" cy="219456"/>
          </a:xfrm>
          <a:prstGeom prst="round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690372"/>
            <a:ext cx="713232" cy="164592"/>
          </a:xfrm>
          <a:prstGeom prst="rect">
            <a:avLst/>
          </a:prstGeom>
          <a:noFill/>
        </p:spPr>
        <p:txBody>
          <a:bodyPr wrap="square" lIns="0" rIns="0" tIns="0" bIns="0" anchor="t">
            <a:spAutoFit/>
          </a:bodyPr>
          <a:lstStyle/>
          <a:p>
            <a:pPr algn="ctr"/>
            <a:r>
              <a:rPr sz="640" b="1" i="0">
                <a:solidFill>
                  <a:srgbClr val="FFFFFF"/>
                </a:solidFill>
                <a:latin typeface="Aptos"/>
              </a:rPr>
              <a:t>IASI</a:t>
            </a:r>
          </a:p>
        </p:txBody>
      </p:sp>
      <p:sp>
        <p:nvSpPr>
          <p:cNvPr id="10" name="TextBox 9"/>
          <p:cNvSpPr txBox="1"/>
          <p:nvPr/>
        </p:nvSpPr>
        <p:spPr>
          <a:xfrm>
            <a:off x="804672" y="1298448"/>
            <a:ext cx="7132320" cy="621792"/>
          </a:xfrm>
          <a:prstGeom prst="rect">
            <a:avLst/>
          </a:prstGeom>
          <a:noFill/>
        </p:spPr>
        <p:txBody>
          <a:bodyPr wrap="square" lIns="0" rIns="0" tIns="0" bIns="0" anchor="t">
            <a:spAutoFit/>
          </a:bodyPr>
          <a:lstStyle/>
          <a:p>
            <a:pPr algn="l"/>
            <a:r>
              <a:rPr sz="3500" b="1" i="0">
                <a:solidFill>
                  <a:srgbClr val="39729E"/>
                </a:solidFill>
                <a:latin typeface="Cormorant Garamond"/>
              </a:rPr>
              <a:t>Introducing IASI</a:t>
            </a:r>
          </a:p>
        </p:txBody>
      </p:sp>
      <p:sp>
        <p:nvSpPr>
          <p:cNvPr id="11" name="TextBox 10"/>
          <p:cNvSpPr txBox="1"/>
          <p:nvPr/>
        </p:nvSpPr>
        <p:spPr>
          <a:xfrm>
            <a:off x="822960" y="1993392"/>
            <a:ext cx="6766560" cy="384048"/>
          </a:xfrm>
          <a:prstGeom prst="rect">
            <a:avLst/>
          </a:prstGeom>
          <a:noFill/>
        </p:spPr>
        <p:txBody>
          <a:bodyPr wrap="square" lIns="0" rIns="0" tIns="0" bIns="0" anchor="t">
            <a:spAutoFit/>
          </a:bodyPr>
          <a:lstStyle/>
          <a:p>
            <a:pPr algn="l"/>
            <a:r>
              <a:rPr sz="1550" b="1" i="0">
                <a:solidFill>
                  <a:srgbClr val="1F2933"/>
                </a:solidFill>
                <a:latin typeface="Aptos"/>
              </a:rPr>
              <a:t>Intelligent Assisted Software Engineering</a:t>
            </a:r>
          </a:p>
        </p:txBody>
      </p:sp>
      <p:sp>
        <p:nvSpPr>
          <p:cNvPr id="12" name="TextBox 11"/>
          <p:cNvSpPr txBox="1"/>
          <p:nvPr/>
        </p:nvSpPr>
        <p:spPr>
          <a:xfrm>
            <a:off x="822960" y="2578608"/>
            <a:ext cx="7132320" cy="548640"/>
          </a:xfrm>
          <a:prstGeom prst="rect">
            <a:avLst/>
          </a:prstGeom>
          <a:noFill/>
        </p:spPr>
        <p:txBody>
          <a:bodyPr wrap="square" lIns="0" rIns="0" tIns="0" bIns="0" anchor="t">
            <a:spAutoFit/>
          </a:bodyPr>
          <a:lstStyle/>
          <a:p>
            <a:pPr algn="l"/>
            <a:r>
              <a:rPr sz="1350" b="0" i="0">
                <a:solidFill>
                  <a:srgbClr val="52606D"/>
                </a:solidFill>
                <a:latin typeface="Aptos"/>
              </a:rPr>
              <a:t>Engineering for a world where intelligent systems are part of the process.</a:t>
            </a:r>
          </a:p>
        </p:txBody>
      </p:sp>
      <p:sp>
        <p:nvSpPr>
          <p:cNvPr id="13" name="Oval 12">
            <a:hlinkClick action="ppaction://hlinksldjump" r:id="rId2"/>
          </p:cNvPr>
          <p:cNvSpPr/>
          <p:nvPr/>
        </p:nvSpPr>
        <p:spPr>
          <a:xfrm>
            <a:off x="8823960" y="3401568"/>
            <a:ext cx="1261872" cy="1261872"/>
          </a:xfrm>
          <a:prstGeom prst="ellipse">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3960" y="3703320"/>
            <a:ext cx="1261872" cy="164592"/>
          </a:xfrm>
          <a:prstGeom prst="rect">
            <a:avLst/>
          </a:prstGeom>
          <a:noFill/>
        </p:spPr>
        <p:txBody>
          <a:bodyPr wrap="square" lIns="0" rIns="0" tIns="0" bIns="0" anchor="t">
            <a:spAutoFit/>
          </a:bodyPr>
          <a:lstStyle/>
          <a:p>
            <a:pPr algn="ctr"/>
            <a:r>
              <a:rPr sz="750" b="1" i="0">
                <a:solidFill>
                  <a:srgbClr val="FFFFFF"/>
                </a:solidFill>
                <a:latin typeface="Aptos"/>
              </a:rPr>
              <a:t>START</a:t>
            </a:r>
          </a:p>
        </p:txBody>
      </p:sp>
      <p:sp>
        <p:nvSpPr>
          <p:cNvPr id="15" name="TextBox 14"/>
          <p:cNvSpPr txBox="1"/>
          <p:nvPr/>
        </p:nvSpPr>
        <p:spPr>
          <a:xfrm>
            <a:off x="8823960" y="3913632"/>
            <a:ext cx="1261872" cy="329184"/>
          </a:xfrm>
          <a:prstGeom prst="rect">
            <a:avLst/>
          </a:prstGeom>
          <a:noFill/>
        </p:spPr>
        <p:txBody>
          <a:bodyPr wrap="square" lIns="0" rIns="0" tIns="0" bIns="0" anchor="t">
            <a:spAutoFit/>
          </a:bodyPr>
          <a:lstStyle/>
          <a:p>
            <a:pPr algn="ctr"/>
            <a:r>
              <a:rPr sz="1800" b="1" i="0">
                <a:solidFill>
                  <a:srgbClr val="FFFFFF"/>
                </a:solidFill>
                <a:latin typeface="Aptos"/>
              </a:rPr>
              <a:t>→</a:t>
            </a:r>
          </a:p>
        </p:txBody>
      </p:sp>
      <p:sp>
        <p:nvSpPr>
          <p:cNvPr id="16" name="TextBox 15"/>
          <p:cNvSpPr txBox="1"/>
          <p:nvPr/>
        </p:nvSpPr>
        <p:spPr>
          <a:xfrm>
            <a:off x="822960" y="5440680"/>
            <a:ext cx="9966960" cy="347472"/>
          </a:xfrm>
          <a:prstGeom prst="rect">
            <a:avLst/>
          </a:prstGeom>
          <a:noFill/>
        </p:spPr>
        <p:txBody>
          <a:bodyPr wrap="square" lIns="0" rIns="0" tIns="0" bIns="0" anchor="t">
            <a:spAutoFit/>
          </a:bodyPr>
          <a:lstStyle/>
          <a:p>
            <a:pPr algn="ctr"/>
            <a:r>
              <a:rPr sz="1060" b="0" i="1">
                <a:solidFill>
                  <a:srgbClr val="285B82"/>
                </a:solidFill>
                <a:latin typeface="Aptos"/>
              </a:rPr>
              <a:t>Because when implementation costs less and less, knowledge becomes more and more valuable.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6" name="Title 2"/>
          <p:cNvSpPr>
            <a:spLocks noGrp="1"/>
          </p:cNvSpPr>
          <p:nvPr>
            <p:ph type="title"/>
          </p:nvPr>
        </p:nvSpPr>
        <p:spPr>
          <a:xfrm>
            <a:off x="0" y="6900000"/>
            <a:ext cx="1000" cy="1000"/>
          </a:xfrm>
          <a:noFill/>
          <a:ln>
            <a:noFill/>
          </a:ln>
        </p:spPr>
        <p:txBody>
          <a:bodyPr/>
          <a:lstStyle/>
          <a:p>
            <a:r>
              <a:rPr lang="en-US" sz="100"/>
              <a:t>What is IASI?</a:t>
            </a:r>
            <a:endParaRPr lang="en-US" sz="100"/>
          </a:p>
        </p:txBody>
      </p:sp>
      <p:sp>
        <p:nvSpPr>
          <p:cNvPr id="2" name="Rectangle 1"/>
          <p:cNvSpPr/>
          <p:nvPr/>
        </p:nvSpPr>
        <p:spPr>
          <a:xfrm>
            <a:off x="0" y="0"/>
            <a:ext cx="12191999" cy="25603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999" cy="237744"/>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50292"/>
            <a:ext cx="2743200" cy="146304"/>
          </a:xfrm>
          <a:prstGeom prst="rect">
            <a:avLst/>
          </a:prstGeom>
          <a:noFill/>
        </p:spPr>
        <p:txBody>
          <a:bodyPr wrap="square" lIns="0" rIns="0" tIns="0" bIns="0" anchor="t">
            <a:spAutoFit/>
          </a:bodyPr>
          <a:lstStyle/>
          <a:p>
            <a:pPr algn="l"/>
            <a:r>
              <a:rPr sz="580" b="1" i="0">
                <a:solidFill>
                  <a:srgbClr val="FFFFFF"/>
                </a:solidFill>
                <a:latin typeface="Aptos"/>
              </a:rPr>
              <a:t>INTRODUCTION</a:t>
            </a:r>
          </a:p>
        </p:txBody>
      </p:sp>
      <p:sp>
        <p:nvSpPr>
          <p:cNvPr id="5" name="TextBox 4"/>
          <p:cNvSpPr txBox="1"/>
          <p:nvPr/>
        </p:nvSpPr>
        <p:spPr>
          <a:xfrm>
            <a:off x="384048" y="6670548"/>
            <a:ext cx="4754880" cy="109728"/>
          </a:xfrm>
          <a:prstGeom prst="rect">
            <a:avLst/>
          </a:prstGeom>
          <a:noFill/>
        </p:spPr>
        <p:txBody>
          <a:bodyPr wrap="square" lIns="0" rIns="0" tIns="0" bIns="0" anchor="t">
            <a:spAutoFit/>
          </a:bodyPr>
          <a:lstStyle/>
          <a:p>
            <a:pPr algn="l"/>
            <a:r>
              <a:rPr sz="560" b="0" i="0">
                <a:solidFill>
                  <a:srgbClr val="DCEAF5"/>
                </a:solidFill>
                <a:latin typeface="Aptos"/>
              </a:rPr>
              <a:t>IASI · Introducing IASI</a:t>
            </a:r>
          </a:p>
        </p:txBody>
      </p:sp>
      <p:sp>
        <p:nvSpPr>
          <p:cNvPr id="6" name="TextBox 5"/>
          <p:cNvSpPr txBox="1"/>
          <p:nvPr/>
        </p:nvSpPr>
        <p:spPr>
          <a:xfrm>
            <a:off x="11597639" y="6670548"/>
            <a:ext cx="256032" cy="109728"/>
          </a:xfrm>
          <a:prstGeom prst="rect">
            <a:avLst/>
          </a:prstGeom>
          <a:noFill/>
        </p:spPr>
        <p:txBody>
          <a:bodyPr wrap="square" lIns="0" rIns="0" tIns="0" bIns="0" anchor="t">
            <a:spAutoFit/>
          </a:bodyPr>
          <a:lstStyle/>
          <a:p>
            <a:pPr algn="r"/>
            <a:r>
              <a:rPr sz="560" b="1" i="0">
                <a:solidFill>
                  <a:srgbClr val="FFFFFF"/>
                </a:solidFill>
                <a:latin typeface="Aptos"/>
              </a:rPr>
              <a:t>02</a:t>
            </a:r>
          </a:p>
        </p:txBody>
      </p:sp>
      <p:sp>
        <p:nvSpPr>
          <p:cNvPr id="7" name="TextBox 6"/>
          <p:cNvSpPr txBox="1"/>
          <p:nvPr/>
        </p:nvSpPr>
        <p:spPr>
          <a:xfrm>
            <a:off x="749808" y="566928"/>
            <a:ext cx="10241280" cy="438912"/>
          </a:xfrm>
          <a:prstGeom prst="rect">
            <a:avLst/>
          </a:prstGeom>
          <a:noFill/>
        </p:spPr>
        <p:txBody>
          <a:bodyPr wrap="square" lIns="0" rIns="0" tIns="0" bIns="0" anchor="t">
            <a:spAutoFit/>
          </a:bodyPr>
          <a:lstStyle/>
          <a:p>
            <a:pPr algn="l"/>
            <a:r>
              <a:rPr sz="2400" b="1" i="0">
                <a:solidFill>
                  <a:srgbClr val="39729E"/>
                </a:solidFill>
                <a:latin typeface="Cormorant Garamond"/>
              </a:rPr>
              <a:t>What is IASI?</a:t>
            </a:r>
          </a:p>
        </p:txBody>
      </p:sp>
      <p:sp>
        <p:nvSpPr>
          <p:cNvPr id="8" name="TextBox 7"/>
          <p:cNvSpPr txBox="1"/>
          <p:nvPr/>
        </p:nvSpPr>
        <p:spPr>
          <a:xfrm>
            <a:off x="768096" y="1005840"/>
            <a:ext cx="10149840" cy="329184"/>
          </a:xfrm>
          <a:prstGeom prst="rect">
            <a:avLst/>
          </a:prstGeom>
          <a:noFill/>
        </p:spPr>
        <p:txBody>
          <a:bodyPr wrap="square" lIns="0" rIns="0" tIns="0" bIns="0" anchor="t">
            <a:spAutoFit/>
          </a:bodyPr>
          <a:lstStyle/>
          <a:p>
            <a:pPr algn="l"/>
            <a:r>
              <a:rPr sz="1080" b="0" i="0">
                <a:solidFill>
                  <a:srgbClr val="52606D"/>
                </a:solidFill>
                <a:latin typeface="Aptos"/>
              </a:rPr>
              <a:t>An engineering initiative, not another AI tool.</a:t>
            </a:r>
          </a:p>
        </p:txBody>
      </p:sp>
      <p:sp>
        <p:nvSpPr>
          <p:cNvPr id="9" name="TextBox 8"/>
          <p:cNvSpPr txBox="1"/>
          <p:nvPr/>
        </p:nvSpPr>
        <p:spPr>
          <a:xfrm>
            <a:off x="804672" y="1481328"/>
            <a:ext cx="5577840" cy="1051560"/>
          </a:xfrm>
          <a:prstGeom prst="rect">
            <a:avLst/>
          </a:prstGeom>
          <a:noFill/>
        </p:spPr>
        <p:txBody>
          <a:bodyPr wrap="square" lIns="0" rIns="0" tIns="0" bIns="0" anchor="t">
            <a:spAutoFit/>
          </a:bodyPr>
          <a:lstStyle/>
          <a:p>
            <a:pPr algn="l"/>
            <a:r>
              <a:rPr sz="2550" b="1" i="0">
                <a:solidFill>
                  <a:srgbClr val="1F2933"/>
                </a:solidFill>
                <a:latin typeface="Cormorant Garamond"/>
              </a:rPr>
              <a:t>Engineering for a world where intelligent systems are part of the process.</a:t>
            </a:r>
          </a:p>
        </p:txBody>
      </p:sp>
      <p:sp>
        <p:nvSpPr>
          <p:cNvPr id="10" name="TextBox 9"/>
          <p:cNvSpPr txBox="1"/>
          <p:nvPr/>
        </p:nvSpPr>
        <p:spPr>
          <a:xfrm>
            <a:off x="841248" y="2743200"/>
            <a:ext cx="5440680" cy="822960"/>
          </a:xfrm>
          <a:prstGeom prst="rect">
            <a:avLst/>
          </a:prstGeom>
          <a:noFill/>
        </p:spPr>
        <p:txBody>
          <a:bodyPr wrap="square" lIns="0" rIns="0" tIns="0" bIns="0">
            <a:spAutoFit/>
          </a:bodyPr>
          <a:lstStyle/>
          <a:p>
            <a:pPr>
              <a:lnSpc>
                <a:spcPct val="115000"/>
              </a:lnSpc>
            </a:pPr>
            <a:r>
              <a:rPr sz="1230" b="1" i="0">
                <a:solidFill>
                  <a:srgbClr val="39729E"/>
                </a:solidFill>
                <a:latin typeface="Aptos"/>
              </a:rPr>
              <a:t>IASI is an open initiative</a:t>
            </a:r>
            <a:r>
              <a:rPr sz="1230" b="0" i="0">
                <a:solidFill>
                  <a:srgbClr val="1F2933"/>
                </a:solidFill>
                <a:latin typeface="Aptos"/>
              </a:rPr>
              <a:t> exploring how software engineering changes when intelligent systems stop being occasional tools and become a real and natural part of engineering work.</a:t>
            </a:r>
          </a:p>
        </p:txBody>
      </p:sp>
      <p:sp>
        <p:nvSpPr>
          <p:cNvPr id="11" name="TextBox 10"/>
          <p:cNvSpPr txBox="1"/>
          <p:nvPr/>
        </p:nvSpPr>
        <p:spPr>
          <a:xfrm>
            <a:off x="841248" y="3657600"/>
            <a:ext cx="5440680" cy="868680"/>
          </a:xfrm>
          <a:prstGeom prst="rect">
            <a:avLst/>
          </a:prstGeom>
          <a:noFill/>
        </p:spPr>
        <p:txBody>
          <a:bodyPr wrap="square" lIns="0" rIns="0" tIns="0" bIns="0" anchor="t">
            <a:spAutoFit/>
          </a:bodyPr>
          <a:lstStyle/>
          <a:p>
            <a:pPr algn="l"/>
            <a:r>
              <a:rPr sz="1210" b="0" i="0">
                <a:solidFill>
                  <a:srgbClr val="52606D"/>
                </a:solidFill>
                <a:latin typeface="Aptos"/>
              </a:rPr>
              <a:t>It is not about replacing engineering. It is about rethinking how we define problems, preserve knowledge, make decisions, execute work and verify results.</a:t>
            </a:r>
          </a:p>
        </p:txBody>
      </p:sp>
      <p:sp>
        <p:nvSpPr>
          <p:cNvPr id="12" name="Rounded Rectangle 11"/>
          <p:cNvSpPr/>
          <p:nvPr/>
        </p:nvSpPr>
        <p:spPr>
          <a:xfrm>
            <a:off x="6812280" y="1572768"/>
            <a:ext cx="4370832" cy="987552"/>
          </a:xfrm>
          <a:prstGeom prst="roundRect">
            <a:avLst/>
          </a:prstGeom>
          <a:solidFill>
            <a:srgbClr val="F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12280" y="1572768"/>
            <a:ext cx="64008" cy="987552"/>
          </a:xfrm>
          <a:prstGeom prst="rect">
            <a:avLst/>
          </a:prstGeom>
          <a:solidFill>
            <a:srgbClr val="F07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1737360"/>
            <a:ext cx="4023360" cy="292608"/>
          </a:xfrm>
          <a:prstGeom prst="rect">
            <a:avLst/>
          </a:prstGeom>
          <a:noFill/>
        </p:spPr>
        <p:txBody>
          <a:bodyPr wrap="square" lIns="0" rIns="0" tIns="0" bIns="0" anchor="t">
            <a:spAutoFit/>
          </a:bodyPr>
          <a:lstStyle/>
          <a:p>
            <a:pPr algn="l"/>
            <a:r>
              <a:rPr sz="1420" b="1" i="0">
                <a:solidFill>
                  <a:srgbClr val="1F2933"/>
                </a:solidFill>
                <a:latin typeface="Aptos"/>
              </a:rPr>
              <a:t>Not another AI tool</a:t>
            </a:r>
          </a:p>
        </p:txBody>
      </p:sp>
      <p:sp>
        <p:nvSpPr>
          <p:cNvPr id="15" name="TextBox 14"/>
          <p:cNvSpPr txBox="1"/>
          <p:nvPr/>
        </p:nvSpPr>
        <p:spPr>
          <a:xfrm>
            <a:off x="6995160" y="2103120"/>
            <a:ext cx="4023360" cy="347472"/>
          </a:xfrm>
          <a:prstGeom prst="rect">
            <a:avLst/>
          </a:prstGeom>
          <a:noFill/>
        </p:spPr>
        <p:txBody>
          <a:bodyPr wrap="square" lIns="0" rIns="0" tIns="0" bIns="0" anchor="t">
            <a:spAutoFit/>
          </a:bodyPr>
          <a:lstStyle/>
          <a:p>
            <a:pPr algn="l"/>
            <a:r>
              <a:rPr sz="840" b="0" i="0">
                <a:solidFill>
                  <a:srgbClr val="52606D"/>
                </a:solidFill>
                <a:latin typeface="Aptos"/>
              </a:rPr>
              <a:t>The intelligent system becomes part of the engineering process.</a:t>
            </a:r>
          </a:p>
        </p:txBody>
      </p:sp>
      <p:sp>
        <p:nvSpPr>
          <p:cNvPr id="16" name="Rounded Rectangle 15"/>
          <p:cNvSpPr/>
          <p:nvPr/>
        </p:nvSpPr>
        <p:spPr>
          <a:xfrm>
            <a:off x="6812280" y="2761488"/>
            <a:ext cx="4370832" cy="987552"/>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12280" y="2761488"/>
            <a:ext cx="64008" cy="98755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2926080"/>
            <a:ext cx="4023360" cy="292608"/>
          </a:xfrm>
          <a:prstGeom prst="rect">
            <a:avLst/>
          </a:prstGeom>
          <a:noFill/>
        </p:spPr>
        <p:txBody>
          <a:bodyPr wrap="square" lIns="0" rIns="0" tIns="0" bIns="0" anchor="t">
            <a:spAutoFit/>
          </a:bodyPr>
          <a:lstStyle/>
          <a:p>
            <a:pPr algn="l"/>
            <a:r>
              <a:rPr sz="1420" b="1" i="0">
                <a:solidFill>
                  <a:srgbClr val="1F2933"/>
                </a:solidFill>
                <a:latin typeface="Aptos"/>
              </a:rPr>
              <a:t>Not replacing engineering</a:t>
            </a:r>
          </a:p>
        </p:txBody>
      </p:sp>
      <p:sp>
        <p:nvSpPr>
          <p:cNvPr id="19" name="TextBox 18"/>
          <p:cNvSpPr txBox="1"/>
          <p:nvPr/>
        </p:nvSpPr>
        <p:spPr>
          <a:xfrm>
            <a:off x="6995160" y="3291840"/>
            <a:ext cx="4023360" cy="347472"/>
          </a:xfrm>
          <a:prstGeom prst="rect">
            <a:avLst/>
          </a:prstGeom>
          <a:noFill/>
        </p:spPr>
        <p:txBody>
          <a:bodyPr wrap="square" lIns="0" rIns="0" tIns="0" bIns="0" anchor="t">
            <a:spAutoFit/>
          </a:bodyPr>
          <a:lstStyle/>
          <a:p>
            <a:pPr algn="l"/>
            <a:r>
              <a:rPr sz="840" b="0" i="0">
                <a:solidFill>
                  <a:srgbClr val="52606D"/>
                </a:solidFill>
                <a:latin typeface="Aptos"/>
              </a:rPr>
              <a:t>Judgement, responsibility and validation remain engineering concerns.</a:t>
            </a:r>
          </a:p>
        </p:txBody>
      </p:sp>
      <p:sp>
        <p:nvSpPr>
          <p:cNvPr id="20" name="Rounded Rectangle 19"/>
          <p:cNvSpPr/>
          <p:nvPr/>
        </p:nvSpPr>
        <p:spPr>
          <a:xfrm>
            <a:off x="6812280" y="3950208"/>
            <a:ext cx="4370832" cy="987552"/>
          </a:xfrm>
          <a:prstGeom prst="roundRect">
            <a:avLst/>
          </a:prstGeom>
          <a:solidFill>
            <a:srgbClr val="E7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3950208"/>
            <a:ext cx="64008" cy="987552"/>
          </a:xfrm>
          <a:prstGeom prst="rect">
            <a:avLst/>
          </a:prstGeom>
          <a:solidFill>
            <a:srgbClr val="45B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5160" y="4114800"/>
            <a:ext cx="4023360" cy="292608"/>
          </a:xfrm>
          <a:prstGeom prst="rect">
            <a:avLst/>
          </a:prstGeom>
          <a:noFill/>
        </p:spPr>
        <p:txBody>
          <a:bodyPr wrap="square" lIns="0" rIns="0" tIns="0" bIns="0" anchor="t">
            <a:spAutoFit/>
          </a:bodyPr>
          <a:lstStyle/>
          <a:p>
            <a:pPr algn="l"/>
            <a:r>
              <a:rPr sz="1420" b="1" i="0">
                <a:solidFill>
                  <a:srgbClr val="1F2933"/>
                </a:solidFill>
                <a:latin typeface="Aptos"/>
              </a:rPr>
              <a:t>A new process</a:t>
            </a:r>
          </a:p>
        </p:txBody>
      </p:sp>
      <p:sp>
        <p:nvSpPr>
          <p:cNvPr id="23" name="TextBox 22"/>
          <p:cNvSpPr txBox="1"/>
          <p:nvPr/>
        </p:nvSpPr>
        <p:spPr>
          <a:xfrm>
            <a:off x="6995160" y="4480560"/>
            <a:ext cx="4023360" cy="347472"/>
          </a:xfrm>
          <a:prstGeom prst="rect">
            <a:avLst/>
          </a:prstGeom>
          <a:noFill/>
        </p:spPr>
        <p:txBody>
          <a:bodyPr wrap="square" lIns="0" rIns="0" tIns="0" bIns="0" anchor="t">
            <a:spAutoFit/>
          </a:bodyPr>
          <a:lstStyle/>
          <a:p>
            <a:pPr algn="l"/>
            <a:r>
              <a:rPr sz="840" b="0" i="0">
                <a:solidFill>
                  <a:srgbClr val="52606D"/>
                </a:solidFill>
                <a:latin typeface="Aptos"/>
              </a:rPr>
              <a:t>The process itself must be reconsidered when intelligence participates in the work.</a:t>
            </a:r>
          </a:p>
        </p:txBody>
      </p:sp>
      <p:sp>
        <p:nvSpPr>
          <p:cNvPr id="24" name="Rounded Rectangle 23"/>
          <p:cNvSpPr/>
          <p:nvPr/>
        </p:nvSpPr>
        <p:spPr>
          <a:xfrm>
            <a:off x="804672" y="5074920"/>
            <a:ext cx="10378440" cy="566928"/>
          </a:xfrm>
          <a:prstGeom prst="round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5248656"/>
            <a:ext cx="9921240" cy="228600"/>
          </a:xfrm>
          <a:prstGeom prst="rect">
            <a:avLst/>
          </a:prstGeom>
          <a:noFill/>
        </p:spPr>
        <p:txBody>
          <a:bodyPr wrap="square" lIns="0" rIns="0" tIns="0" bIns="0" anchor="t">
            <a:spAutoFit/>
          </a:bodyPr>
          <a:lstStyle/>
          <a:p>
            <a:pPr algn="ctr"/>
            <a:r>
              <a:rPr sz="1050" b="0" i="1">
                <a:solidFill>
                  <a:srgbClr val="285B82"/>
                </a:solidFill>
                <a:latin typeface="Aptos"/>
              </a:rPr>
              <a:t>The question is no longer how to add AI to the old process, but what engineering process this new reality requires.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4" name="Title 3"/>
          <p:cNvSpPr>
            <a:spLocks noGrp="1"/>
          </p:cNvSpPr>
          <p:nvPr>
            <p:ph type="title"/>
          </p:nvPr>
        </p:nvSpPr>
        <p:spPr>
          <a:xfrm>
            <a:off x="0" y="6900000"/>
            <a:ext cx="1000" cy="1000"/>
          </a:xfrm>
          <a:noFill/>
          <a:ln>
            <a:noFill/>
          </a:ln>
        </p:spPr>
        <p:txBody>
          <a:bodyPr/>
          <a:lstStyle/>
          <a:p>
            <a:r>
              <a:rPr lang="en-US" sz="100"/>
              <a:t>IASI is the boundary</a:t>
            </a:r>
            <a:endParaRPr lang="en-US" sz="100"/>
          </a:p>
        </p:txBody>
      </p:sp>
      <p:sp>
        <p:nvSpPr>
          <p:cNvPr id="2" name="Rectangle 1"/>
          <p:cNvSpPr/>
          <p:nvPr/>
        </p:nvSpPr>
        <p:spPr>
          <a:xfrm>
            <a:off x="0" y="0"/>
            <a:ext cx="12191999" cy="25603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999" cy="237744"/>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50292"/>
            <a:ext cx="2743200" cy="146304"/>
          </a:xfrm>
          <a:prstGeom prst="rect">
            <a:avLst/>
          </a:prstGeom>
          <a:noFill/>
        </p:spPr>
        <p:txBody>
          <a:bodyPr wrap="square" lIns="0" rIns="0" tIns="0" bIns="0" anchor="t">
            <a:spAutoFit/>
          </a:bodyPr>
          <a:lstStyle/>
          <a:p>
            <a:pPr algn="l"/>
            <a:r>
              <a:rPr sz="580" b="1" i="0">
                <a:solidFill>
                  <a:srgbClr val="FFFFFF"/>
                </a:solidFill>
                <a:latin typeface="Aptos"/>
              </a:rPr>
              <a:t>IASI MODEL</a:t>
            </a:r>
          </a:p>
        </p:txBody>
      </p:sp>
      <p:sp>
        <p:nvSpPr>
          <p:cNvPr id="5" name="TextBox 4"/>
          <p:cNvSpPr txBox="1"/>
          <p:nvPr/>
        </p:nvSpPr>
        <p:spPr>
          <a:xfrm>
            <a:off x="384048" y="6670548"/>
            <a:ext cx="4754880" cy="109728"/>
          </a:xfrm>
          <a:prstGeom prst="rect">
            <a:avLst/>
          </a:prstGeom>
          <a:noFill/>
        </p:spPr>
        <p:txBody>
          <a:bodyPr wrap="square" lIns="0" rIns="0" tIns="0" bIns="0" anchor="t">
            <a:spAutoFit/>
          </a:bodyPr>
          <a:lstStyle/>
          <a:p>
            <a:pPr algn="l"/>
            <a:r>
              <a:rPr sz="560" b="0" i="0">
                <a:solidFill>
                  <a:srgbClr val="DCEAF5"/>
                </a:solidFill>
                <a:latin typeface="Aptos"/>
              </a:rPr>
              <a:t>IASI · Introducing IASI</a:t>
            </a:r>
          </a:p>
        </p:txBody>
      </p:sp>
      <p:sp>
        <p:nvSpPr>
          <p:cNvPr id="6" name="TextBox 5"/>
          <p:cNvSpPr txBox="1"/>
          <p:nvPr/>
        </p:nvSpPr>
        <p:spPr>
          <a:xfrm>
            <a:off x="11597639" y="6670548"/>
            <a:ext cx="256032" cy="109728"/>
          </a:xfrm>
          <a:prstGeom prst="rect">
            <a:avLst/>
          </a:prstGeom>
          <a:noFill/>
        </p:spPr>
        <p:txBody>
          <a:bodyPr wrap="square" lIns="0" rIns="0" tIns="0" bIns="0" anchor="t">
            <a:spAutoFit/>
          </a:bodyPr>
          <a:lstStyle/>
          <a:p>
            <a:pPr algn="r"/>
            <a:r>
              <a:rPr sz="560" b="1" i="0">
                <a:solidFill>
                  <a:srgbClr val="FFFFFF"/>
                </a:solidFill>
                <a:latin typeface="Aptos"/>
              </a:rPr>
              <a:t>03</a:t>
            </a:r>
          </a:p>
        </p:txBody>
      </p:sp>
      <p:sp>
        <p:nvSpPr>
          <p:cNvPr id="7" name="TextBox 6"/>
          <p:cNvSpPr txBox="1"/>
          <p:nvPr/>
        </p:nvSpPr>
        <p:spPr>
          <a:xfrm>
            <a:off x="749808" y="566928"/>
            <a:ext cx="10241280" cy="438912"/>
          </a:xfrm>
          <a:prstGeom prst="rect">
            <a:avLst/>
          </a:prstGeom>
          <a:noFill/>
        </p:spPr>
        <p:txBody>
          <a:bodyPr wrap="square" lIns="0" rIns="0" tIns="0" bIns="0" anchor="t">
            <a:spAutoFit/>
          </a:bodyPr>
          <a:lstStyle/>
          <a:p>
            <a:pPr algn="l"/>
            <a:r>
              <a:rPr sz="2400" b="1" i="0">
                <a:solidFill>
                  <a:srgbClr val="39729E"/>
                </a:solidFill>
                <a:latin typeface="Cormorant Garamond"/>
              </a:rPr>
              <a:t>IASI is the boundary</a:t>
            </a:r>
          </a:p>
        </p:txBody>
      </p:sp>
      <p:sp>
        <p:nvSpPr>
          <p:cNvPr id="8" name="TextBox 7"/>
          <p:cNvSpPr txBox="1"/>
          <p:nvPr/>
        </p:nvSpPr>
        <p:spPr>
          <a:xfrm>
            <a:off x="768096" y="1005840"/>
            <a:ext cx="10149840" cy="329184"/>
          </a:xfrm>
          <a:prstGeom prst="rect">
            <a:avLst/>
          </a:prstGeom>
          <a:noFill/>
        </p:spPr>
        <p:txBody>
          <a:bodyPr wrap="square" lIns="0" rIns="0" tIns="0" bIns="0" anchor="t">
            <a:spAutoFit/>
          </a:bodyPr>
          <a:lstStyle/>
          <a:p>
            <a:pPr algn="l"/>
            <a:r>
              <a:rPr sz="1080" b="0" i="0">
                <a:solidFill>
                  <a:srgbClr val="52606D"/>
                </a:solidFill>
                <a:latin typeface="Aptos"/>
              </a:rPr>
              <a:t>Outside → Inputs → Engine → Outputs → Release → Outside</a:t>
            </a:r>
          </a:p>
        </p:txBody>
      </p:sp>
      <p:sp>
        <p:nvSpPr>
          <p:cNvPr id="9" name="TextBox 8"/>
          <p:cNvSpPr txBox="1"/>
          <p:nvPr/>
        </p:nvSpPr>
        <p:spPr>
          <a:xfrm>
            <a:off x="9646920" y="1051560"/>
            <a:ext cx="1508760" cy="201168"/>
          </a:xfrm>
          <a:prstGeom prst="rect">
            <a:avLst/>
          </a:prstGeom>
          <a:noFill/>
        </p:spPr>
        <p:txBody>
          <a:bodyPr wrap="square" lIns="0" rIns="0" tIns="0" bIns="0" anchor="t">
            <a:spAutoFit/>
          </a:bodyPr>
          <a:lstStyle/>
          <a:p>
            <a:pPr algn="r"/>
            <a:r>
              <a:rPr sz="740" b="0" i="1">
                <a:solidFill>
                  <a:srgbClr val="7B8794"/>
                </a:solidFill>
                <a:latin typeface="Aptos"/>
              </a:rPr>
              <a:t>Click any stage for detail</a:t>
            </a:r>
          </a:p>
        </p:txBody>
      </p:sp>
      <p:sp>
        <p:nvSpPr>
          <p:cNvPr id="10" name="Oval 9">
            <a:hlinkClick action="ppaction://hlinksldjump" r:id="rId2"/>
          </p:cNvPr>
          <p:cNvSpPr/>
          <p:nvPr/>
        </p:nvSpPr>
        <p:spPr>
          <a:xfrm>
            <a:off x="566928" y="2743200"/>
            <a:ext cx="1298448" cy="1298448"/>
          </a:xfrm>
          <a:prstGeom prst="ellipse">
            <a:avLst/>
          </a:prstGeom>
          <a:solidFill>
            <a:srgbClr val="E7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090672"/>
            <a:ext cx="1298448" cy="201168"/>
          </a:xfrm>
          <a:prstGeom prst="rect">
            <a:avLst/>
          </a:prstGeom>
          <a:noFill/>
        </p:spPr>
        <p:txBody>
          <a:bodyPr wrap="square" lIns="0" rIns="0" tIns="0" bIns="0" anchor="t">
            <a:spAutoFit/>
          </a:bodyPr>
          <a:lstStyle/>
          <a:p>
            <a:pPr algn="ctr"/>
            <a:r>
              <a:rPr sz="880" b="1" i="0">
                <a:solidFill>
                  <a:srgbClr val="45B8A7"/>
                </a:solidFill>
                <a:latin typeface="Aptos"/>
              </a:rPr>
              <a:t>OUTSIDE</a:t>
            </a:r>
          </a:p>
        </p:txBody>
      </p:sp>
      <p:sp>
        <p:nvSpPr>
          <p:cNvPr id="12" name="TextBox 11"/>
          <p:cNvSpPr txBox="1"/>
          <p:nvPr/>
        </p:nvSpPr>
        <p:spPr>
          <a:xfrm>
            <a:off x="566928" y="3364992"/>
            <a:ext cx="1298448" cy="201168"/>
          </a:xfrm>
          <a:prstGeom prst="rect">
            <a:avLst/>
          </a:prstGeom>
          <a:noFill/>
        </p:spPr>
        <p:txBody>
          <a:bodyPr wrap="square" lIns="0" rIns="0" tIns="0" bIns="0" anchor="t">
            <a:spAutoFit/>
          </a:bodyPr>
          <a:lstStyle/>
          <a:p>
            <a:pPr algn="ctr"/>
            <a:r>
              <a:rPr sz="680" b="0" i="0">
                <a:solidFill>
                  <a:srgbClr val="52606D"/>
                </a:solidFill>
                <a:latin typeface="Aptos"/>
              </a:rPr>
              <a:t>source material</a:t>
            </a:r>
          </a:p>
        </p:txBody>
      </p:sp>
      <p:sp>
        <p:nvSpPr>
          <p:cNvPr id="13" name="Oval 12">
            <a:hlinkClick action="ppaction://hlinksldjump" r:id="rId2"/>
          </p:cNvPr>
          <p:cNvSpPr/>
          <p:nvPr/>
        </p:nvSpPr>
        <p:spPr>
          <a:xfrm>
            <a:off x="1517904" y="2761488"/>
            <a:ext cx="201168" cy="201168"/>
          </a:xfrm>
          <a:prstGeom prst="ellipse">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17904" y="2766060"/>
            <a:ext cx="201168" cy="164592"/>
          </a:xfrm>
          <a:prstGeom prst="rect">
            <a:avLst/>
          </a:prstGeom>
          <a:noFill/>
        </p:spPr>
        <p:txBody>
          <a:bodyPr wrap="square" lIns="0" rIns="0" tIns="0" bIns="0" anchor="ctr">
            <a:spAutoFit/>
          </a:bodyPr>
          <a:lstStyle/>
          <a:p>
            <a:pPr algn="ctr"/>
            <a:r>
              <a:rPr sz="700" b="1" i="0">
                <a:solidFill>
                  <a:srgbClr val="FFFFFF"/>
                </a:solidFill>
                <a:latin typeface="Aptos"/>
              </a:rPr>
              <a:t>i</a:t>
            </a:r>
          </a:p>
        </p:txBody>
      </p:sp>
      <p:sp>
        <p:nvSpPr>
          <p:cNvPr id="15" name="TextBox 14"/>
          <p:cNvSpPr txBox="1"/>
          <p:nvPr/>
        </p:nvSpPr>
        <p:spPr>
          <a:xfrm>
            <a:off x="1828800" y="3154680"/>
            <a:ext cx="347472" cy="320040"/>
          </a:xfrm>
          <a:prstGeom prst="rect">
            <a:avLst/>
          </a:prstGeom>
          <a:noFill/>
        </p:spPr>
        <p:txBody>
          <a:bodyPr wrap="square" lIns="0" rIns="0" tIns="0" bIns="0" anchor="t">
            <a:spAutoFit/>
          </a:bodyPr>
          <a:lstStyle/>
          <a:p>
            <a:pPr algn="ctr"/>
            <a:r>
              <a:rPr sz="1900" b="1" i="0">
                <a:solidFill>
                  <a:srgbClr val="7B8794"/>
                </a:solidFill>
                <a:latin typeface="Aptos"/>
              </a:rPr>
              <a:t>→</a:t>
            </a:r>
          </a:p>
        </p:txBody>
      </p:sp>
      <p:sp>
        <p:nvSpPr>
          <p:cNvPr id="16" name="Rounded Rectangle 15"/>
          <p:cNvSpPr/>
          <p:nvPr/>
        </p:nvSpPr>
        <p:spPr>
          <a:xfrm>
            <a:off x="2212848" y="2139696"/>
            <a:ext cx="7772400" cy="2487168"/>
          </a:xfrm>
          <a:prstGeom prst="roundRect">
            <a:avLst/>
          </a:prstGeom>
          <a:solidFill>
            <a:srgbClr val="F5F9FC"/>
          </a:solidFill>
          <a:ln w="12700">
            <a:solidFill>
              <a:srgbClr val="DC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377440" y="2249424"/>
            <a:ext cx="713232" cy="256032"/>
          </a:xfrm>
          <a:prstGeom prst="round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7440" y="2286000"/>
            <a:ext cx="713232" cy="146304"/>
          </a:xfrm>
          <a:prstGeom prst="rect">
            <a:avLst/>
          </a:prstGeom>
          <a:noFill/>
        </p:spPr>
        <p:txBody>
          <a:bodyPr wrap="square" lIns="0" rIns="0" tIns="0" bIns="0" anchor="t">
            <a:spAutoFit/>
          </a:bodyPr>
          <a:lstStyle/>
          <a:p>
            <a:pPr algn="ctr"/>
            <a:r>
              <a:rPr sz="650" b="1" i="0">
                <a:solidFill>
                  <a:srgbClr val="FFFFFF"/>
                </a:solidFill>
                <a:latin typeface="Aptos"/>
              </a:rPr>
              <a:t>IASI</a:t>
            </a:r>
          </a:p>
        </p:txBody>
      </p:sp>
      <p:sp>
        <p:nvSpPr>
          <p:cNvPr id="19" name="Rounded Rectangle 18">
            <a:hlinkClick action="ppaction://hlinksldjump" r:id="rId3"/>
          </p:cNvPr>
          <p:cNvSpPr/>
          <p:nvPr/>
        </p:nvSpPr>
        <p:spPr>
          <a:xfrm>
            <a:off x="2578608" y="2788920"/>
            <a:ext cx="1444752" cy="1143000"/>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78608" y="2788920"/>
            <a:ext cx="64008" cy="1143000"/>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1488" y="2953512"/>
            <a:ext cx="1097280" cy="292608"/>
          </a:xfrm>
          <a:prstGeom prst="rect">
            <a:avLst/>
          </a:prstGeom>
          <a:noFill/>
        </p:spPr>
        <p:txBody>
          <a:bodyPr wrap="square" lIns="0" rIns="0" tIns="0" bIns="0" anchor="t">
            <a:spAutoFit/>
          </a:bodyPr>
          <a:lstStyle/>
          <a:p>
            <a:pPr algn="l"/>
            <a:r>
              <a:rPr sz="1420" b="1" i="0">
                <a:solidFill>
                  <a:srgbClr val="1F2933"/>
                </a:solidFill>
                <a:latin typeface="Aptos"/>
              </a:rPr>
              <a:t>Inputs</a:t>
            </a:r>
          </a:p>
        </p:txBody>
      </p:sp>
      <p:sp>
        <p:nvSpPr>
          <p:cNvPr id="22" name="TextBox 21"/>
          <p:cNvSpPr txBox="1"/>
          <p:nvPr/>
        </p:nvSpPr>
        <p:spPr>
          <a:xfrm>
            <a:off x="2761488" y="3319272"/>
            <a:ext cx="1097280" cy="502920"/>
          </a:xfrm>
          <a:prstGeom prst="rect">
            <a:avLst/>
          </a:prstGeom>
          <a:noFill/>
        </p:spPr>
        <p:txBody>
          <a:bodyPr wrap="square" lIns="0" rIns="0" tIns="0" bIns="0" anchor="t">
            <a:spAutoFit/>
          </a:bodyPr>
          <a:lstStyle/>
          <a:p>
            <a:pPr algn="l"/>
            <a:r>
              <a:rPr sz="840" b="0" i="0">
                <a:solidFill>
                  <a:srgbClr val="52606D"/>
                </a:solidFill>
                <a:latin typeface="Aptos"/>
              </a:rPr>
              <a:t>What enters the engineering process.</a:t>
            </a:r>
          </a:p>
        </p:txBody>
      </p:sp>
      <p:sp>
        <p:nvSpPr>
          <p:cNvPr id="23" name="Rounded Rectangle 22">
            <a:hlinkClick action="ppaction://hlinksldjump" r:id="rId4"/>
          </p:cNvPr>
          <p:cNvSpPr/>
          <p:nvPr/>
        </p:nvSpPr>
        <p:spPr>
          <a:xfrm>
            <a:off x="4389120" y="2788920"/>
            <a:ext cx="1444752" cy="1143000"/>
          </a:xfrm>
          <a:prstGeom prst="roundRect">
            <a:avLst/>
          </a:prstGeom>
          <a:solidFill>
            <a:srgbClr val="F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2788920"/>
            <a:ext cx="64008" cy="1143000"/>
          </a:xfrm>
          <a:prstGeom prst="rect">
            <a:avLst/>
          </a:prstGeom>
          <a:solidFill>
            <a:srgbClr val="F07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2953512"/>
            <a:ext cx="1097280" cy="292608"/>
          </a:xfrm>
          <a:prstGeom prst="rect">
            <a:avLst/>
          </a:prstGeom>
          <a:noFill/>
        </p:spPr>
        <p:txBody>
          <a:bodyPr wrap="square" lIns="0" rIns="0" tIns="0" bIns="0" anchor="t">
            <a:spAutoFit/>
          </a:bodyPr>
          <a:lstStyle/>
          <a:p>
            <a:pPr algn="l"/>
            <a:r>
              <a:rPr sz="1420" b="1" i="0">
                <a:solidFill>
                  <a:srgbClr val="1F2933"/>
                </a:solidFill>
                <a:latin typeface="Aptos"/>
              </a:rPr>
              <a:t>Engine</a:t>
            </a:r>
          </a:p>
        </p:txBody>
      </p:sp>
      <p:sp>
        <p:nvSpPr>
          <p:cNvPr id="26" name="TextBox 25"/>
          <p:cNvSpPr txBox="1"/>
          <p:nvPr/>
        </p:nvSpPr>
        <p:spPr>
          <a:xfrm>
            <a:off x="4572000" y="3319272"/>
            <a:ext cx="1097280" cy="502920"/>
          </a:xfrm>
          <a:prstGeom prst="rect">
            <a:avLst/>
          </a:prstGeom>
          <a:noFill/>
        </p:spPr>
        <p:txBody>
          <a:bodyPr wrap="square" lIns="0" rIns="0" tIns="0" bIns="0" anchor="t">
            <a:spAutoFit/>
          </a:bodyPr>
          <a:lstStyle/>
          <a:p>
            <a:pPr algn="l"/>
            <a:r>
              <a:rPr sz="840" b="0" i="0">
                <a:solidFill>
                  <a:srgbClr val="52606D"/>
                </a:solidFill>
                <a:latin typeface="Aptos"/>
              </a:rPr>
              <a:t>Understanding, decisions and execution.</a:t>
            </a:r>
          </a:p>
        </p:txBody>
      </p:sp>
      <p:sp>
        <p:nvSpPr>
          <p:cNvPr id="27" name="Rounded Rectangle 26">
            <a:hlinkClick action="ppaction://hlinksldjump" r:id="rId5"/>
          </p:cNvPr>
          <p:cNvSpPr/>
          <p:nvPr/>
        </p:nvSpPr>
        <p:spPr>
          <a:xfrm>
            <a:off x="6199632" y="2788920"/>
            <a:ext cx="1444752" cy="1143000"/>
          </a:xfrm>
          <a:prstGeom prst="roundRect">
            <a:avLst/>
          </a:prstGeom>
          <a:solidFill>
            <a:srgbClr val="E7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99632" y="2788920"/>
            <a:ext cx="64008" cy="1143000"/>
          </a:xfrm>
          <a:prstGeom prst="rect">
            <a:avLst/>
          </a:prstGeom>
          <a:solidFill>
            <a:srgbClr val="45B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2953512"/>
            <a:ext cx="1097280" cy="292608"/>
          </a:xfrm>
          <a:prstGeom prst="rect">
            <a:avLst/>
          </a:prstGeom>
          <a:noFill/>
        </p:spPr>
        <p:txBody>
          <a:bodyPr wrap="square" lIns="0" rIns="0" tIns="0" bIns="0" anchor="t">
            <a:spAutoFit/>
          </a:bodyPr>
          <a:lstStyle/>
          <a:p>
            <a:pPr algn="l"/>
            <a:r>
              <a:rPr sz="1420" b="1" i="0">
                <a:solidFill>
                  <a:srgbClr val="1F2933"/>
                </a:solidFill>
                <a:latin typeface="Aptos"/>
              </a:rPr>
              <a:t>Outputs</a:t>
            </a:r>
          </a:p>
        </p:txBody>
      </p:sp>
      <p:sp>
        <p:nvSpPr>
          <p:cNvPr id="30" name="TextBox 29"/>
          <p:cNvSpPr txBox="1"/>
          <p:nvPr/>
        </p:nvSpPr>
        <p:spPr>
          <a:xfrm>
            <a:off x="6382512" y="3319272"/>
            <a:ext cx="1097280" cy="502920"/>
          </a:xfrm>
          <a:prstGeom prst="rect">
            <a:avLst/>
          </a:prstGeom>
          <a:noFill/>
        </p:spPr>
        <p:txBody>
          <a:bodyPr wrap="square" lIns="0" rIns="0" tIns="0" bIns="0" anchor="t">
            <a:spAutoFit/>
          </a:bodyPr>
          <a:lstStyle/>
          <a:p>
            <a:pPr algn="l"/>
            <a:r>
              <a:rPr sz="840" b="0" i="0">
                <a:solidFill>
                  <a:srgbClr val="52606D"/>
                </a:solidFill>
                <a:latin typeface="Aptos"/>
              </a:rPr>
              <a:t>Materialized task results.</a:t>
            </a:r>
          </a:p>
        </p:txBody>
      </p:sp>
      <p:sp>
        <p:nvSpPr>
          <p:cNvPr id="31" name="Rounded Rectangle 30">
            <a:hlinkClick action="ppaction://hlinksldjump" r:id="rId6"/>
          </p:cNvPr>
          <p:cNvSpPr/>
          <p:nvPr/>
        </p:nvSpPr>
        <p:spPr>
          <a:xfrm>
            <a:off x="8010144" y="2788920"/>
            <a:ext cx="1444752" cy="1143000"/>
          </a:xfrm>
          <a:prstGeom prst="roundRect">
            <a:avLst/>
          </a:prstGeom>
          <a:solidFill>
            <a:srgbClr val="F0E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10144" y="2788920"/>
            <a:ext cx="64008" cy="1143000"/>
          </a:xfrm>
          <a:prstGeom prst="rect">
            <a:avLst/>
          </a:prstGeom>
          <a:solidFill>
            <a:srgbClr val="8B7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93024" y="2953512"/>
            <a:ext cx="1097280" cy="292608"/>
          </a:xfrm>
          <a:prstGeom prst="rect">
            <a:avLst/>
          </a:prstGeom>
          <a:noFill/>
        </p:spPr>
        <p:txBody>
          <a:bodyPr wrap="square" lIns="0" rIns="0" tIns="0" bIns="0" anchor="t">
            <a:spAutoFit/>
          </a:bodyPr>
          <a:lstStyle/>
          <a:p>
            <a:pPr algn="l"/>
            <a:r>
              <a:rPr sz="1420" b="1" i="0">
                <a:solidFill>
                  <a:srgbClr val="1F2933"/>
                </a:solidFill>
                <a:latin typeface="Aptos"/>
              </a:rPr>
              <a:t>Release</a:t>
            </a:r>
          </a:p>
        </p:txBody>
      </p:sp>
      <p:sp>
        <p:nvSpPr>
          <p:cNvPr id="34" name="TextBox 33"/>
          <p:cNvSpPr txBox="1"/>
          <p:nvPr/>
        </p:nvSpPr>
        <p:spPr>
          <a:xfrm>
            <a:off x="8193024" y="3319272"/>
            <a:ext cx="1097280" cy="502920"/>
          </a:xfrm>
          <a:prstGeom prst="rect">
            <a:avLst/>
          </a:prstGeom>
          <a:noFill/>
        </p:spPr>
        <p:txBody>
          <a:bodyPr wrap="square" lIns="0" rIns="0" tIns="0" bIns="0" anchor="t">
            <a:spAutoFit/>
          </a:bodyPr>
          <a:lstStyle/>
          <a:p>
            <a:pPr algn="l"/>
            <a:r>
              <a:rPr sz="840" b="0" i="0">
                <a:solidFill>
                  <a:srgbClr val="52606D"/>
                </a:solidFill>
                <a:latin typeface="Aptos"/>
              </a:rPr>
              <a:t>Current authorized materialization.</a:t>
            </a:r>
          </a:p>
        </p:txBody>
      </p:sp>
      <p:sp>
        <p:nvSpPr>
          <p:cNvPr id="35" name="Oval 34">
            <a:hlinkClick action="ppaction://hlinksldjump" r:id="rId3"/>
          </p:cNvPr>
          <p:cNvSpPr/>
          <p:nvPr/>
        </p:nvSpPr>
        <p:spPr>
          <a:xfrm>
            <a:off x="3749040" y="2880360"/>
            <a:ext cx="201168" cy="201168"/>
          </a:xfrm>
          <a:prstGeom prst="ellipse">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49040" y="2884932"/>
            <a:ext cx="201168" cy="164592"/>
          </a:xfrm>
          <a:prstGeom prst="rect">
            <a:avLst/>
          </a:prstGeom>
          <a:noFill/>
        </p:spPr>
        <p:txBody>
          <a:bodyPr wrap="square" lIns="0" rIns="0" tIns="0" bIns="0" anchor="ctr">
            <a:spAutoFit/>
          </a:bodyPr>
          <a:lstStyle/>
          <a:p>
            <a:pPr algn="ctr"/>
            <a:r>
              <a:rPr sz="700" b="1" i="0">
                <a:solidFill>
                  <a:srgbClr val="FFFFFF"/>
                </a:solidFill>
                <a:latin typeface="Aptos"/>
              </a:rPr>
              <a:t>i</a:t>
            </a:r>
          </a:p>
        </p:txBody>
      </p:sp>
      <p:sp>
        <p:nvSpPr>
          <p:cNvPr id="37" name="Oval 36">
            <a:hlinkClick action="ppaction://hlinksldjump" r:id="rId4"/>
          </p:cNvPr>
          <p:cNvSpPr/>
          <p:nvPr/>
        </p:nvSpPr>
        <p:spPr>
          <a:xfrm>
            <a:off x="5559552" y="2880360"/>
            <a:ext cx="201168" cy="201168"/>
          </a:xfrm>
          <a:prstGeom prst="ellipse">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59552" y="2884932"/>
            <a:ext cx="201168" cy="164592"/>
          </a:xfrm>
          <a:prstGeom prst="rect">
            <a:avLst/>
          </a:prstGeom>
          <a:noFill/>
        </p:spPr>
        <p:txBody>
          <a:bodyPr wrap="square" lIns="0" rIns="0" tIns="0" bIns="0" anchor="ctr">
            <a:spAutoFit/>
          </a:bodyPr>
          <a:lstStyle/>
          <a:p>
            <a:pPr algn="ctr"/>
            <a:r>
              <a:rPr sz="700" b="1" i="0">
                <a:solidFill>
                  <a:srgbClr val="FFFFFF"/>
                </a:solidFill>
                <a:latin typeface="Aptos"/>
              </a:rPr>
              <a:t>i</a:t>
            </a:r>
          </a:p>
        </p:txBody>
      </p:sp>
      <p:sp>
        <p:nvSpPr>
          <p:cNvPr id="39" name="Oval 38">
            <a:hlinkClick action="ppaction://hlinksldjump" r:id="rId5"/>
          </p:cNvPr>
          <p:cNvSpPr/>
          <p:nvPr/>
        </p:nvSpPr>
        <p:spPr>
          <a:xfrm>
            <a:off x="7370064" y="2880360"/>
            <a:ext cx="201168" cy="201168"/>
          </a:xfrm>
          <a:prstGeom prst="ellipse">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70064" y="2884932"/>
            <a:ext cx="201168" cy="164592"/>
          </a:xfrm>
          <a:prstGeom prst="rect">
            <a:avLst/>
          </a:prstGeom>
          <a:noFill/>
        </p:spPr>
        <p:txBody>
          <a:bodyPr wrap="square" lIns="0" rIns="0" tIns="0" bIns="0" anchor="ctr">
            <a:spAutoFit/>
          </a:bodyPr>
          <a:lstStyle/>
          <a:p>
            <a:pPr algn="ctr"/>
            <a:r>
              <a:rPr sz="700" b="1" i="0">
                <a:solidFill>
                  <a:srgbClr val="FFFFFF"/>
                </a:solidFill>
                <a:latin typeface="Aptos"/>
              </a:rPr>
              <a:t>i</a:t>
            </a:r>
          </a:p>
        </p:txBody>
      </p:sp>
      <p:sp>
        <p:nvSpPr>
          <p:cNvPr id="41" name="Oval 40">
            <a:hlinkClick action="ppaction://hlinksldjump" r:id="rId6"/>
          </p:cNvPr>
          <p:cNvSpPr/>
          <p:nvPr/>
        </p:nvSpPr>
        <p:spPr>
          <a:xfrm>
            <a:off x="9180576" y="2880360"/>
            <a:ext cx="201168" cy="201168"/>
          </a:xfrm>
          <a:prstGeom prst="ellipse">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80576" y="2884932"/>
            <a:ext cx="201168" cy="164592"/>
          </a:xfrm>
          <a:prstGeom prst="rect">
            <a:avLst/>
          </a:prstGeom>
          <a:noFill/>
        </p:spPr>
        <p:txBody>
          <a:bodyPr wrap="square" lIns="0" rIns="0" tIns="0" bIns="0" anchor="ctr">
            <a:spAutoFit/>
          </a:bodyPr>
          <a:lstStyle/>
          <a:p>
            <a:pPr algn="ctr"/>
            <a:r>
              <a:rPr sz="700" b="1" i="0">
                <a:solidFill>
                  <a:srgbClr val="FFFFFF"/>
                </a:solidFill>
                <a:latin typeface="Aptos"/>
              </a:rPr>
              <a:t>i</a:t>
            </a:r>
          </a:p>
        </p:txBody>
      </p:sp>
      <p:sp>
        <p:nvSpPr>
          <p:cNvPr id="43" name="TextBox 42"/>
          <p:cNvSpPr txBox="1"/>
          <p:nvPr/>
        </p:nvSpPr>
        <p:spPr>
          <a:xfrm>
            <a:off x="4087368" y="3182112"/>
            <a:ext cx="256032" cy="274320"/>
          </a:xfrm>
          <a:prstGeom prst="rect">
            <a:avLst/>
          </a:prstGeom>
          <a:noFill/>
        </p:spPr>
        <p:txBody>
          <a:bodyPr wrap="square" lIns="0" rIns="0" tIns="0" bIns="0" anchor="t">
            <a:spAutoFit/>
          </a:bodyPr>
          <a:lstStyle/>
          <a:p>
            <a:pPr algn="ctr"/>
            <a:r>
              <a:rPr sz="1600" b="1" i="0">
                <a:solidFill>
                  <a:srgbClr val="7B8794"/>
                </a:solidFill>
                <a:latin typeface="Aptos"/>
              </a:rPr>
              <a:t>→</a:t>
            </a:r>
          </a:p>
        </p:txBody>
      </p:sp>
      <p:sp>
        <p:nvSpPr>
          <p:cNvPr id="44" name="TextBox 43"/>
          <p:cNvSpPr txBox="1"/>
          <p:nvPr/>
        </p:nvSpPr>
        <p:spPr>
          <a:xfrm>
            <a:off x="5897880" y="3182112"/>
            <a:ext cx="256032" cy="274320"/>
          </a:xfrm>
          <a:prstGeom prst="rect">
            <a:avLst/>
          </a:prstGeom>
          <a:noFill/>
        </p:spPr>
        <p:txBody>
          <a:bodyPr wrap="square" lIns="0" rIns="0" tIns="0" bIns="0" anchor="t">
            <a:spAutoFit/>
          </a:bodyPr>
          <a:lstStyle/>
          <a:p>
            <a:pPr algn="ctr"/>
            <a:r>
              <a:rPr sz="1600" b="1" i="0">
                <a:solidFill>
                  <a:srgbClr val="7B8794"/>
                </a:solidFill>
                <a:latin typeface="Aptos"/>
              </a:rPr>
              <a:t>→</a:t>
            </a:r>
          </a:p>
        </p:txBody>
      </p:sp>
      <p:sp>
        <p:nvSpPr>
          <p:cNvPr id="45" name="TextBox 44"/>
          <p:cNvSpPr txBox="1"/>
          <p:nvPr/>
        </p:nvSpPr>
        <p:spPr>
          <a:xfrm>
            <a:off x="7708392" y="3182112"/>
            <a:ext cx="256032" cy="274320"/>
          </a:xfrm>
          <a:prstGeom prst="rect">
            <a:avLst/>
          </a:prstGeom>
          <a:noFill/>
        </p:spPr>
        <p:txBody>
          <a:bodyPr wrap="square" lIns="0" rIns="0" tIns="0" bIns="0" anchor="t">
            <a:spAutoFit/>
          </a:bodyPr>
          <a:lstStyle/>
          <a:p>
            <a:pPr algn="ctr"/>
            <a:r>
              <a:rPr sz="1600" b="1" i="0">
                <a:solidFill>
                  <a:srgbClr val="7B8794"/>
                </a:solidFill>
                <a:latin typeface="Aptos"/>
              </a:rPr>
              <a:t>→</a:t>
            </a:r>
          </a:p>
        </p:txBody>
      </p:sp>
      <p:sp>
        <p:nvSpPr>
          <p:cNvPr id="46" name="TextBox 45"/>
          <p:cNvSpPr txBox="1"/>
          <p:nvPr/>
        </p:nvSpPr>
        <p:spPr>
          <a:xfrm>
            <a:off x="10030968" y="3154680"/>
            <a:ext cx="347472" cy="320040"/>
          </a:xfrm>
          <a:prstGeom prst="rect">
            <a:avLst/>
          </a:prstGeom>
          <a:noFill/>
        </p:spPr>
        <p:txBody>
          <a:bodyPr wrap="square" lIns="0" rIns="0" tIns="0" bIns="0" anchor="t">
            <a:spAutoFit/>
          </a:bodyPr>
          <a:lstStyle/>
          <a:p>
            <a:pPr algn="ctr"/>
            <a:r>
              <a:rPr sz="1900" b="1" i="0">
                <a:solidFill>
                  <a:srgbClr val="7B8794"/>
                </a:solidFill>
                <a:latin typeface="Aptos"/>
              </a:rPr>
              <a:t>→</a:t>
            </a:r>
          </a:p>
        </p:txBody>
      </p:sp>
      <p:sp>
        <p:nvSpPr>
          <p:cNvPr id="47" name="Oval 46">
            <a:hlinkClick action="ppaction://hlinksldjump" r:id="rId7"/>
          </p:cNvPr>
          <p:cNvSpPr/>
          <p:nvPr/>
        </p:nvSpPr>
        <p:spPr>
          <a:xfrm>
            <a:off x="10405872" y="2743200"/>
            <a:ext cx="1188720" cy="1188720"/>
          </a:xfrm>
          <a:prstGeom prst="ellipse">
            <a:avLst/>
          </a:prstGeom>
          <a:solidFill>
            <a:srgbClr val="E7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05872" y="3054096"/>
            <a:ext cx="1188720" cy="201168"/>
          </a:xfrm>
          <a:prstGeom prst="rect">
            <a:avLst/>
          </a:prstGeom>
          <a:noFill/>
        </p:spPr>
        <p:txBody>
          <a:bodyPr wrap="square" lIns="0" rIns="0" tIns="0" bIns="0" anchor="t">
            <a:spAutoFit/>
          </a:bodyPr>
          <a:lstStyle/>
          <a:p>
            <a:pPr algn="ctr"/>
            <a:r>
              <a:rPr sz="880" b="1" i="0">
                <a:solidFill>
                  <a:srgbClr val="45B8A7"/>
                </a:solidFill>
                <a:latin typeface="Aptos"/>
              </a:rPr>
              <a:t>OUTSIDE</a:t>
            </a:r>
          </a:p>
        </p:txBody>
      </p:sp>
      <p:sp>
        <p:nvSpPr>
          <p:cNvPr id="49" name="TextBox 48"/>
          <p:cNvSpPr txBox="1"/>
          <p:nvPr/>
        </p:nvSpPr>
        <p:spPr>
          <a:xfrm>
            <a:off x="10405872" y="3319272"/>
            <a:ext cx="1188720" cy="201168"/>
          </a:xfrm>
          <a:prstGeom prst="rect">
            <a:avLst/>
          </a:prstGeom>
          <a:noFill/>
        </p:spPr>
        <p:txBody>
          <a:bodyPr wrap="square" lIns="0" rIns="0" tIns="0" bIns="0" anchor="t">
            <a:spAutoFit/>
          </a:bodyPr>
          <a:lstStyle/>
          <a:p>
            <a:pPr algn="ctr"/>
            <a:r>
              <a:rPr sz="680" b="0" i="0">
                <a:solidFill>
                  <a:srgbClr val="52606D"/>
                </a:solidFill>
                <a:latin typeface="Aptos"/>
              </a:rPr>
              <a:t>consumers</a:t>
            </a:r>
          </a:p>
        </p:txBody>
      </p:sp>
      <p:sp>
        <p:nvSpPr>
          <p:cNvPr id="50" name="Oval 49">
            <a:hlinkClick action="ppaction://hlinksldjump" r:id="rId7"/>
          </p:cNvPr>
          <p:cNvSpPr/>
          <p:nvPr/>
        </p:nvSpPr>
        <p:spPr>
          <a:xfrm>
            <a:off x="11283696" y="2761488"/>
            <a:ext cx="201168" cy="201168"/>
          </a:xfrm>
          <a:prstGeom prst="ellipse">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283696" y="2766060"/>
            <a:ext cx="201168" cy="164592"/>
          </a:xfrm>
          <a:prstGeom prst="rect">
            <a:avLst/>
          </a:prstGeom>
          <a:noFill/>
        </p:spPr>
        <p:txBody>
          <a:bodyPr wrap="square" lIns="0" rIns="0" tIns="0" bIns="0" anchor="ctr">
            <a:spAutoFit/>
          </a:bodyPr>
          <a:lstStyle/>
          <a:p>
            <a:pPr algn="ctr"/>
            <a:r>
              <a:rPr sz="700" b="1" i="0">
                <a:solidFill>
                  <a:srgbClr val="FFFFFF"/>
                </a:solidFill>
                <a:latin typeface="Aptos"/>
              </a:rPr>
              <a:t>i</a:t>
            </a:r>
          </a:p>
        </p:txBody>
      </p:sp>
      <p:sp>
        <p:nvSpPr>
          <p:cNvPr id="52" name="Rounded Rectangle 51"/>
          <p:cNvSpPr/>
          <p:nvPr/>
        </p:nvSpPr>
        <p:spPr>
          <a:xfrm>
            <a:off x="2176272" y="5084064"/>
            <a:ext cx="7818120" cy="475488"/>
          </a:xfrm>
          <a:prstGeom prst="roundRect">
            <a:avLst/>
          </a:prstGeom>
          <a:solidFill>
            <a:srgbClr val="E7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331720" y="5221224"/>
            <a:ext cx="7498079" cy="201168"/>
          </a:xfrm>
          <a:prstGeom prst="rect">
            <a:avLst/>
          </a:prstGeom>
          <a:noFill/>
        </p:spPr>
        <p:txBody>
          <a:bodyPr wrap="square" lIns="0" rIns="0" tIns="0" bIns="0" anchor="t">
            <a:spAutoFit/>
          </a:bodyPr>
          <a:lstStyle/>
          <a:p>
            <a:pPr algn="ctr"/>
            <a:r>
              <a:rPr sz="1080" b="1" i="0">
                <a:solidFill>
                  <a:srgbClr val="285B82"/>
                </a:solidFill>
                <a:latin typeface="Aptos"/>
              </a:rPr>
              <a:t>One entry. One exit. The cycles are internal.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42" name="Title 4"/>
          <p:cNvSpPr>
            <a:spLocks noGrp="1"/>
          </p:cNvSpPr>
          <p:nvPr>
            <p:ph type="title"/>
          </p:nvPr>
        </p:nvSpPr>
        <p:spPr>
          <a:xfrm>
            <a:off x="0" y="6900000"/>
            <a:ext cx="1000" cy="1000"/>
          </a:xfrm>
          <a:noFill/>
          <a:ln>
            <a:noFill/>
          </a:ln>
        </p:spPr>
        <p:txBody>
          <a:bodyPr/>
          <a:lstStyle/>
          <a:p>
            <a:r>
              <a:rPr lang="en-US" sz="100"/>
              <a:t>External inputs</a:t>
            </a:r>
            <a:endParaRPr lang="en-US" sz="100"/>
          </a:p>
        </p:txBody>
      </p:sp>
      <p:sp>
        <p:nvSpPr>
          <p:cNvPr id="2" name="Rectangle 1"/>
          <p:cNvSpPr/>
          <p:nvPr/>
        </p:nvSpPr>
        <p:spPr>
          <a:xfrm>
            <a:off x="0" y="0"/>
            <a:ext cx="12191999" cy="25603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999" cy="237744"/>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50292"/>
            <a:ext cx="2743200" cy="146304"/>
          </a:xfrm>
          <a:prstGeom prst="rect">
            <a:avLst/>
          </a:prstGeom>
          <a:noFill/>
        </p:spPr>
        <p:txBody>
          <a:bodyPr wrap="square" lIns="0" rIns="0" tIns="0" bIns="0" anchor="t">
            <a:spAutoFit/>
          </a:bodyPr>
          <a:lstStyle/>
          <a:p>
            <a:pPr algn="l"/>
            <a:r>
              <a:rPr sz="580" b="1" i="0">
                <a:solidFill>
                  <a:srgbClr val="FFFFFF"/>
                </a:solidFill>
                <a:latin typeface="Aptos"/>
              </a:rPr>
              <a:t>DETAIL · EXTERNAL INPUTS</a:t>
            </a:r>
          </a:p>
        </p:txBody>
      </p:sp>
      <p:sp>
        <p:nvSpPr>
          <p:cNvPr id="5" name="TextBox 4"/>
          <p:cNvSpPr txBox="1"/>
          <p:nvPr/>
        </p:nvSpPr>
        <p:spPr>
          <a:xfrm>
            <a:off x="384048" y="6670548"/>
            <a:ext cx="4754880" cy="109728"/>
          </a:xfrm>
          <a:prstGeom prst="rect">
            <a:avLst/>
          </a:prstGeom>
          <a:noFill/>
        </p:spPr>
        <p:txBody>
          <a:bodyPr wrap="square" lIns="0" rIns="0" tIns="0" bIns="0" anchor="t">
            <a:spAutoFit/>
          </a:bodyPr>
          <a:lstStyle/>
          <a:p>
            <a:pPr algn="l"/>
            <a:r>
              <a:rPr sz="560" b="0" i="0">
                <a:solidFill>
                  <a:srgbClr val="DCEAF5"/>
                </a:solidFill>
                <a:latin typeface="Aptos"/>
              </a:rPr>
              <a:t>IASI · Introducing IASI · detail</a:t>
            </a:r>
          </a:p>
        </p:txBody>
      </p:sp>
      <p:sp>
        <p:nvSpPr>
          <p:cNvPr id="6" name="TextBox 5"/>
          <p:cNvSpPr txBox="1"/>
          <p:nvPr/>
        </p:nvSpPr>
        <p:spPr>
          <a:xfrm>
            <a:off x="11597639" y="6670548"/>
            <a:ext cx="256032" cy="109728"/>
          </a:xfrm>
          <a:prstGeom prst="rect">
            <a:avLst/>
          </a:prstGeom>
          <a:noFill/>
        </p:spPr>
        <p:txBody>
          <a:bodyPr wrap="square" lIns="0" rIns="0" tIns="0" bIns="0" anchor="t">
            <a:spAutoFit/>
          </a:bodyPr>
          <a:lstStyle/>
          <a:p>
            <a:pPr algn="r"/>
            <a:r>
              <a:rPr sz="560" b="1" i="0">
                <a:solidFill>
                  <a:srgbClr val="FFFFFF"/>
                </a:solidFill>
                <a:latin typeface="Aptos"/>
              </a:rPr>
              <a:t>04</a:t>
            </a:r>
          </a:p>
        </p:txBody>
      </p:sp>
      <p:sp>
        <p:nvSpPr>
          <p:cNvPr id="7" name="TextBox 6"/>
          <p:cNvSpPr txBox="1"/>
          <p:nvPr/>
        </p:nvSpPr>
        <p:spPr>
          <a:xfrm>
            <a:off x="749808" y="566928"/>
            <a:ext cx="10241280" cy="438912"/>
          </a:xfrm>
          <a:prstGeom prst="rect">
            <a:avLst/>
          </a:prstGeom>
          <a:noFill/>
        </p:spPr>
        <p:txBody>
          <a:bodyPr wrap="square" lIns="0" rIns="0" tIns="0" bIns="0" anchor="t">
            <a:spAutoFit/>
          </a:bodyPr>
          <a:lstStyle/>
          <a:p>
            <a:pPr algn="l"/>
            <a:r>
              <a:rPr sz="2400" b="1" i="0">
                <a:solidFill>
                  <a:srgbClr val="39729E"/>
                </a:solidFill>
                <a:latin typeface="Cormorant Garamond"/>
              </a:rPr>
              <a:t>External inputs</a:t>
            </a:r>
          </a:p>
        </p:txBody>
      </p:sp>
      <p:sp>
        <p:nvSpPr>
          <p:cNvPr id="8" name="TextBox 7"/>
          <p:cNvSpPr txBox="1"/>
          <p:nvPr/>
        </p:nvSpPr>
        <p:spPr>
          <a:xfrm>
            <a:off x="768096" y="1005840"/>
            <a:ext cx="10149840" cy="329184"/>
          </a:xfrm>
          <a:prstGeom prst="rect">
            <a:avLst/>
          </a:prstGeom>
          <a:noFill/>
        </p:spPr>
        <p:txBody>
          <a:bodyPr wrap="square" lIns="0" rIns="0" tIns="0" bIns="0" anchor="t">
            <a:spAutoFit/>
          </a:bodyPr>
          <a:lstStyle/>
          <a:p>
            <a:pPr algn="l"/>
            <a:r>
              <a:rPr sz="1080" b="0" i="0">
                <a:solidFill>
                  <a:srgbClr val="52606D"/>
                </a:solidFill>
                <a:latin typeface="Aptos"/>
              </a:rPr>
              <a:t>Outside → Inputs</a:t>
            </a:r>
          </a:p>
        </p:txBody>
      </p:sp>
      <p:sp>
        <p:nvSpPr>
          <p:cNvPr id="9" name="TextBox 8"/>
          <p:cNvSpPr txBox="1"/>
          <p:nvPr/>
        </p:nvSpPr>
        <p:spPr>
          <a:xfrm>
            <a:off x="804672" y="1389888"/>
            <a:ext cx="10149840" cy="502920"/>
          </a:xfrm>
          <a:prstGeom prst="rect">
            <a:avLst/>
          </a:prstGeom>
          <a:noFill/>
        </p:spPr>
        <p:txBody>
          <a:bodyPr wrap="square" lIns="0" rIns="0" tIns="0" bIns="0" anchor="t">
            <a:spAutoFit/>
          </a:bodyPr>
          <a:lstStyle/>
          <a:p>
            <a:pPr algn="l"/>
            <a:r>
              <a:rPr sz="1520" b="1" i="0">
                <a:solidFill>
                  <a:srgbClr val="1F2933"/>
                </a:solidFill>
                <a:latin typeface="Aptos"/>
              </a:rPr>
              <a:t>Anything that reaches IASI from outside enters as-is, in its original format, without normalization.</a:t>
            </a:r>
          </a:p>
        </p:txBody>
      </p:sp>
      <p:sp>
        <p:nvSpPr>
          <p:cNvPr id="10" name="Rounded Rectangle 9"/>
          <p:cNvSpPr/>
          <p:nvPr/>
        </p:nvSpPr>
        <p:spPr>
          <a:xfrm>
            <a:off x="822960" y="2240280"/>
            <a:ext cx="1280160" cy="1481328"/>
          </a:xfrm>
          <a:prstGeom prst="roundRect">
            <a:avLst/>
          </a:prstGeom>
          <a:solidFill>
            <a:srgbClr val="FFFFFF"/>
          </a:solidFill>
          <a:ln w="12700">
            <a:solidFill>
              <a:srgbClr val="DC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24712" y="2496312"/>
            <a:ext cx="676656" cy="676656"/>
          </a:xfrm>
          <a:prstGeom prst="roundRect">
            <a:avLst/>
          </a:prstGeom>
          <a:solidFill>
            <a:srgbClr val="EC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2688336"/>
            <a:ext cx="713232" cy="228600"/>
          </a:xfrm>
          <a:prstGeom prst="rect">
            <a:avLst/>
          </a:prstGeom>
          <a:noFill/>
        </p:spPr>
        <p:txBody>
          <a:bodyPr wrap="square" lIns="0" rIns="0" tIns="0" bIns="0" anchor="t">
            <a:spAutoFit/>
          </a:bodyPr>
          <a:lstStyle/>
          <a:p>
            <a:pPr algn="ctr"/>
            <a:r>
              <a:rPr sz="919" b="1" i="0">
                <a:solidFill>
                  <a:srgbClr val="FFFFFF"/>
                </a:solidFill>
                <a:latin typeface="Aptos"/>
              </a:rPr>
              <a:t>PDF</a:t>
            </a:r>
          </a:p>
        </p:txBody>
      </p:sp>
      <p:sp>
        <p:nvSpPr>
          <p:cNvPr id="13" name="TextBox 12"/>
          <p:cNvSpPr txBox="1"/>
          <p:nvPr/>
        </p:nvSpPr>
        <p:spPr>
          <a:xfrm>
            <a:off x="822960" y="3310128"/>
            <a:ext cx="1280160" cy="237744"/>
          </a:xfrm>
          <a:prstGeom prst="rect">
            <a:avLst/>
          </a:prstGeom>
          <a:noFill/>
        </p:spPr>
        <p:txBody>
          <a:bodyPr wrap="square" lIns="0" rIns="0" tIns="0" bIns="0" anchor="t">
            <a:spAutoFit/>
          </a:bodyPr>
          <a:lstStyle/>
          <a:p>
            <a:pPr algn="ctr"/>
            <a:r>
              <a:rPr sz="819" b="1" i="0">
                <a:solidFill>
                  <a:srgbClr val="1F2933"/>
                </a:solidFill>
                <a:latin typeface="Aptos"/>
              </a:rPr>
              <a:t>PDF</a:t>
            </a:r>
          </a:p>
        </p:txBody>
      </p:sp>
      <p:sp>
        <p:nvSpPr>
          <p:cNvPr id="14" name="Rounded Rectangle 13"/>
          <p:cNvSpPr/>
          <p:nvPr/>
        </p:nvSpPr>
        <p:spPr>
          <a:xfrm>
            <a:off x="2377440" y="2240280"/>
            <a:ext cx="1280160" cy="1481328"/>
          </a:xfrm>
          <a:prstGeom prst="roundRect">
            <a:avLst/>
          </a:prstGeom>
          <a:solidFill>
            <a:srgbClr val="FFFFFF"/>
          </a:solidFill>
          <a:ln w="12700">
            <a:solidFill>
              <a:srgbClr val="DC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679192" y="2496312"/>
            <a:ext cx="676656" cy="676656"/>
          </a:xfrm>
          <a:prstGeom prst="roundRect">
            <a:avLst/>
          </a:prstGeom>
          <a:solidFill>
            <a:srgbClr val="2B5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60904" y="2688336"/>
            <a:ext cx="713232" cy="228600"/>
          </a:xfrm>
          <a:prstGeom prst="rect">
            <a:avLst/>
          </a:prstGeom>
          <a:noFill/>
        </p:spPr>
        <p:txBody>
          <a:bodyPr wrap="square" lIns="0" rIns="0" tIns="0" bIns="0" anchor="t">
            <a:spAutoFit/>
          </a:bodyPr>
          <a:lstStyle/>
          <a:p>
            <a:pPr algn="ctr"/>
            <a:r>
              <a:rPr sz="919" b="1" i="0">
                <a:solidFill>
                  <a:srgbClr val="FFFFFF"/>
                </a:solidFill>
                <a:latin typeface="Aptos"/>
              </a:rPr>
              <a:t>Word</a:t>
            </a:r>
          </a:p>
        </p:txBody>
      </p:sp>
      <p:sp>
        <p:nvSpPr>
          <p:cNvPr id="17" name="TextBox 16"/>
          <p:cNvSpPr txBox="1"/>
          <p:nvPr/>
        </p:nvSpPr>
        <p:spPr>
          <a:xfrm>
            <a:off x="2377440" y="3310128"/>
            <a:ext cx="1280160" cy="237744"/>
          </a:xfrm>
          <a:prstGeom prst="rect">
            <a:avLst/>
          </a:prstGeom>
          <a:noFill/>
        </p:spPr>
        <p:txBody>
          <a:bodyPr wrap="square" lIns="0" rIns="0" tIns="0" bIns="0" anchor="t">
            <a:spAutoFit/>
          </a:bodyPr>
          <a:lstStyle/>
          <a:p>
            <a:pPr algn="ctr"/>
            <a:r>
              <a:rPr sz="819" b="1" i="0">
                <a:solidFill>
                  <a:srgbClr val="1F2933"/>
                </a:solidFill>
                <a:latin typeface="Aptos"/>
              </a:rPr>
              <a:t>Word</a:t>
            </a:r>
          </a:p>
        </p:txBody>
      </p:sp>
      <p:sp>
        <p:nvSpPr>
          <p:cNvPr id="18" name="Rounded Rectangle 17"/>
          <p:cNvSpPr/>
          <p:nvPr/>
        </p:nvSpPr>
        <p:spPr>
          <a:xfrm>
            <a:off x="3931920" y="2240280"/>
            <a:ext cx="1280160" cy="1481328"/>
          </a:xfrm>
          <a:prstGeom prst="roundRect">
            <a:avLst/>
          </a:prstGeom>
          <a:solidFill>
            <a:srgbClr val="FFFFFF"/>
          </a:solidFill>
          <a:ln w="12700">
            <a:solidFill>
              <a:srgbClr val="DC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33672" y="2496312"/>
            <a:ext cx="676656" cy="676656"/>
          </a:xfrm>
          <a:prstGeom prst="roundRect">
            <a:avLst/>
          </a:prstGeom>
          <a:solidFill>
            <a:srgbClr val="D24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5384" y="2688336"/>
            <a:ext cx="713232" cy="228600"/>
          </a:xfrm>
          <a:prstGeom prst="rect">
            <a:avLst/>
          </a:prstGeom>
          <a:noFill/>
        </p:spPr>
        <p:txBody>
          <a:bodyPr wrap="square" lIns="0" rIns="0" tIns="0" bIns="0" anchor="t">
            <a:spAutoFit/>
          </a:bodyPr>
          <a:lstStyle/>
          <a:p>
            <a:pPr algn="ctr"/>
            <a:r>
              <a:rPr sz="919" b="1" i="0">
                <a:solidFill>
                  <a:srgbClr val="FFFFFF"/>
                </a:solidFill>
                <a:latin typeface="Aptos"/>
              </a:rPr>
              <a:t>PPT</a:t>
            </a:r>
          </a:p>
        </p:txBody>
      </p:sp>
      <p:sp>
        <p:nvSpPr>
          <p:cNvPr id="21" name="TextBox 20"/>
          <p:cNvSpPr txBox="1"/>
          <p:nvPr/>
        </p:nvSpPr>
        <p:spPr>
          <a:xfrm>
            <a:off x="3931920" y="3310128"/>
            <a:ext cx="1280160" cy="237744"/>
          </a:xfrm>
          <a:prstGeom prst="rect">
            <a:avLst/>
          </a:prstGeom>
          <a:noFill/>
        </p:spPr>
        <p:txBody>
          <a:bodyPr wrap="square" lIns="0" rIns="0" tIns="0" bIns="0" anchor="t">
            <a:spAutoFit/>
          </a:bodyPr>
          <a:lstStyle/>
          <a:p>
            <a:pPr algn="ctr"/>
            <a:r>
              <a:rPr sz="819" b="1" i="0">
                <a:solidFill>
                  <a:srgbClr val="1F2933"/>
                </a:solidFill>
                <a:latin typeface="Aptos"/>
              </a:rPr>
              <a:t>PowerPoint</a:t>
            </a:r>
          </a:p>
        </p:txBody>
      </p:sp>
      <p:sp>
        <p:nvSpPr>
          <p:cNvPr id="22" name="Rounded Rectangle 21"/>
          <p:cNvSpPr/>
          <p:nvPr/>
        </p:nvSpPr>
        <p:spPr>
          <a:xfrm>
            <a:off x="5486400" y="2240280"/>
            <a:ext cx="1280160" cy="1481328"/>
          </a:xfrm>
          <a:prstGeom prst="roundRect">
            <a:avLst/>
          </a:prstGeom>
          <a:solidFill>
            <a:srgbClr val="FFFFFF"/>
          </a:solidFill>
          <a:ln w="12700">
            <a:solidFill>
              <a:srgbClr val="DC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788152" y="2496312"/>
            <a:ext cx="676656" cy="676656"/>
          </a:xfrm>
          <a:prstGeom prst="round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9864" y="2688336"/>
            <a:ext cx="713232" cy="228600"/>
          </a:xfrm>
          <a:prstGeom prst="rect">
            <a:avLst/>
          </a:prstGeom>
          <a:noFill/>
        </p:spPr>
        <p:txBody>
          <a:bodyPr wrap="square" lIns="0" rIns="0" tIns="0" bIns="0" anchor="t">
            <a:spAutoFit/>
          </a:bodyPr>
          <a:lstStyle/>
          <a:p>
            <a:pPr algn="ctr"/>
            <a:r>
              <a:rPr sz="919" b="1" i="0">
                <a:solidFill>
                  <a:srgbClr val="FFFFFF"/>
                </a:solidFill>
                <a:latin typeface="Aptos"/>
              </a:rPr>
              <a:t>Excel</a:t>
            </a:r>
          </a:p>
        </p:txBody>
      </p:sp>
      <p:sp>
        <p:nvSpPr>
          <p:cNvPr id="25" name="TextBox 24"/>
          <p:cNvSpPr txBox="1"/>
          <p:nvPr/>
        </p:nvSpPr>
        <p:spPr>
          <a:xfrm>
            <a:off x="5486400" y="3310128"/>
            <a:ext cx="1280160" cy="237744"/>
          </a:xfrm>
          <a:prstGeom prst="rect">
            <a:avLst/>
          </a:prstGeom>
          <a:noFill/>
        </p:spPr>
        <p:txBody>
          <a:bodyPr wrap="square" lIns="0" rIns="0" tIns="0" bIns="0" anchor="t">
            <a:spAutoFit/>
          </a:bodyPr>
          <a:lstStyle/>
          <a:p>
            <a:pPr algn="ctr"/>
            <a:r>
              <a:rPr sz="819" b="1" i="0">
                <a:solidFill>
                  <a:srgbClr val="1F2933"/>
                </a:solidFill>
                <a:latin typeface="Aptos"/>
              </a:rPr>
              <a:t>Excel</a:t>
            </a:r>
          </a:p>
        </p:txBody>
      </p:sp>
      <p:sp>
        <p:nvSpPr>
          <p:cNvPr id="26" name="Rounded Rectangle 25"/>
          <p:cNvSpPr/>
          <p:nvPr/>
        </p:nvSpPr>
        <p:spPr>
          <a:xfrm>
            <a:off x="7040880" y="2240280"/>
            <a:ext cx="1280160" cy="1481328"/>
          </a:xfrm>
          <a:prstGeom prst="roundRect">
            <a:avLst/>
          </a:prstGeom>
          <a:solidFill>
            <a:srgbClr val="FFFFFF"/>
          </a:solidFill>
          <a:ln w="12700">
            <a:solidFill>
              <a:srgbClr val="DC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342632" y="2496312"/>
            <a:ext cx="676656" cy="676656"/>
          </a:xfrm>
          <a:prstGeom prst="roundRect">
            <a:avLst/>
          </a:prstGeom>
          <a:solidFill>
            <a:srgbClr val="45B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24344" y="2688336"/>
            <a:ext cx="713232" cy="228600"/>
          </a:xfrm>
          <a:prstGeom prst="rect">
            <a:avLst/>
          </a:prstGeom>
          <a:noFill/>
        </p:spPr>
        <p:txBody>
          <a:bodyPr wrap="square" lIns="0" rIns="0" tIns="0" bIns="0" anchor="t">
            <a:spAutoFit/>
          </a:bodyPr>
          <a:lstStyle/>
          <a:p>
            <a:pPr algn="ctr"/>
            <a:r>
              <a:rPr sz="919" b="1" i="0">
                <a:solidFill>
                  <a:srgbClr val="FFFFFF"/>
                </a:solidFill>
                <a:latin typeface="Aptos"/>
              </a:rPr>
              <a:t>Email</a:t>
            </a:r>
          </a:p>
        </p:txBody>
      </p:sp>
      <p:sp>
        <p:nvSpPr>
          <p:cNvPr id="29" name="TextBox 28"/>
          <p:cNvSpPr txBox="1"/>
          <p:nvPr/>
        </p:nvSpPr>
        <p:spPr>
          <a:xfrm>
            <a:off x="7040880" y="3310128"/>
            <a:ext cx="1280160" cy="237744"/>
          </a:xfrm>
          <a:prstGeom prst="rect">
            <a:avLst/>
          </a:prstGeom>
          <a:noFill/>
        </p:spPr>
        <p:txBody>
          <a:bodyPr wrap="square" lIns="0" rIns="0" tIns="0" bIns="0" anchor="t">
            <a:spAutoFit/>
          </a:bodyPr>
          <a:lstStyle/>
          <a:p>
            <a:pPr algn="ctr"/>
            <a:r>
              <a:rPr sz="819" b="1" i="0">
                <a:solidFill>
                  <a:srgbClr val="1F2933"/>
                </a:solidFill>
                <a:latin typeface="Aptos"/>
              </a:rPr>
              <a:t>Email</a:t>
            </a:r>
          </a:p>
        </p:txBody>
      </p:sp>
      <p:sp>
        <p:nvSpPr>
          <p:cNvPr id="30" name="Rounded Rectangle 29"/>
          <p:cNvSpPr/>
          <p:nvPr/>
        </p:nvSpPr>
        <p:spPr>
          <a:xfrm>
            <a:off x="8595360" y="2240280"/>
            <a:ext cx="1280160" cy="1481328"/>
          </a:xfrm>
          <a:prstGeom prst="roundRect">
            <a:avLst/>
          </a:prstGeom>
          <a:solidFill>
            <a:srgbClr val="FFFFFF"/>
          </a:solidFill>
          <a:ln w="12700">
            <a:solidFill>
              <a:srgbClr val="DC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897112" y="2496312"/>
            <a:ext cx="676656" cy="67665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78824" y="2688336"/>
            <a:ext cx="713232" cy="228600"/>
          </a:xfrm>
          <a:prstGeom prst="rect">
            <a:avLst/>
          </a:prstGeom>
          <a:noFill/>
        </p:spPr>
        <p:txBody>
          <a:bodyPr wrap="square" lIns="0" rIns="0" tIns="0" bIns="0" anchor="t">
            <a:spAutoFit/>
          </a:bodyPr>
          <a:lstStyle/>
          <a:p>
            <a:pPr algn="ctr"/>
            <a:r>
              <a:rPr sz="919" b="1" i="0">
                <a:solidFill>
                  <a:srgbClr val="FFFFFF"/>
                </a:solidFill>
                <a:latin typeface="Aptos"/>
              </a:rPr>
              <a:t>Image</a:t>
            </a:r>
          </a:p>
        </p:txBody>
      </p:sp>
      <p:sp>
        <p:nvSpPr>
          <p:cNvPr id="33" name="TextBox 32"/>
          <p:cNvSpPr txBox="1"/>
          <p:nvPr/>
        </p:nvSpPr>
        <p:spPr>
          <a:xfrm>
            <a:off x="8595360" y="3310128"/>
            <a:ext cx="1280160" cy="237744"/>
          </a:xfrm>
          <a:prstGeom prst="rect">
            <a:avLst/>
          </a:prstGeom>
          <a:noFill/>
        </p:spPr>
        <p:txBody>
          <a:bodyPr wrap="square" lIns="0" rIns="0" tIns="0" bIns="0" anchor="t">
            <a:spAutoFit/>
          </a:bodyPr>
          <a:lstStyle/>
          <a:p>
            <a:pPr algn="ctr"/>
            <a:r>
              <a:rPr sz="819" b="1" i="0">
                <a:solidFill>
                  <a:srgbClr val="1F2933"/>
                </a:solidFill>
                <a:latin typeface="Aptos"/>
              </a:rPr>
              <a:t>Image</a:t>
            </a:r>
          </a:p>
        </p:txBody>
      </p:sp>
      <p:sp>
        <p:nvSpPr>
          <p:cNvPr id="34" name="Rounded Rectangle 33"/>
          <p:cNvSpPr/>
          <p:nvPr/>
        </p:nvSpPr>
        <p:spPr>
          <a:xfrm>
            <a:off x="10149840" y="2240280"/>
            <a:ext cx="1280160" cy="1481328"/>
          </a:xfrm>
          <a:prstGeom prst="roundRect">
            <a:avLst/>
          </a:prstGeom>
          <a:solidFill>
            <a:srgbClr val="FFFFFF"/>
          </a:solidFill>
          <a:ln w="12700">
            <a:solidFill>
              <a:srgbClr val="DC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451592" y="2496312"/>
            <a:ext cx="676656" cy="676656"/>
          </a:xfrm>
          <a:prstGeom prst="round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33304" y="2688336"/>
            <a:ext cx="713232" cy="228600"/>
          </a:xfrm>
          <a:prstGeom prst="rect">
            <a:avLst/>
          </a:prstGeom>
          <a:noFill/>
        </p:spPr>
        <p:txBody>
          <a:bodyPr wrap="square" lIns="0" rIns="0" tIns="0" bIns="0" anchor="t">
            <a:spAutoFit/>
          </a:bodyPr>
          <a:lstStyle/>
          <a:p>
            <a:pPr algn="ctr"/>
            <a:r>
              <a:rPr sz="919" b="1" i="0">
                <a:solidFill>
                  <a:srgbClr val="FFFFFF"/>
                </a:solidFill>
                <a:latin typeface="Aptos"/>
              </a:rPr>
              <a:t>Other</a:t>
            </a:r>
          </a:p>
        </p:txBody>
      </p:sp>
      <p:sp>
        <p:nvSpPr>
          <p:cNvPr id="37" name="TextBox 36"/>
          <p:cNvSpPr txBox="1"/>
          <p:nvPr/>
        </p:nvSpPr>
        <p:spPr>
          <a:xfrm>
            <a:off x="10149840" y="3310128"/>
            <a:ext cx="1280160" cy="237744"/>
          </a:xfrm>
          <a:prstGeom prst="rect">
            <a:avLst/>
          </a:prstGeom>
          <a:noFill/>
        </p:spPr>
        <p:txBody>
          <a:bodyPr wrap="square" lIns="0" rIns="0" tIns="0" bIns="0" anchor="t">
            <a:spAutoFit/>
          </a:bodyPr>
          <a:lstStyle/>
          <a:p>
            <a:pPr algn="ctr"/>
            <a:r>
              <a:rPr sz="819" b="1" i="0">
                <a:solidFill>
                  <a:srgbClr val="1F2933"/>
                </a:solidFill>
                <a:latin typeface="Aptos"/>
              </a:rPr>
              <a:t>Other</a:t>
            </a:r>
          </a:p>
        </p:txBody>
      </p:sp>
      <p:sp>
        <p:nvSpPr>
          <p:cNvPr id="38" name="Rounded Rectangle 37"/>
          <p:cNvSpPr/>
          <p:nvPr/>
        </p:nvSpPr>
        <p:spPr>
          <a:xfrm>
            <a:off x="2286000" y="4315968"/>
            <a:ext cx="7498079" cy="640080"/>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68880" y="4517136"/>
            <a:ext cx="7132320" cy="228600"/>
          </a:xfrm>
          <a:prstGeom prst="rect">
            <a:avLst/>
          </a:prstGeom>
          <a:noFill/>
        </p:spPr>
        <p:txBody>
          <a:bodyPr wrap="square" lIns="0" rIns="0" tIns="0" bIns="0" anchor="t">
            <a:spAutoFit/>
          </a:bodyPr>
          <a:lstStyle/>
          <a:p>
            <a:pPr algn="ctr"/>
            <a:r>
              <a:rPr sz="1000" b="1" i="0">
                <a:solidFill>
                  <a:srgbClr val="39729E"/>
                </a:solidFill>
                <a:latin typeface="Aptos"/>
              </a:rPr>
              <a:t>ENTER AS-IS   ·   ORIGINAL FORMAT   ·   NO NORMALIZATION</a:t>
            </a:r>
          </a:p>
        </p:txBody>
      </p:sp>
      <p:sp>
        <p:nvSpPr>
          <p:cNvPr id="40" name="Rounded Rectangle 39">
            <a:hlinkClick action="ppaction://hlinksldjump" r:id="rId2"/>
          </p:cNvPr>
          <p:cNvSpPr/>
          <p:nvPr/>
        </p:nvSpPr>
        <p:spPr>
          <a:xfrm>
            <a:off x="10317480" y="6199632"/>
            <a:ext cx="1325880" cy="310896"/>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363199" y="6249924"/>
            <a:ext cx="1234440" cy="228600"/>
          </a:xfrm>
          <a:prstGeom prst="rect">
            <a:avLst/>
          </a:prstGeom>
          <a:noFill/>
        </p:spPr>
        <p:txBody>
          <a:bodyPr wrap="square" lIns="0" rIns="0" tIns="0" bIns="0" anchor="ctr">
            <a:spAutoFit/>
          </a:bodyPr>
          <a:lstStyle/>
          <a:p>
            <a:pPr algn="ctr"/>
            <a:r>
              <a:rPr sz="760" b="1" i="0">
                <a:solidFill>
                  <a:srgbClr val="39729E"/>
                </a:solidFill>
                <a:latin typeface="Aptos"/>
              </a:rPr>
              <a:t>←  Back to 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5" name="Title 5"/>
          <p:cNvSpPr>
            <a:spLocks noGrp="1"/>
          </p:cNvSpPr>
          <p:nvPr>
            <p:ph type="title"/>
          </p:nvPr>
        </p:nvSpPr>
        <p:spPr>
          <a:xfrm>
            <a:off x="0" y="6900000"/>
            <a:ext cx="1000" cy="1000"/>
          </a:xfrm>
          <a:noFill/>
          <a:ln>
            <a:noFill/>
          </a:ln>
        </p:spPr>
        <p:txBody>
          <a:bodyPr/>
          <a:lstStyle/>
          <a:p>
            <a:r>
              <a:rPr lang="en-US" sz="100"/>
              <a:t>Inputs</a:t>
            </a:r>
            <a:endParaRPr lang="en-US" sz="100"/>
          </a:p>
        </p:txBody>
      </p:sp>
      <p:sp>
        <p:nvSpPr>
          <p:cNvPr id="2" name="Rectangle 1"/>
          <p:cNvSpPr/>
          <p:nvPr/>
        </p:nvSpPr>
        <p:spPr>
          <a:xfrm>
            <a:off x="0" y="0"/>
            <a:ext cx="12191999" cy="25603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999" cy="237744"/>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50292"/>
            <a:ext cx="2743200" cy="146304"/>
          </a:xfrm>
          <a:prstGeom prst="rect">
            <a:avLst/>
          </a:prstGeom>
          <a:noFill/>
        </p:spPr>
        <p:txBody>
          <a:bodyPr wrap="square" lIns="0" rIns="0" tIns="0" bIns="0" anchor="t">
            <a:spAutoFit/>
          </a:bodyPr>
          <a:lstStyle/>
          <a:p>
            <a:pPr algn="l"/>
            <a:r>
              <a:rPr sz="580" b="1" i="0">
                <a:solidFill>
                  <a:srgbClr val="FFFFFF"/>
                </a:solidFill>
                <a:latin typeface="Aptos"/>
              </a:rPr>
              <a:t>DETAIL · INPUTS</a:t>
            </a:r>
          </a:p>
        </p:txBody>
      </p:sp>
      <p:sp>
        <p:nvSpPr>
          <p:cNvPr id="5" name="TextBox 4"/>
          <p:cNvSpPr txBox="1"/>
          <p:nvPr/>
        </p:nvSpPr>
        <p:spPr>
          <a:xfrm>
            <a:off x="384048" y="6670548"/>
            <a:ext cx="4754880" cy="109728"/>
          </a:xfrm>
          <a:prstGeom prst="rect">
            <a:avLst/>
          </a:prstGeom>
          <a:noFill/>
        </p:spPr>
        <p:txBody>
          <a:bodyPr wrap="square" lIns="0" rIns="0" tIns="0" bIns="0" anchor="t">
            <a:spAutoFit/>
          </a:bodyPr>
          <a:lstStyle/>
          <a:p>
            <a:pPr algn="l"/>
            <a:r>
              <a:rPr sz="560" b="0" i="0">
                <a:solidFill>
                  <a:srgbClr val="DCEAF5"/>
                </a:solidFill>
                <a:latin typeface="Aptos"/>
              </a:rPr>
              <a:t>IASI · Introducing IASI · detail</a:t>
            </a:r>
          </a:p>
        </p:txBody>
      </p:sp>
      <p:sp>
        <p:nvSpPr>
          <p:cNvPr id="6" name="TextBox 5"/>
          <p:cNvSpPr txBox="1"/>
          <p:nvPr/>
        </p:nvSpPr>
        <p:spPr>
          <a:xfrm>
            <a:off x="11597639" y="6670548"/>
            <a:ext cx="256032" cy="109728"/>
          </a:xfrm>
          <a:prstGeom prst="rect">
            <a:avLst/>
          </a:prstGeom>
          <a:noFill/>
        </p:spPr>
        <p:txBody>
          <a:bodyPr wrap="square" lIns="0" rIns="0" tIns="0" bIns="0" anchor="t">
            <a:spAutoFit/>
          </a:bodyPr>
          <a:lstStyle/>
          <a:p>
            <a:pPr algn="r"/>
            <a:r>
              <a:rPr sz="560" b="1" i="0">
                <a:solidFill>
                  <a:srgbClr val="FFFFFF"/>
                </a:solidFill>
                <a:latin typeface="Aptos"/>
              </a:rPr>
              <a:t>05</a:t>
            </a:r>
          </a:p>
        </p:txBody>
      </p:sp>
      <p:sp>
        <p:nvSpPr>
          <p:cNvPr id="7" name="TextBox 6"/>
          <p:cNvSpPr txBox="1"/>
          <p:nvPr/>
        </p:nvSpPr>
        <p:spPr>
          <a:xfrm>
            <a:off x="749808" y="566928"/>
            <a:ext cx="10241280" cy="438912"/>
          </a:xfrm>
          <a:prstGeom prst="rect">
            <a:avLst/>
          </a:prstGeom>
          <a:noFill/>
        </p:spPr>
        <p:txBody>
          <a:bodyPr wrap="square" lIns="0" rIns="0" tIns="0" bIns="0" anchor="t">
            <a:spAutoFit/>
          </a:bodyPr>
          <a:lstStyle/>
          <a:p>
            <a:pPr algn="l"/>
            <a:r>
              <a:rPr sz="2400" b="1" i="0">
                <a:solidFill>
                  <a:srgbClr val="39729E"/>
                </a:solidFill>
                <a:latin typeface="Cormorant Garamond"/>
              </a:rPr>
              <a:t>Inputs</a:t>
            </a:r>
          </a:p>
        </p:txBody>
      </p:sp>
      <p:sp>
        <p:nvSpPr>
          <p:cNvPr id="8" name="TextBox 7"/>
          <p:cNvSpPr txBox="1"/>
          <p:nvPr/>
        </p:nvSpPr>
        <p:spPr>
          <a:xfrm>
            <a:off x="768096" y="1005840"/>
            <a:ext cx="10149840" cy="329184"/>
          </a:xfrm>
          <a:prstGeom prst="rect">
            <a:avLst/>
          </a:prstGeom>
          <a:noFill/>
        </p:spPr>
        <p:txBody>
          <a:bodyPr wrap="square" lIns="0" rIns="0" tIns="0" bIns="0" anchor="t">
            <a:spAutoFit/>
          </a:bodyPr>
          <a:lstStyle/>
          <a:p>
            <a:pPr algn="l"/>
            <a:r>
              <a:rPr sz="1080" b="0" i="0">
                <a:solidFill>
                  <a:srgbClr val="52606D"/>
                </a:solidFill>
                <a:latin typeface="Aptos"/>
              </a:rPr>
              <a:t>Inside IASI · organized by provenance</a:t>
            </a:r>
          </a:p>
        </p:txBody>
      </p:sp>
      <p:sp>
        <p:nvSpPr>
          <p:cNvPr id="9" name="TextBox 8"/>
          <p:cNvSpPr txBox="1"/>
          <p:nvPr/>
        </p:nvSpPr>
        <p:spPr>
          <a:xfrm>
            <a:off x="804672" y="1389888"/>
            <a:ext cx="10241280" cy="502920"/>
          </a:xfrm>
          <a:prstGeom prst="rect">
            <a:avLst/>
          </a:prstGeom>
          <a:noFill/>
        </p:spPr>
        <p:txBody>
          <a:bodyPr wrap="square" lIns="0" rIns="0" tIns="0" bIns="0" anchor="t">
            <a:spAutoFit/>
          </a:bodyPr>
          <a:lstStyle/>
          <a:p>
            <a:pPr algn="l"/>
            <a:r>
              <a:rPr sz="1480" b="1" i="0">
                <a:solidFill>
                  <a:srgbClr val="1F2933"/>
                </a:solidFill>
                <a:latin typeface="Aptos"/>
              </a:rPr>
              <a:t>Inputs are organized by provenance: where the knowledge comes from and how it enters the engineering process.</a:t>
            </a:r>
          </a:p>
        </p:txBody>
      </p:sp>
      <p:sp>
        <p:nvSpPr>
          <p:cNvPr id="10" name="Rounded Rectangle 9"/>
          <p:cNvSpPr/>
          <p:nvPr/>
        </p:nvSpPr>
        <p:spPr>
          <a:xfrm>
            <a:off x="841248" y="2212848"/>
            <a:ext cx="3337560" cy="2240280"/>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5840" y="2039112"/>
            <a:ext cx="1280160" cy="25603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542032"/>
            <a:ext cx="2834640" cy="347472"/>
          </a:xfrm>
          <a:prstGeom prst="rect">
            <a:avLst/>
          </a:prstGeom>
          <a:noFill/>
        </p:spPr>
        <p:txBody>
          <a:bodyPr wrap="square" lIns="0" rIns="0" tIns="0" bIns="0" anchor="t">
            <a:spAutoFit/>
          </a:bodyPr>
          <a:lstStyle/>
          <a:p>
            <a:pPr algn="l"/>
            <a:r>
              <a:rPr sz="1800" b="1" i="0">
                <a:solidFill>
                  <a:srgbClr val="39729E"/>
                </a:solidFill>
                <a:latin typeface="Aptos Mono"/>
              </a:rPr>
              <a:t>externals</a:t>
            </a:r>
          </a:p>
        </p:txBody>
      </p:sp>
      <p:sp>
        <p:nvSpPr>
          <p:cNvPr id="13" name="TextBox 12"/>
          <p:cNvSpPr txBox="1"/>
          <p:nvPr/>
        </p:nvSpPr>
        <p:spPr>
          <a:xfrm>
            <a:off x="1097280" y="3090672"/>
            <a:ext cx="2788920" cy="868680"/>
          </a:xfrm>
          <a:prstGeom prst="rect">
            <a:avLst/>
          </a:prstGeom>
          <a:noFill/>
        </p:spPr>
        <p:txBody>
          <a:bodyPr wrap="square" lIns="0" rIns="0" tIns="0" bIns="0" anchor="t">
            <a:spAutoFit/>
          </a:bodyPr>
          <a:lstStyle/>
          <a:p>
            <a:pPr algn="l"/>
            <a:r>
              <a:rPr sz="1050" b="0" i="0">
                <a:solidFill>
                  <a:srgbClr val="52606D"/>
                </a:solidFill>
                <a:latin typeface="Aptos"/>
              </a:rPr>
              <a:t>Material that originates outside IASI and is preserved as received.</a:t>
            </a:r>
          </a:p>
        </p:txBody>
      </p:sp>
      <p:sp>
        <p:nvSpPr>
          <p:cNvPr id="14" name="Rounded Rectangle 13"/>
          <p:cNvSpPr/>
          <p:nvPr/>
        </p:nvSpPr>
        <p:spPr>
          <a:xfrm>
            <a:off x="4608576" y="2212848"/>
            <a:ext cx="3337560" cy="2240280"/>
          </a:xfrm>
          <a:prstGeom prst="roundRect">
            <a:avLst/>
          </a:prstGeom>
          <a:solidFill>
            <a:srgbClr val="E7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73168" y="2039112"/>
            <a:ext cx="1280160" cy="256032"/>
          </a:xfrm>
          <a:prstGeom prst="rect">
            <a:avLst/>
          </a:prstGeom>
          <a:solidFill>
            <a:srgbClr val="45B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64608" y="2542032"/>
            <a:ext cx="2834640" cy="347472"/>
          </a:xfrm>
          <a:prstGeom prst="rect">
            <a:avLst/>
          </a:prstGeom>
          <a:noFill/>
        </p:spPr>
        <p:txBody>
          <a:bodyPr wrap="square" lIns="0" rIns="0" tIns="0" bIns="0" anchor="t">
            <a:spAutoFit/>
          </a:bodyPr>
          <a:lstStyle/>
          <a:p>
            <a:pPr algn="l"/>
            <a:r>
              <a:rPr sz="1800" b="1" i="0">
                <a:solidFill>
                  <a:srgbClr val="45B8A7"/>
                </a:solidFill>
                <a:latin typeface="Aptos Mono"/>
              </a:rPr>
              <a:t>internals</a:t>
            </a:r>
          </a:p>
        </p:txBody>
      </p:sp>
      <p:sp>
        <p:nvSpPr>
          <p:cNvPr id="17" name="TextBox 16"/>
          <p:cNvSpPr txBox="1"/>
          <p:nvPr/>
        </p:nvSpPr>
        <p:spPr>
          <a:xfrm>
            <a:off x="4864608" y="3090672"/>
            <a:ext cx="2788920" cy="868680"/>
          </a:xfrm>
          <a:prstGeom prst="rect">
            <a:avLst/>
          </a:prstGeom>
          <a:noFill/>
        </p:spPr>
        <p:txBody>
          <a:bodyPr wrap="square" lIns="0" rIns="0" tIns="0" bIns="0" anchor="t">
            <a:spAutoFit/>
          </a:bodyPr>
          <a:lstStyle/>
          <a:p>
            <a:pPr algn="l"/>
            <a:r>
              <a:rPr sz="1050" b="0" i="0">
                <a:solidFill>
                  <a:srgbClr val="52606D"/>
                </a:solidFill>
                <a:latin typeface="Aptos"/>
              </a:rPr>
              <a:t>Knowledge and decisions created inside the IASI engineering process.</a:t>
            </a:r>
          </a:p>
        </p:txBody>
      </p:sp>
      <p:sp>
        <p:nvSpPr>
          <p:cNvPr id="18" name="Rounded Rectangle 17"/>
          <p:cNvSpPr/>
          <p:nvPr/>
        </p:nvSpPr>
        <p:spPr>
          <a:xfrm>
            <a:off x="8375904" y="2212848"/>
            <a:ext cx="3337560" cy="2240280"/>
          </a:xfrm>
          <a:prstGeom prst="roundRect">
            <a:avLst/>
          </a:prstGeom>
          <a:solidFill>
            <a:srgbClr val="F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40496" y="2039112"/>
            <a:ext cx="1280160" cy="256032"/>
          </a:xfrm>
          <a:prstGeom prst="rect">
            <a:avLst/>
          </a:prstGeom>
          <a:solidFill>
            <a:srgbClr val="F07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31936" y="2542032"/>
            <a:ext cx="2834640" cy="347472"/>
          </a:xfrm>
          <a:prstGeom prst="rect">
            <a:avLst/>
          </a:prstGeom>
          <a:noFill/>
        </p:spPr>
        <p:txBody>
          <a:bodyPr wrap="square" lIns="0" rIns="0" tIns="0" bIns="0" anchor="t">
            <a:spAutoFit/>
          </a:bodyPr>
          <a:lstStyle/>
          <a:p>
            <a:pPr algn="l"/>
            <a:r>
              <a:rPr sz="1800" b="1" i="0">
                <a:solidFill>
                  <a:srgbClr val="F07C52"/>
                </a:solidFill>
                <a:latin typeface="Aptos Mono"/>
              </a:rPr>
              <a:t>authored</a:t>
            </a:r>
          </a:p>
        </p:txBody>
      </p:sp>
      <p:sp>
        <p:nvSpPr>
          <p:cNvPr id="21" name="TextBox 20"/>
          <p:cNvSpPr txBox="1"/>
          <p:nvPr/>
        </p:nvSpPr>
        <p:spPr>
          <a:xfrm>
            <a:off x="8631936" y="3090672"/>
            <a:ext cx="2788920" cy="868680"/>
          </a:xfrm>
          <a:prstGeom prst="rect">
            <a:avLst/>
          </a:prstGeom>
          <a:noFill/>
        </p:spPr>
        <p:txBody>
          <a:bodyPr wrap="square" lIns="0" rIns="0" tIns="0" bIns="0" anchor="t">
            <a:spAutoFit/>
          </a:bodyPr>
          <a:lstStyle/>
          <a:p>
            <a:pPr algn="l"/>
            <a:r>
              <a:rPr sz="1050" b="0" i="0">
                <a:solidFill>
                  <a:srgbClr val="52606D"/>
                </a:solidFill>
                <a:latin typeface="Aptos"/>
              </a:rPr>
              <a:t>Inputs deliberately written or prepared for the project as explicit source material.</a:t>
            </a:r>
          </a:p>
        </p:txBody>
      </p:sp>
      <p:sp>
        <p:nvSpPr>
          <p:cNvPr id="22" name="TextBox 21"/>
          <p:cNvSpPr txBox="1"/>
          <p:nvPr/>
        </p:nvSpPr>
        <p:spPr>
          <a:xfrm>
            <a:off x="914400" y="4864608"/>
            <a:ext cx="10058400" cy="347472"/>
          </a:xfrm>
          <a:prstGeom prst="rect">
            <a:avLst/>
          </a:prstGeom>
          <a:noFill/>
        </p:spPr>
        <p:txBody>
          <a:bodyPr wrap="square" lIns="0" rIns="0" tIns="0" bIns="0" anchor="t">
            <a:spAutoFit/>
          </a:bodyPr>
          <a:lstStyle/>
          <a:p>
            <a:pPr algn="ctr"/>
            <a:r>
              <a:rPr sz="1120" b="0" i="1">
                <a:solidFill>
                  <a:srgbClr val="285B82"/>
                </a:solidFill>
                <a:latin typeface="Aptos"/>
              </a:rPr>
              <a:t>The folder name is less important than the invariant: provenance remains explicit.</a:t>
            </a:r>
          </a:p>
        </p:txBody>
      </p:sp>
      <p:sp>
        <p:nvSpPr>
          <p:cNvPr id="23" name="Rounded Rectangle 22">
            <a:hlinkClick action="ppaction://hlinksldjump" r:id="rId2"/>
          </p:cNvPr>
          <p:cNvSpPr/>
          <p:nvPr/>
        </p:nvSpPr>
        <p:spPr>
          <a:xfrm>
            <a:off x="10317480" y="6199632"/>
            <a:ext cx="1325880" cy="310896"/>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63199" y="6249924"/>
            <a:ext cx="1234440" cy="228600"/>
          </a:xfrm>
          <a:prstGeom prst="rect">
            <a:avLst/>
          </a:prstGeom>
          <a:noFill/>
        </p:spPr>
        <p:txBody>
          <a:bodyPr wrap="square" lIns="0" rIns="0" tIns="0" bIns="0" anchor="ctr">
            <a:spAutoFit/>
          </a:bodyPr>
          <a:lstStyle/>
          <a:p>
            <a:pPr algn="ctr"/>
            <a:r>
              <a:rPr sz="760" b="1" i="0">
                <a:solidFill>
                  <a:srgbClr val="39729E"/>
                </a:solidFill>
                <a:latin typeface="Aptos"/>
              </a:rPr>
              <a:t>←  Back to boundary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37" name="Title 6"/>
          <p:cNvSpPr>
            <a:spLocks noGrp="1"/>
          </p:cNvSpPr>
          <p:nvPr>
            <p:ph type="title"/>
          </p:nvPr>
        </p:nvSpPr>
        <p:spPr>
          <a:xfrm>
            <a:off x="0" y="6900000"/>
            <a:ext cx="1000" cy="1000"/>
          </a:xfrm>
          <a:noFill/>
          <a:ln>
            <a:noFill/>
          </a:ln>
        </p:spPr>
        <p:txBody>
          <a:bodyPr/>
          <a:lstStyle/>
          <a:p>
            <a:r>
              <a:rPr lang="en-US" sz="100"/>
              <a:t>Engine</a:t>
            </a:r>
            <a:endParaRPr lang="en-US" sz="100"/>
          </a:p>
        </p:txBody>
      </p:sp>
      <p:sp>
        <p:nvSpPr>
          <p:cNvPr id="2" name="Rectangle 1"/>
          <p:cNvSpPr/>
          <p:nvPr/>
        </p:nvSpPr>
        <p:spPr>
          <a:xfrm>
            <a:off x="0" y="0"/>
            <a:ext cx="12191999" cy="25603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999" cy="237744"/>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50292"/>
            <a:ext cx="2743200" cy="146304"/>
          </a:xfrm>
          <a:prstGeom prst="rect">
            <a:avLst/>
          </a:prstGeom>
          <a:noFill/>
        </p:spPr>
        <p:txBody>
          <a:bodyPr wrap="square" lIns="0" rIns="0" tIns="0" bIns="0" anchor="t">
            <a:spAutoFit/>
          </a:bodyPr>
          <a:lstStyle/>
          <a:p>
            <a:pPr algn="l"/>
            <a:r>
              <a:rPr sz="580" b="1" i="0">
                <a:solidFill>
                  <a:srgbClr val="FFFFFF"/>
                </a:solidFill>
                <a:latin typeface="Aptos"/>
              </a:rPr>
              <a:t>DETAIL · ENGINE</a:t>
            </a:r>
          </a:p>
        </p:txBody>
      </p:sp>
      <p:sp>
        <p:nvSpPr>
          <p:cNvPr id="5" name="TextBox 4"/>
          <p:cNvSpPr txBox="1"/>
          <p:nvPr/>
        </p:nvSpPr>
        <p:spPr>
          <a:xfrm>
            <a:off x="384048" y="6670548"/>
            <a:ext cx="4754880" cy="109728"/>
          </a:xfrm>
          <a:prstGeom prst="rect">
            <a:avLst/>
          </a:prstGeom>
          <a:noFill/>
        </p:spPr>
        <p:txBody>
          <a:bodyPr wrap="square" lIns="0" rIns="0" tIns="0" bIns="0" anchor="t">
            <a:spAutoFit/>
          </a:bodyPr>
          <a:lstStyle/>
          <a:p>
            <a:pPr algn="l"/>
            <a:r>
              <a:rPr sz="560" b="0" i="0">
                <a:solidFill>
                  <a:srgbClr val="DCEAF5"/>
                </a:solidFill>
                <a:latin typeface="Aptos"/>
              </a:rPr>
              <a:t>IASI · Introducing IASI · detail</a:t>
            </a:r>
          </a:p>
        </p:txBody>
      </p:sp>
      <p:sp>
        <p:nvSpPr>
          <p:cNvPr id="6" name="TextBox 5"/>
          <p:cNvSpPr txBox="1"/>
          <p:nvPr/>
        </p:nvSpPr>
        <p:spPr>
          <a:xfrm>
            <a:off x="11597639" y="6670548"/>
            <a:ext cx="256032" cy="109728"/>
          </a:xfrm>
          <a:prstGeom prst="rect">
            <a:avLst/>
          </a:prstGeom>
          <a:noFill/>
        </p:spPr>
        <p:txBody>
          <a:bodyPr wrap="square" lIns="0" rIns="0" tIns="0" bIns="0" anchor="t">
            <a:spAutoFit/>
          </a:bodyPr>
          <a:lstStyle/>
          <a:p>
            <a:pPr algn="r"/>
            <a:r>
              <a:rPr sz="560" b="1" i="0">
                <a:solidFill>
                  <a:srgbClr val="FFFFFF"/>
                </a:solidFill>
                <a:latin typeface="Aptos"/>
              </a:rPr>
              <a:t>06</a:t>
            </a:r>
          </a:p>
        </p:txBody>
      </p:sp>
      <p:sp>
        <p:nvSpPr>
          <p:cNvPr id="7" name="TextBox 6"/>
          <p:cNvSpPr txBox="1"/>
          <p:nvPr/>
        </p:nvSpPr>
        <p:spPr>
          <a:xfrm>
            <a:off x="749808" y="566928"/>
            <a:ext cx="10241280" cy="438912"/>
          </a:xfrm>
          <a:prstGeom prst="rect">
            <a:avLst/>
          </a:prstGeom>
          <a:noFill/>
        </p:spPr>
        <p:txBody>
          <a:bodyPr wrap="square" lIns="0" rIns="0" tIns="0" bIns="0" anchor="t">
            <a:spAutoFit/>
          </a:bodyPr>
          <a:lstStyle/>
          <a:p>
            <a:pPr algn="l"/>
            <a:r>
              <a:rPr sz="2400" b="1" i="0">
                <a:solidFill>
                  <a:srgbClr val="39729E"/>
                </a:solidFill>
                <a:latin typeface="Cormorant Garamond"/>
              </a:rPr>
              <a:t>Engine</a:t>
            </a:r>
          </a:p>
        </p:txBody>
      </p:sp>
      <p:sp>
        <p:nvSpPr>
          <p:cNvPr id="8" name="TextBox 7"/>
          <p:cNvSpPr txBox="1"/>
          <p:nvPr/>
        </p:nvSpPr>
        <p:spPr>
          <a:xfrm>
            <a:off x="768096" y="1005840"/>
            <a:ext cx="10149840" cy="329184"/>
          </a:xfrm>
          <a:prstGeom prst="rect">
            <a:avLst/>
          </a:prstGeom>
          <a:noFill/>
        </p:spPr>
        <p:txBody>
          <a:bodyPr wrap="square" lIns="0" rIns="0" tIns="0" bIns="0" anchor="t">
            <a:spAutoFit/>
          </a:bodyPr>
          <a:lstStyle/>
          <a:p>
            <a:pPr algn="l"/>
            <a:r>
              <a:rPr sz="1080" b="0" i="0">
                <a:solidFill>
                  <a:srgbClr val="52606D"/>
                </a:solidFill>
                <a:latin typeface="Aptos"/>
              </a:rPr>
              <a:t>Inside IASI · where engineering happens</a:t>
            </a:r>
          </a:p>
        </p:txBody>
      </p:sp>
      <p:sp>
        <p:nvSpPr>
          <p:cNvPr id="9" name="TextBox 8"/>
          <p:cNvSpPr txBox="1"/>
          <p:nvPr/>
        </p:nvSpPr>
        <p:spPr>
          <a:xfrm>
            <a:off x="804672" y="1389888"/>
            <a:ext cx="10332720" cy="502920"/>
          </a:xfrm>
          <a:prstGeom prst="rect">
            <a:avLst/>
          </a:prstGeom>
          <a:noFill/>
        </p:spPr>
        <p:txBody>
          <a:bodyPr wrap="square" lIns="0" rIns="0" tIns="0" bIns="0" anchor="t">
            <a:spAutoFit/>
          </a:bodyPr>
          <a:lstStyle/>
          <a:p>
            <a:pPr algn="l"/>
            <a:r>
              <a:rPr sz="1470" b="1" i="0">
                <a:solidFill>
                  <a:srgbClr val="1F2933"/>
                </a:solidFill>
                <a:latin typeface="Aptos"/>
              </a:rPr>
              <a:t>IASI turns knowledge into explicit decisions, actionable work, verified results and an authorized outcome.</a:t>
            </a:r>
          </a:p>
        </p:txBody>
      </p:sp>
      <p:sp>
        <p:nvSpPr>
          <p:cNvPr id="10" name="Oval 9"/>
          <p:cNvSpPr/>
          <p:nvPr/>
        </p:nvSpPr>
        <p:spPr>
          <a:xfrm>
            <a:off x="1188720" y="2359152"/>
            <a:ext cx="694944" cy="694944"/>
          </a:xfrm>
          <a:prstGeom prst="ellipse">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2560320"/>
            <a:ext cx="694944" cy="201168"/>
          </a:xfrm>
          <a:prstGeom prst="rect">
            <a:avLst/>
          </a:prstGeom>
          <a:noFill/>
        </p:spPr>
        <p:txBody>
          <a:bodyPr wrap="square" lIns="0" rIns="0" tIns="0" bIns="0" anchor="t">
            <a:spAutoFit/>
          </a:bodyPr>
          <a:lstStyle/>
          <a:p>
            <a:pPr algn="ctr"/>
            <a:r>
              <a:rPr sz="1000" b="1" i="0">
                <a:solidFill>
                  <a:srgbClr val="FFFFFF"/>
                </a:solidFill>
                <a:latin typeface="Aptos"/>
              </a:rPr>
              <a:t>1</a:t>
            </a:r>
          </a:p>
        </p:txBody>
      </p:sp>
      <p:sp>
        <p:nvSpPr>
          <p:cNvPr id="12" name="TextBox 11"/>
          <p:cNvSpPr txBox="1"/>
          <p:nvPr/>
        </p:nvSpPr>
        <p:spPr>
          <a:xfrm>
            <a:off x="713232" y="3264408"/>
            <a:ext cx="1645920" cy="274320"/>
          </a:xfrm>
          <a:prstGeom prst="rect">
            <a:avLst/>
          </a:prstGeom>
          <a:noFill/>
        </p:spPr>
        <p:txBody>
          <a:bodyPr wrap="square" lIns="0" rIns="0" tIns="0" bIns="0" anchor="t">
            <a:spAutoFit/>
          </a:bodyPr>
          <a:lstStyle/>
          <a:p>
            <a:pPr algn="ctr"/>
            <a:r>
              <a:rPr sz="1080" b="1" i="0">
                <a:solidFill>
                  <a:srgbClr val="1F2933"/>
                </a:solidFill>
                <a:latin typeface="Aptos"/>
              </a:rPr>
              <a:t>Understand</a:t>
            </a:r>
          </a:p>
        </p:txBody>
      </p:sp>
      <p:sp>
        <p:nvSpPr>
          <p:cNvPr id="13" name="TextBox 12"/>
          <p:cNvSpPr txBox="1"/>
          <p:nvPr/>
        </p:nvSpPr>
        <p:spPr>
          <a:xfrm>
            <a:off x="2240280" y="2505456"/>
            <a:ext cx="320040" cy="274320"/>
          </a:xfrm>
          <a:prstGeom prst="rect">
            <a:avLst/>
          </a:prstGeom>
          <a:noFill/>
        </p:spPr>
        <p:txBody>
          <a:bodyPr wrap="square" lIns="0" rIns="0" tIns="0" bIns="0" anchor="t">
            <a:spAutoFit/>
          </a:bodyPr>
          <a:lstStyle/>
          <a:p>
            <a:pPr algn="ctr"/>
            <a:r>
              <a:rPr sz="1600" b="1" i="0">
                <a:solidFill>
                  <a:srgbClr val="7B8794"/>
                </a:solidFill>
                <a:latin typeface="Aptos"/>
              </a:rPr>
              <a:t>→</a:t>
            </a:r>
          </a:p>
        </p:txBody>
      </p:sp>
      <p:sp>
        <p:nvSpPr>
          <p:cNvPr id="14" name="Oval 13"/>
          <p:cNvSpPr/>
          <p:nvPr/>
        </p:nvSpPr>
        <p:spPr>
          <a:xfrm>
            <a:off x="3035808" y="2359152"/>
            <a:ext cx="694944" cy="694944"/>
          </a:xfrm>
          <a:prstGeom prst="ellipse">
            <a:avLst/>
          </a:prstGeom>
          <a:solidFill>
            <a:srgbClr val="F07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5808" y="2560320"/>
            <a:ext cx="694944" cy="201168"/>
          </a:xfrm>
          <a:prstGeom prst="rect">
            <a:avLst/>
          </a:prstGeom>
          <a:noFill/>
        </p:spPr>
        <p:txBody>
          <a:bodyPr wrap="square" lIns="0" rIns="0" tIns="0" bIns="0" anchor="t">
            <a:spAutoFit/>
          </a:bodyPr>
          <a:lstStyle/>
          <a:p>
            <a:pPr algn="ctr"/>
            <a:r>
              <a:rPr sz="1000" b="1" i="0">
                <a:solidFill>
                  <a:srgbClr val="FFFFFF"/>
                </a:solidFill>
                <a:latin typeface="Aptos"/>
              </a:rPr>
              <a:t>2</a:t>
            </a:r>
          </a:p>
        </p:txBody>
      </p:sp>
      <p:sp>
        <p:nvSpPr>
          <p:cNvPr id="16" name="TextBox 15"/>
          <p:cNvSpPr txBox="1"/>
          <p:nvPr/>
        </p:nvSpPr>
        <p:spPr>
          <a:xfrm>
            <a:off x="2560320" y="3264408"/>
            <a:ext cx="1645920" cy="274320"/>
          </a:xfrm>
          <a:prstGeom prst="rect">
            <a:avLst/>
          </a:prstGeom>
          <a:noFill/>
        </p:spPr>
        <p:txBody>
          <a:bodyPr wrap="square" lIns="0" rIns="0" tIns="0" bIns="0" anchor="t">
            <a:spAutoFit/>
          </a:bodyPr>
          <a:lstStyle/>
          <a:p>
            <a:pPr algn="ctr"/>
            <a:r>
              <a:rPr sz="1080" b="1" i="0">
                <a:solidFill>
                  <a:srgbClr val="1F2933"/>
                </a:solidFill>
                <a:latin typeface="Aptos"/>
              </a:rPr>
              <a:t>Specify</a:t>
            </a:r>
          </a:p>
        </p:txBody>
      </p:sp>
      <p:sp>
        <p:nvSpPr>
          <p:cNvPr id="17" name="TextBox 16"/>
          <p:cNvSpPr txBox="1"/>
          <p:nvPr/>
        </p:nvSpPr>
        <p:spPr>
          <a:xfrm>
            <a:off x="4087368" y="2505456"/>
            <a:ext cx="320040" cy="274320"/>
          </a:xfrm>
          <a:prstGeom prst="rect">
            <a:avLst/>
          </a:prstGeom>
          <a:noFill/>
        </p:spPr>
        <p:txBody>
          <a:bodyPr wrap="square" lIns="0" rIns="0" tIns="0" bIns="0" anchor="t">
            <a:spAutoFit/>
          </a:bodyPr>
          <a:lstStyle/>
          <a:p>
            <a:pPr algn="ctr"/>
            <a:r>
              <a:rPr sz="1600" b="1" i="0">
                <a:solidFill>
                  <a:srgbClr val="7B8794"/>
                </a:solidFill>
                <a:latin typeface="Aptos"/>
              </a:rPr>
              <a:t>→</a:t>
            </a:r>
          </a:p>
        </p:txBody>
      </p:sp>
      <p:sp>
        <p:nvSpPr>
          <p:cNvPr id="18" name="Oval 17"/>
          <p:cNvSpPr/>
          <p:nvPr/>
        </p:nvSpPr>
        <p:spPr>
          <a:xfrm>
            <a:off x="4882896" y="2359152"/>
            <a:ext cx="694944" cy="694944"/>
          </a:xfrm>
          <a:prstGeom prst="ellipse">
            <a:avLst/>
          </a:prstGeom>
          <a:solidFill>
            <a:srgbClr val="8B7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82896" y="2560320"/>
            <a:ext cx="694944" cy="201168"/>
          </a:xfrm>
          <a:prstGeom prst="rect">
            <a:avLst/>
          </a:prstGeom>
          <a:noFill/>
        </p:spPr>
        <p:txBody>
          <a:bodyPr wrap="square" lIns="0" rIns="0" tIns="0" bIns="0" anchor="t">
            <a:spAutoFit/>
          </a:bodyPr>
          <a:lstStyle/>
          <a:p>
            <a:pPr algn="ctr"/>
            <a:r>
              <a:rPr sz="1000" b="1" i="0">
                <a:solidFill>
                  <a:srgbClr val="FFFFFF"/>
                </a:solidFill>
                <a:latin typeface="Aptos"/>
              </a:rPr>
              <a:t>3</a:t>
            </a:r>
          </a:p>
        </p:txBody>
      </p:sp>
      <p:sp>
        <p:nvSpPr>
          <p:cNvPr id="20" name="TextBox 19"/>
          <p:cNvSpPr txBox="1"/>
          <p:nvPr/>
        </p:nvSpPr>
        <p:spPr>
          <a:xfrm>
            <a:off x="4407408" y="3264408"/>
            <a:ext cx="1645920" cy="274320"/>
          </a:xfrm>
          <a:prstGeom prst="rect">
            <a:avLst/>
          </a:prstGeom>
          <a:noFill/>
        </p:spPr>
        <p:txBody>
          <a:bodyPr wrap="square" lIns="0" rIns="0" tIns="0" bIns="0" anchor="t">
            <a:spAutoFit/>
          </a:bodyPr>
          <a:lstStyle/>
          <a:p>
            <a:pPr algn="ctr"/>
            <a:r>
              <a:rPr sz="1080" b="1" i="0">
                <a:solidFill>
                  <a:srgbClr val="1F2933"/>
                </a:solidFill>
                <a:latin typeface="Aptos"/>
              </a:rPr>
              <a:t>Plan</a:t>
            </a:r>
          </a:p>
        </p:txBody>
      </p:sp>
      <p:sp>
        <p:nvSpPr>
          <p:cNvPr id="21" name="TextBox 20"/>
          <p:cNvSpPr txBox="1"/>
          <p:nvPr/>
        </p:nvSpPr>
        <p:spPr>
          <a:xfrm>
            <a:off x="5934456" y="2505456"/>
            <a:ext cx="320040" cy="274320"/>
          </a:xfrm>
          <a:prstGeom prst="rect">
            <a:avLst/>
          </a:prstGeom>
          <a:noFill/>
        </p:spPr>
        <p:txBody>
          <a:bodyPr wrap="square" lIns="0" rIns="0" tIns="0" bIns="0" anchor="t">
            <a:spAutoFit/>
          </a:bodyPr>
          <a:lstStyle/>
          <a:p>
            <a:pPr algn="ctr"/>
            <a:r>
              <a:rPr sz="1600" b="1" i="0">
                <a:solidFill>
                  <a:srgbClr val="7B8794"/>
                </a:solidFill>
                <a:latin typeface="Aptos"/>
              </a:rPr>
              <a:t>→</a:t>
            </a:r>
          </a:p>
        </p:txBody>
      </p:sp>
      <p:sp>
        <p:nvSpPr>
          <p:cNvPr id="22" name="Oval 21"/>
          <p:cNvSpPr/>
          <p:nvPr/>
        </p:nvSpPr>
        <p:spPr>
          <a:xfrm>
            <a:off x="6729984" y="2359152"/>
            <a:ext cx="694944" cy="694944"/>
          </a:xfrm>
          <a:prstGeom prst="ellipse">
            <a:avLst/>
          </a:prstGeom>
          <a:solidFill>
            <a:srgbClr val="8AC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9984" y="2560320"/>
            <a:ext cx="694944" cy="201168"/>
          </a:xfrm>
          <a:prstGeom prst="rect">
            <a:avLst/>
          </a:prstGeom>
          <a:noFill/>
        </p:spPr>
        <p:txBody>
          <a:bodyPr wrap="square" lIns="0" rIns="0" tIns="0" bIns="0" anchor="t">
            <a:spAutoFit/>
          </a:bodyPr>
          <a:lstStyle/>
          <a:p>
            <a:pPr algn="ctr"/>
            <a:r>
              <a:rPr sz="1000" b="1" i="0">
                <a:solidFill>
                  <a:srgbClr val="FFFFFF"/>
                </a:solidFill>
                <a:latin typeface="Aptos"/>
              </a:rPr>
              <a:t>4</a:t>
            </a:r>
          </a:p>
        </p:txBody>
      </p:sp>
      <p:sp>
        <p:nvSpPr>
          <p:cNvPr id="24" name="TextBox 23"/>
          <p:cNvSpPr txBox="1"/>
          <p:nvPr/>
        </p:nvSpPr>
        <p:spPr>
          <a:xfrm>
            <a:off x="6254496" y="3264408"/>
            <a:ext cx="1645920" cy="274320"/>
          </a:xfrm>
          <a:prstGeom prst="rect">
            <a:avLst/>
          </a:prstGeom>
          <a:noFill/>
        </p:spPr>
        <p:txBody>
          <a:bodyPr wrap="square" lIns="0" rIns="0" tIns="0" bIns="0" anchor="t">
            <a:spAutoFit/>
          </a:bodyPr>
          <a:lstStyle/>
          <a:p>
            <a:pPr algn="ctr"/>
            <a:r>
              <a:rPr sz="1080" b="1" i="0">
                <a:solidFill>
                  <a:srgbClr val="1F2933"/>
                </a:solidFill>
                <a:latin typeface="Aptos"/>
              </a:rPr>
              <a:t>Execute</a:t>
            </a:r>
          </a:p>
        </p:txBody>
      </p:sp>
      <p:sp>
        <p:nvSpPr>
          <p:cNvPr id="25" name="TextBox 24"/>
          <p:cNvSpPr txBox="1"/>
          <p:nvPr/>
        </p:nvSpPr>
        <p:spPr>
          <a:xfrm>
            <a:off x="7781544" y="2505456"/>
            <a:ext cx="320040" cy="274320"/>
          </a:xfrm>
          <a:prstGeom prst="rect">
            <a:avLst/>
          </a:prstGeom>
          <a:noFill/>
        </p:spPr>
        <p:txBody>
          <a:bodyPr wrap="square" lIns="0" rIns="0" tIns="0" bIns="0" anchor="t">
            <a:spAutoFit/>
          </a:bodyPr>
          <a:lstStyle/>
          <a:p>
            <a:pPr algn="ctr"/>
            <a:r>
              <a:rPr sz="1600" b="1" i="0">
                <a:solidFill>
                  <a:srgbClr val="7B8794"/>
                </a:solidFill>
                <a:latin typeface="Aptos"/>
              </a:rPr>
              <a:t>→</a:t>
            </a:r>
          </a:p>
        </p:txBody>
      </p:sp>
      <p:sp>
        <p:nvSpPr>
          <p:cNvPr id="26" name="Oval 25"/>
          <p:cNvSpPr/>
          <p:nvPr/>
        </p:nvSpPr>
        <p:spPr>
          <a:xfrm>
            <a:off x="8577071" y="2359152"/>
            <a:ext cx="694944" cy="694944"/>
          </a:xfrm>
          <a:prstGeom prst="ellipse">
            <a:avLst/>
          </a:prstGeom>
          <a:solidFill>
            <a:srgbClr val="45B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77071" y="2560320"/>
            <a:ext cx="694944" cy="201168"/>
          </a:xfrm>
          <a:prstGeom prst="rect">
            <a:avLst/>
          </a:prstGeom>
          <a:noFill/>
        </p:spPr>
        <p:txBody>
          <a:bodyPr wrap="square" lIns="0" rIns="0" tIns="0" bIns="0" anchor="t">
            <a:spAutoFit/>
          </a:bodyPr>
          <a:lstStyle/>
          <a:p>
            <a:pPr algn="ctr"/>
            <a:r>
              <a:rPr sz="1000" b="1" i="0">
                <a:solidFill>
                  <a:srgbClr val="FFFFFF"/>
                </a:solidFill>
                <a:latin typeface="Aptos"/>
              </a:rPr>
              <a:t>5</a:t>
            </a:r>
          </a:p>
        </p:txBody>
      </p:sp>
      <p:sp>
        <p:nvSpPr>
          <p:cNvPr id="28" name="TextBox 27"/>
          <p:cNvSpPr txBox="1"/>
          <p:nvPr/>
        </p:nvSpPr>
        <p:spPr>
          <a:xfrm>
            <a:off x="8101583" y="3264408"/>
            <a:ext cx="1645920" cy="274320"/>
          </a:xfrm>
          <a:prstGeom prst="rect">
            <a:avLst/>
          </a:prstGeom>
          <a:noFill/>
        </p:spPr>
        <p:txBody>
          <a:bodyPr wrap="square" lIns="0" rIns="0" tIns="0" bIns="0" anchor="t">
            <a:spAutoFit/>
          </a:bodyPr>
          <a:lstStyle/>
          <a:p>
            <a:pPr algn="ctr"/>
            <a:r>
              <a:rPr sz="1080" b="1" i="0">
                <a:solidFill>
                  <a:srgbClr val="1F2933"/>
                </a:solidFill>
                <a:latin typeface="Aptos"/>
              </a:rPr>
              <a:t>Verify</a:t>
            </a:r>
          </a:p>
        </p:txBody>
      </p:sp>
      <p:sp>
        <p:nvSpPr>
          <p:cNvPr id="29" name="TextBox 28"/>
          <p:cNvSpPr txBox="1"/>
          <p:nvPr/>
        </p:nvSpPr>
        <p:spPr>
          <a:xfrm>
            <a:off x="9628631" y="2505456"/>
            <a:ext cx="320040" cy="274320"/>
          </a:xfrm>
          <a:prstGeom prst="rect">
            <a:avLst/>
          </a:prstGeom>
          <a:noFill/>
        </p:spPr>
        <p:txBody>
          <a:bodyPr wrap="square" lIns="0" rIns="0" tIns="0" bIns="0" anchor="t">
            <a:spAutoFit/>
          </a:bodyPr>
          <a:lstStyle/>
          <a:p>
            <a:pPr algn="ctr"/>
            <a:r>
              <a:rPr sz="1600" b="1" i="0">
                <a:solidFill>
                  <a:srgbClr val="7B8794"/>
                </a:solidFill>
                <a:latin typeface="Aptos"/>
              </a:rPr>
              <a:t>→</a:t>
            </a:r>
          </a:p>
        </p:txBody>
      </p:sp>
      <p:sp>
        <p:nvSpPr>
          <p:cNvPr id="30" name="Oval 29"/>
          <p:cNvSpPr/>
          <p:nvPr/>
        </p:nvSpPr>
        <p:spPr>
          <a:xfrm>
            <a:off x="10424160" y="2359152"/>
            <a:ext cx="694944" cy="694944"/>
          </a:xfrm>
          <a:prstGeom prst="ellipse">
            <a:avLst/>
          </a:prstGeom>
          <a:solidFill>
            <a:srgbClr val="28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24160" y="2560320"/>
            <a:ext cx="694944" cy="201168"/>
          </a:xfrm>
          <a:prstGeom prst="rect">
            <a:avLst/>
          </a:prstGeom>
          <a:noFill/>
        </p:spPr>
        <p:txBody>
          <a:bodyPr wrap="square" lIns="0" rIns="0" tIns="0" bIns="0" anchor="t">
            <a:spAutoFit/>
          </a:bodyPr>
          <a:lstStyle/>
          <a:p>
            <a:pPr algn="ctr"/>
            <a:r>
              <a:rPr sz="1000" b="1" i="0">
                <a:solidFill>
                  <a:srgbClr val="FFFFFF"/>
                </a:solidFill>
                <a:latin typeface="Aptos"/>
              </a:rPr>
              <a:t>6</a:t>
            </a:r>
          </a:p>
        </p:txBody>
      </p:sp>
      <p:sp>
        <p:nvSpPr>
          <p:cNvPr id="32" name="TextBox 31"/>
          <p:cNvSpPr txBox="1"/>
          <p:nvPr/>
        </p:nvSpPr>
        <p:spPr>
          <a:xfrm>
            <a:off x="9948672" y="3264408"/>
            <a:ext cx="1645920" cy="274320"/>
          </a:xfrm>
          <a:prstGeom prst="rect">
            <a:avLst/>
          </a:prstGeom>
          <a:noFill/>
        </p:spPr>
        <p:txBody>
          <a:bodyPr wrap="square" lIns="0" rIns="0" tIns="0" bIns="0" anchor="t">
            <a:spAutoFit/>
          </a:bodyPr>
          <a:lstStyle/>
          <a:p>
            <a:pPr algn="ctr"/>
            <a:r>
              <a:rPr sz="1080" b="1" i="0">
                <a:solidFill>
                  <a:srgbClr val="1F2933"/>
                </a:solidFill>
                <a:latin typeface="Aptos"/>
              </a:rPr>
              <a:t>Authorize</a:t>
            </a:r>
          </a:p>
        </p:txBody>
      </p:sp>
      <p:sp>
        <p:nvSpPr>
          <p:cNvPr id="33" name="Rounded Rectangle 32"/>
          <p:cNvSpPr/>
          <p:nvPr/>
        </p:nvSpPr>
        <p:spPr>
          <a:xfrm>
            <a:off x="1188720" y="4160520"/>
            <a:ext cx="9555480" cy="786384"/>
          </a:xfrm>
          <a:prstGeom prst="round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44752" y="4416552"/>
            <a:ext cx="9052560" cy="256032"/>
          </a:xfrm>
          <a:prstGeom prst="rect">
            <a:avLst/>
          </a:prstGeom>
          <a:noFill/>
        </p:spPr>
        <p:txBody>
          <a:bodyPr wrap="square" lIns="0" rIns="0" tIns="0" bIns="0" anchor="t">
            <a:spAutoFit/>
          </a:bodyPr>
          <a:lstStyle/>
          <a:p>
            <a:pPr algn="ctr"/>
            <a:r>
              <a:rPr sz="1110" b="1" i="0">
                <a:solidFill>
                  <a:srgbClr val="285B82"/>
                </a:solidFill>
                <a:latin typeface="Aptos"/>
              </a:rPr>
              <a:t>The engine is a process, not a folder: understand → specify → plan → execute → verify → authorize.</a:t>
            </a:r>
          </a:p>
        </p:txBody>
      </p:sp>
      <p:sp>
        <p:nvSpPr>
          <p:cNvPr id="35" name="Rounded Rectangle 34">
            <a:hlinkClick action="ppaction://hlinksldjump" r:id="rId2"/>
          </p:cNvPr>
          <p:cNvSpPr/>
          <p:nvPr/>
        </p:nvSpPr>
        <p:spPr>
          <a:xfrm>
            <a:off x="10317480" y="6199632"/>
            <a:ext cx="1325880" cy="310896"/>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63199" y="6249924"/>
            <a:ext cx="1234440" cy="228600"/>
          </a:xfrm>
          <a:prstGeom prst="rect">
            <a:avLst/>
          </a:prstGeom>
          <a:noFill/>
        </p:spPr>
        <p:txBody>
          <a:bodyPr wrap="square" lIns="0" rIns="0" tIns="0" bIns="0" anchor="ctr">
            <a:spAutoFit/>
          </a:bodyPr>
          <a:lstStyle/>
          <a:p>
            <a:pPr algn="ctr"/>
            <a:r>
              <a:rPr sz="760" b="1" i="0">
                <a:solidFill>
                  <a:srgbClr val="39729E"/>
                </a:solidFill>
                <a:latin typeface="Aptos"/>
              </a:rPr>
              <a:t>←  Back to boundary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34" name="Title 7"/>
          <p:cNvSpPr>
            <a:spLocks noGrp="1"/>
          </p:cNvSpPr>
          <p:nvPr>
            <p:ph type="title"/>
          </p:nvPr>
        </p:nvSpPr>
        <p:spPr>
          <a:xfrm>
            <a:off x="0" y="6900000"/>
            <a:ext cx="1000" cy="1000"/>
          </a:xfrm>
          <a:noFill/>
          <a:ln>
            <a:noFill/>
          </a:ln>
        </p:spPr>
        <p:txBody>
          <a:bodyPr/>
          <a:lstStyle/>
          <a:p>
            <a:r>
              <a:rPr lang="en-US" sz="100"/>
              <a:t>Outputs and deliverables</a:t>
            </a:r>
            <a:endParaRPr lang="en-US" sz="100"/>
          </a:p>
        </p:txBody>
      </p:sp>
      <p:sp>
        <p:nvSpPr>
          <p:cNvPr id="2" name="Rectangle 1"/>
          <p:cNvSpPr/>
          <p:nvPr/>
        </p:nvSpPr>
        <p:spPr>
          <a:xfrm>
            <a:off x="0" y="0"/>
            <a:ext cx="12191999" cy="25603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999" cy="237744"/>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50292"/>
            <a:ext cx="2743200" cy="146304"/>
          </a:xfrm>
          <a:prstGeom prst="rect">
            <a:avLst/>
          </a:prstGeom>
          <a:noFill/>
        </p:spPr>
        <p:txBody>
          <a:bodyPr wrap="square" lIns="0" rIns="0" tIns="0" bIns="0" anchor="t">
            <a:spAutoFit/>
          </a:bodyPr>
          <a:lstStyle/>
          <a:p>
            <a:pPr algn="l"/>
            <a:r>
              <a:rPr sz="580" b="1" i="0">
                <a:solidFill>
                  <a:srgbClr val="FFFFFF"/>
                </a:solidFill>
                <a:latin typeface="Aptos"/>
              </a:rPr>
              <a:t>DETAIL · OUTPUTS</a:t>
            </a:r>
          </a:p>
        </p:txBody>
      </p:sp>
      <p:sp>
        <p:nvSpPr>
          <p:cNvPr id="5" name="TextBox 4"/>
          <p:cNvSpPr txBox="1"/>
          <p:nvPr/>
        </p:nvSpPr>
        <p:spPr>
          <a:xfrm>
            <a:off x="384048" y="6670548"/>
            <a:ext cx="4754880" cy="109728"/>
          </a:xfrm>
          <a:prstGeom prst="rect">
            <a:avLst/>
          </a:prstGeom>
          <a:noFill/>
        </p:spPr>
        <p:txBody>
          <a:bodyPr wrap="square" lIns="0" rIns="0" tIns="0" bIns="0" anchor="t">
            <a:spAutoFit/>
          </a:bodyPr>
          <a:lstStyle/>
          <a:p>
            <a:pPr algn="l"/>
            <a:r>
              <a:rPr sz="560" b="0" i="0">
                <a:solidFill>
                  <a:srgbClr val="DCEAF5"/>
                </a:solidFill>
                <a:latin typeface="Aptos"/>
              </a:rPr>
              <a:t>IASI · Introducing IASI · detail</a:t>
            </a:r>
          </a:p>
        </p:txBody>
      </p:sp>
      <p:sp>
        <p:nvSpPr>
          <p:cNvPr id="6" name="TextBox 5"/>
          <p:cNvSpPr txBox="1"/>
          <p:nvPr/>
        </p:nvSpPr>
        <p:spPr>
          <a:xfrm>
            <a:off x="11597639" y="6670548"/>
            <a:ext cx="256032" cy="109728"/>
          </a:xfrm>
          <a:prstGeom prst="rect">
            <a:avLst/>
          </a:prstGeom>
          <a:noFill/>
        </p:spPr>
        <p:txBody>
          <a:bodyPr wrap="square" lIns="0" rIns="0" tIns="0" bIns="0" anchor="t">
            <a:spAutoFit/>
          </a:bodyPr>
          <a:lstStyle/>
          <a:p>
            <a:pPr algn="r"/>
            <a:r>
              <a:rPr sz="560" b="1" i="0">
                <a:solidFill>
                  <a:srgbClr val="FFFFFF"/>
                </a:solidFill>
                <a:latin typeface="Aptos"/>
              </a:rPr>
              <a:t>07</a:t>
            </a:r>
          </a:p>
        </p:txBody>
      </p:sp>
      <p:sp>
        <p:nvSpPr>
          <p:cNvPr id="7" name="TextBox 6"/>
          <p:cNvSpPr txBox="1"/>
          <p:nvPr/>
        </p:nvSpPr>
        <p:spPr>
          <a:xfrm>
            <a:off x="749808" y="566928"/>
            <a:ext cx="10241280" cy="438912"/>
          </a:xfrm>
          <a:prstGeom prst="rect">
            <a:avLst/>
          </a:prstGeom>
          <a:noFill/>
        </p:spPr>
        <p:txBody>
          <a:bodyPr wrap="square" lIns="0" rIns="0" tIns="0" bIns="0" anchor="t">
            <a:spAutoFit/>
          </a:bodyPr>
          <a:lstStyle/>
          <a:p>
            <a:pPr algn="l"/>
            <a:r>
              <a:rPr sz="2400" b="1" i="0">
                <a:solidFill>
                  <a:srgbClr val="39729E"/>
                </a:solidFill>
                <a:latin typeface="Cormorant Garamond"/>
              </a:rPr>
              <a:t>Outputs and deliverables</a:t>
            </a:r>
          </a:p>
        </p:txBody>
      </p:sp>
      <p:sp>
        <p:nvSpPr>
          <p:cNvPr id="8" name="TextBox 7"/>
          <p:cNvSpPr txBox="1"/>
          <p:nvPr/>
        </p:nvSpPr>
        <p:spPr>
          <a:xfrm>
            <a:off x="768096" y="1005840"/>
            <a:ext cx="10149840" cy="329184"/>
          </a:xfrm>
          <a:prstGeom prst="rect">
            <a:avLst/>
          </a:prstGeom>
          <a:noFill/>
        </p:spPr>
        <p:txBody>
          <a:bodyPr wrap="square" lIns="0" rIns="0" tIns="0" bIns="0" anchor="t">
            <a:spAutoFit/>
          </a:bodyPr>
          <a:lstStyle/>
          <a:p>
            <a:pPr algn="l"/>
            <a:r>
              <a:rPr sz="1080" b="0" i="0">
                <a:solidFill>
                  <a:srgbClr val="52606D"/>
                </a:solidFill>
                <a:latin typeface="Aptos"/>
              </a:rPr>
              <a:t>Inside IASI → Release</a:t>
            </a:r>
          </a:p>
        </p:txBody>
      </p:sp>
      <p:sp>
        <p:nvSpPr>
          <p:cNvPr id="9" name="TextBox 8"/>
          <p:cNvSpPr txBox="1"/>
          <p:nvPr/>
        </p:nvSpPr>
        <p:spPr>
          <a:xfrm>
            <a:off x="804672" y="1389888"/>
            <a:ext cx="10332720" cy="502920"/>
          </a:xfrm>
          <a:prstGeom prst="rect">
            <a:avLst/>
          </a:prstGeom>
          <a:noFill/>
        </p:spPr>
        <p:txBody>
          <a:bodyPr wrap="square" lIns="0" rIns="0" tIns="0" bIns="0" anchor="t">
            <a:spAutoFit/>
          </a:bodyPr>
          <a:lstStyle/>
          <a:p>
            <a:pPr algn="l"/>
            <a:r>
              <a:rPr sz="1460" b="1" i="0">
                <a:solidFill>
                  <a:srgbClr val="1F2933"/>
                </a:solidFill>
                <a:latin typeface="Aptos"/>
              </a:rPr>
              <a:t>Tasks materialize results as outputs. An output stays inside IASI until it is verified and authorized.</a:t>
            </a:r>
          </a:p>
        </p:txBody>
      </p:sp>
      <p:sp>
        <p:nvSpPr>
          <p:cNvPr id="10" name="Rounded Rectangle 9"/>
          <p:cNvSpPr/>
          <p:nvPr/>
        </p:nvSpPr>
        <p:spPr>
          <a:xfrm>
            <a:off x="822960" y="2304288"/>
            <a:ext cx="2240280" cy="1481328"/>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304288"/>
            <a:ext cx="64008" cy="1481328"/>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468880"/>
            <a:ext cx="1892808" cy="292608"/>
          </a:xfrm>
          <a:prstGeom prst="rect">
            <a:avLst/>
          </a:prstGeom>
          <a:noFill/>
        </p:spPr>
        <p:txBody>
          <a:bodyPr wrap="square" lIns="0" rIns="0" tIns="0" bIns="0" anchor="t">
            <a:spAutoFit/>
          </a:bodyPr>
          <a:lstStyle/>
          <a:p>
            <a:pPr algn="l"/>
            <a:r>
              <a:rPr sz="1420" b="1" i="0">
                <a:solidFill>
                  <a:srgbClr val="1F2933"/>
                </a:solidFill>
                <a:latin typeface="Aptos"/>
              </a:rPr>
              <a:t>Output</a:t>
            </a:r>
          </a:p>
        </p:txBody>
      </p:sp>
      <p:sp>
        <p:nvSpPr>
          <p:cNvPr id="13" name="TextBox 12"/>
          <p:cNvSpPr txBox="1"/>
          <p:nvPr/>
        </p:nvSpPr>
        <p:spPr>
          <a:xfrm>
            <a:off x="1005840" y="2834640"/>
            <a:ext cx="1892808" cy="841248"/>
          </a:xfrm>
          <a:prstGeom prst="rect">
            <a:avLst/>
          </a:prstGeom>
          <a:noFill/>
        </p:spPr>
        <p:txBody>
          <a:bodyPr wrap="square" lIns="0" rIns="0" tIns="0" bIns="0" anchor="t">
            <a:spAutoFit/>
          </a:bodyPr>
          <a:lstStyle/>
          <a:p>
            <a:pPr algn="l"/>
            <a:r>
              <a:rPr sz="840" b="0" i="0">
                <a:solidFill>
                  <a:srgbClr val="52606D"/>
                </a:solidFill>
                <a:latin typeface="Aptos"/>
              </a:rPr>
              <a:t>Materialized task result</a:t>
            </a:r>
          </a:p>
        </p:txBody>
      </p:sp>
      <p:sp>
        <p:nvSpPr>
          <p:cNvPr id="14" name="TextBox 13"/>
          <p:cNvSpPr txBox="1"/>
          <p:nvPr/>
        </p:nvSpPr>
        <p:spPr>
          <a:xfrm>
            <a:off x="3127248" y="2788920"/>
            <a:ext cx="365760" cy="320040"/>
          </a:xfrm>
          <a:prstGeom prst="rect">
            <a:avLst/>
          </a:prstGeom>
          <a:noFill/>
        </p:spPr>
        <p:txBody>
          <a:bodyPr wrap="square" lIns="0" rIns="0" tIns="0" bIns="0" anchor="t">
            <a:spAutoFit/>
          </a:bodyPr>
          <a:lstStyle/>
          <a:p>
            <a:pPr algn="ctr"/>
            <a:r>
              <a:rPr sz="1700" b="1" i="0">
                <a:solidFill>
                  <a:srgbClr val="7B8794"/>
                </a:solidFill>
                <a:latin typeface="Aptos"/>
              </a:rPr>
              <a:t>→</a:t>
            </a:r>
          </a:p>
        </p:txBody>
      </p:sp>
      <p:sp>
        <p:nvSpPr>
          <p:cNvPr id="15" name="Rounded Rectangle 14"/>
          <p:cNvSpPr/>
          <p:nvPr/>
        </p:nvSpPr>
        <p:spPr>
          <a:xfrm>
            <a:off x="3566160" y="2304288"/>
            <a:ext cx="2240280" cy="1481328"/>
          </a:xfrm>
          <a:prstGeom prst="roundRect">
            <a:avLst/>
          </a:prstGeom>
          <a:solidFill>
            <a:srgbClr val="E7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66160" y="2304288"/>
            <a:ext cx="64008" cy="1481328"/>
          </a:xfrm>
          <a:prstGeom prst="rect">
            <a:avLst/>
          </a:prstGeom>
          <a:solidFill>
            <a:srgbClr val="45B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0" y="2468880"/>
            <a:ext cx="1892808" cy="292608"/>
          </a:xfrm>
          <a:prstGeom prst="rect">
            <a:avLst/>
          </a:prstGeom>
          <a:noFill/>
        </p:spPr>
        <p:txBody>
          <a:bodyPr wrap="square" lIns="0" rIns="0" tIns="0" bIns="0" anchor="t">
            <a:spAutoFit/>
          </a:bodyPr>
          <a:lstStyle/>
          <a:p>
            <a:pPr algn="l"/>
            <a:r>
              <a:rPr sz="1420" b="1" i="0">
                <a:solidFill>
                  <a:srgbClr val="1F2933"/>
                </a:solidFill>
                <a:latin typeface="Aptos"/>
              </a:rPr>
              <a:t>Verify</a:t>
            </a:r>
          </a:p>
        </p:txBody>
      </p:sp>
      <p:sp>
        <p:nvSpPr>
          <p:cNvPr id="18" name="TextBox 17"/>
          <p:cNvSpPr txBox="1"/>
          <p:nvPr/>
        </p:nvSpPr>
        <p:spPr>
          <a:xfrm>
            <a:off x="3749040" y="2834640"/>
            <a:ext cx="1892808" cy="841248"/>
          </a:xfrm>
          <a:prstGeom prst="rect">
            <a:avLst/>
          </a:prstGeom>
          <a:noFill/>
        </p:spPr>
        <p:txBody>
          <a:bodyPr wrap="square" lIns="0" rIns="0" tIns="0" bIns="0" anchor="t">
            <a:spAutoFit/>
          </a:bodyPr>
          <a:lstStyle/>
          <a:p>
            <a:pPr algn="l"/>
            <a:r>
              <a:rPr sz="840" b="0" i="0">
                <a:solidFill>
                  <a:srgbClr val="52606D"/>
                </a:solidFill>
                <a:latin typeface="Aptos"/>
              </a:rPr>
              <a:t>Check the result</a:t>
            </a:r>
          </a:p>
        </p:txBody>
      </p:sp>
      <p:sp>
        <p:nvSpPr>
          <p:cNvPr id="19" name="TextBox 18"/>
          <p:cNvSpPr txBox="1"/>
          <p:nvPr/>
        </p:nvSpPr>
        <p:spPr>
          <a:xfrm>
            <a:off x="5870448" y="2788920"/>
            <a:ext cx="365760" cy="320040"/>
          </a:xfrm>
          <a:prstGeom prst="rect">
            <a:avLst/>
          </a:prstGeom>
          <a:noFill/>
        </p:spPr>
        <p:txBody>
          <a:bodyPr wrap="square" lIns="0" rIns="0" tIns="0" bIns="0" anchor="t">
            <a:spAutoFit/>
          </a:bodyPr>
          <a:lstStyle/>
          <a:p>
            <a:pPr algn="ctr"/>
            <a:r>
              <a:rPr sz="1700" b="1" i="0">
                <a:solidFill>
                  <a:srgbClr val="7B8794"/>
                </a:solidFill>
                <a:latin typeface="Aptos"/>
              </a:rPr>
              <a:t>→</a:t>
            </a:r>
          </a:p>
        </p:txBody>
      </p:sp>
      <p:sp>
        <p:nvSpPr>
          <p:cNvPr id="20" name="Rounded Rectangle 19"/>
          <p:cNvSpPr/>
          <p:nvPr/>
        </p:nvSpPr>
        <p:spPr>
          <a:xfrm>
            <a:off x="6309360" y="2304288"/>
            <a:ext cx="2240280" cy="1481328"/>
          </a:xfrm>
          <a:prstGeom prst="roundRect">
            <a:avLst/>
          </a:prstGeom>
          <a:solidFill>
            <a:srgbClr val="F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2304288"/>
            <a:ext cx="64008" cy="1481328"/>
          </a:xfrm>
          <a:prstGeom prst="rect">
            <a:avLst/>
          </a:prstGeom>
          <a:solidFill>
            <a:srgbClr val="F07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2468880"/>
            <a:ext cx="1892808" cy="292608"/>
          </a:xfrm>
          <a:prstGeom prst="rect">
            <a:avLst/>
          </a:prstGeom>
          <a:noFill/>
        </p:spPr>
        <p:txBody>
          <a:bodyPr wrap="square" lIns="0" rIns="0" tIns="0" bIns="0" anchor="t">
            <a:spAutoFit/>
          </a:bodyPr>
          <a:lstStyle/>
          <a:p>
            <a:pPr algn="l"/>
            <a:r>
              <a:rPr sz="1420" b="1" i="0">
                <a:solidFill>
                  <a:srgbClr val="1F2933"/>
                </a:solidFill>
                <a:latin typeface="Aptos"/>
              </a:rPr>
              <a:t>Authorize</a:t>
            </a:r>
          </a:p>
        </p:txBody>
      </p:sp>
      <p:sp>
        <p:nvSpPr>
          <p:cNvPr id="23" name="TextBox 22"/>
          <p:cNvSpPr txBox="1"/>
          <p:nvPr/>
        </p:nvSpPr>
        <p:spPr>
          <a:xfrm>
            <a:off x="6492240" y="2834640"/>
            <a:ext cx="1892808" cy="841248"/>
          </a:xfrm>
          <a:prstGeom prst="rect">
            <a:avLst/>
          </a:prstGeom>
          <a:noFill/>
        </p:spPr>
        <p:txBody>
          <a:bodyPr wrap="square" lIns="0" rIns="0" tIns="0" bIns="0" anchor="t">
            <a:spAutoFit/>
          </a:bodyPr>
          <a:lstStyle/>
          <a:p>
            <a:pPr algn="l"/>
            <a:r>
              <a:rPr sz="840" b="0" i="0">
                <a:solidFill>
                  <a:srgbClr val="52606D"/>
                </a:solidFill>
                <a:latin typeface="Aptos"/>
              </a:rPr>
              <a:t>Automatic or human</a:t>
            </a:r>
          </a:p>
        </p:txBody>
      </p:sp>
      <p:sp>
        <p:nvSpPr>
          <p:cNvPr id="24" name="TextBox 23"/>
          <p:cNvSpPr txBox="1"/>
          <p:nvPr/>
        </p:nvSpPr>
        <p:spPr>
          <a:xfrm>
            <a:off x="8613648" y="2788920"/>
            <a:ext cx="365760" cy="320040"/>
          </a:xfrm>
          <a:prstGeom prst="rect">
            <a:avLst/>
          </a:prstGeom>
          <a:noFill/>
        </p:spPr>
        <p:txBody>
          <a:bodyPr wrap="square" lIns="0" rIns="0" tIns="0" bIns="0" anchor="t">
            <a:spAutoFit/>
          </a:bodyPr>
          <a:lstStyle/>
          <a:p>
            <a:pPr algn="ctr"/>
            <a:r>
              <a:rPr sz="1700" b="1" i="0">
                <a:solidFill>
                  <a:srgbClr val="7B8794"/>
                </a:solidFill>
                <a:latin typeface="Aptos"/>
              </a:rPr>
              <a:t>→</a:t>
            </a:r>
          </a:p>
        </p:txBody>
      </p:sp>
      <p:sp>
        <p:nvSpPr>
          <p:cNvPr id="25" name="Rounded Rectangle 24"/>
          <p:cNvSpPr/>
          <p:nvPr/>
        </p:nvSpPr>
        <p:spPr>
          <a:xfrm>
            <a:off x="9052560" y="2304288"/>
            <a:ext cx="2240280" cy="1481328"/>
          </a:xfrm>
          <a:prstGeom prst="roundRect">
            <a:avLst/>
          </a:prstGeom>
          <a:solidFill>
            <a:srgbClr val="F0F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0" y="2304288"/>
            <a:ext cx="64008" cy="1481328"/>
          </a:xfrm>
          <a:prstGeom prst="rect">
            <a:avLst/>
          </a:prstGeom>
          <a:solidFill>
            <a:srgbClr val="8AC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2468880"/>
            <a:ext cx="1892808" cy="292608"/>
          </a:xfrm>
          <a:prstGeom prst="rect">
            <a:avLst/>
          </a:prstGeom>
          <a:noFill/>
        </p:spPr>
        <p:txBody>
          <a:bodyPr wrap="square" lIns="0" rIns="0" tIns="0" bIns="0" anchor="t">
            <a:spAutoFit/>
          </a:bodyPr>
          <a:lstStyle/>
          <a:p>
            <a:pPr algn="l"/>
            <a:r>
              <a:rPr sz="1420" b="1" i="0">
                <a:solidFill>
                  <a:srgbClr val="1F2933"/>
                </a:solidFill>
                <a:latin typeface="Aptos"/>
              </a:rPr>
              <a:t>Deliverable</a:t>
            </a:r>
          </a:p>
        </p:txBody>
      </p:sp>
      <p:sp>
        <p:nvSpPr>
          <p:cNvPr id="28" name="TextBox 27"/>
          <p:cNvSpPr txBox="1"/>
          <p:nvPr/>
        </p:nvSpPr>
        <p:spPr>
          <a:xfrm>
            <a:off x="9235440" y="2834640"/>
            <a:ext cx="1892808" cy="841248"/>
          </a:xfrm>
          <a:prstGeom prst="rect">
            <a:avLst/>
          </a:prstGeom>
          <a:noFill/>
        </p:spPr>
        <p:txBody>
          <a:bodyPr wrap="square" lIns="0" rIns="0" tIns="0" bIns="0" anchor="t">
            <a:spAutoFit/>
          </a:bodyPr>
          <a:lstStyle/>
          <a:p>
            <a:pPr algn="l"/>
            <a:r>
              <a:rPr sz="840" b="0" i="0">
                <a:solidFill>
                  <a:srgbClr val="52606D"/>
                </a:solidFill>
                <a:latin typeface="Aptos"/>
              </a:rPr>
              <a:t>Authorized to leave IASI</a:t>
            </a:r>
          </a:p>
        </p:txBody>
      </p:sp>
      <p:sp>
        <p:nvSpPr>
          <p:cNvPr id="29" name="Rounded Rectangle 28"/>
          <p:cNvSpPr/>
          <p:nvPr/>
        </p:nvSpPr>
        <p:spPr>
          <a:xfrm>
            <a:off x="2331720" y="4370832"/>
            <a:ext cx="7315200" cy="676656"/>
          </a:xfrm>
          <a:prstGeom prst="roundRect">
            <a:avLst/>
          </a:prstGeom>
          <a:solidFill>
            <a:srgbClr val="E7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4600" y="4572000"/>
            <a:ext cx="6949440" cy="256032"/>
          </a:xfrm>
          <a:prstGeom prst="rect">
            <a:avLst/>
          </a:prstGeom>
          <a:noFill/>
        </p:spPr>
        <p:txBody>
          <a:bodyPr wrap="square" lIns="0" rIns="0" tIns="0" bIns="0" anchor="t">
            <a:spAutoFit/>
          </a:bodyPr>
          <a:lstStyle/>
          <a:p>
            <a:pPr algn="ctr"/>
            <a:r>
              <a:rPr sz="1300" b="1" i="0">
                <a:solidFill>
                  <a:srgbClr val="1F2933"/>
                </a:solidFill>
                <a:latin typeface="Aptos"/>
              </a:rPr>
              <a:t>Outputs are produced. Deliverables are authorized.</a:t>
            </a:r>
          </a:p>
        </p:txBody>
      </p:sp>
      <p:sp>
        <p:nvSpPr>
          <p:cNvPr id="31" name="TextBox 30"/>
          <p:cNvSpPr txBox="1"/>
          <p:nvPr/>
        </p:nvSpPr>
        <p:spPr>
          <a:xfrm>
            <a:off x="2788920" y="5010912"/>
            <a:ext cx="6629400" cy="219456"/>
          </a:xfrm>
          <a:prstGeom prst="rect">
            <a:avLst/>
          </a:prstGeom>
          <a:noFill/>
        </p:spPr>
        <p:txBody>
          <a:bodyPr wrap="square" lIns="0" rIns="0" tIns="0" bIns="0" anchor="t">
            <a:spAutoFit/>
          </a:bodyPr>
          <a:lstStyle/>
          <a:p>
            <a:pPr algn="ctr"/>
            <a:r>
              <a:rPr sz="880" b="1" i="0">
                <a:solidFill>
                  <a:srgbClr val="39729E"/>
                </a:solidFill>
                <a:latin typeface="Aptos"/>
              </a:rPr>
              <a:t>Authorized deliverables are materialized into Release.</a:t>
            </a:r>
          </a:p>
        </p:txBody>
      </p:sp>
      <p:sp>
        <p:nvSpPr>
          <p:cNvPr id="32" name="Rounded Rectangle 31">
            <a:hlinkClick action="ppaction://hlinksldjump" r:id="rId2"/>
          </p:cNvPr>
          <p:cNvSpPr/>
          <p:nvPr/>
        </p:nvSpPr>
        <p:spPr>
          <a:xfrm>
            <a:off x="10317480" y="6199632"/>
            <a:ext cx="1325880" cy="310896"/>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63199" y="6249924"/>
            <a:ext cx="1234440" cy="228600"/>
          </a:xfrm>
          <a:prstGeom prst="rect">
            <a:avLst/>
          </a:prstGeom>
          <a:noFill/>
        </p:spPr>
        <p:txBody>
          <a:bodyPr wrap="square" lIns="0" rIns="0" tIns="0" bIns="0" anchor="ctr">
            <a:spAutoFit/>
          </a:bodyPr>
          <a:lstStyle/>
          <a:p>
            <a:pPr algn="ctr"/>
            <a:r>
              <a:rPr sz="760" b="1" i="0">
                <a:solidFill>
                  <a:srgbClr val="39729E"/>
                </a:solidFill>
                <a:latin typeface="Aptos"/>
              </a:rPr>
              <a:t>←  Back to boundary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35" name="Title 8"/>
          <p:cNvSpPr>
            <a:spLocks noGrp="1"/>
          </p:cNvSpPr>
          <p:nvPr>
            <p:ph type="title"/>
          </p:nvPr>
        </p:nvSpPr>
        <p:spPr>
          <a:xfrm>
            <a:off x="0" y="6900000"/>
            <a:ext cx="1000" cy="1000"/>
          </a:xfrm>
          <a:noFill/>
          <a:ln>
            <a:noFill/>
          </a:ln>
        </p:spPr>
        <p:txBody>
          <a:bodyPr/>
          <a:lstStyle/>
          <a:p>
            <a:r>
              <a:rPr lang="en-US" sz="100"/>
              <a:t>Release</a:t>
            </a:r>
            <a:endParaRPr lang="en-US" sz="100"/>
          </a:p>
        </p:txBody>
      </p:sp>
      <p:sp>
        <p:nvSpPr>
          <p:cNvPr id="2" name="Rectangle 1"/>
          <p:cNvSpPr/>
          <p:nvPr/>
        </p:nvSpPr>
        <p:spPr>
          <a:xfrm>
            <a:off x="0" y="0"/>
            <a:ext cx="12191999" cy="25603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999" cy="237744"/>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50292"/>
            <a:ext cx="2743200" cy="146304"/>
          </a:xfrm>
          <a:prstGeom prst="rect">
            <a:avLst/>
          </a:prstGeom>
          <a:noFill/>
        </p:spPr>
        <p:txBody>
          <a:bodyPr wrap="square" lIns="0" rIns="0" tIns="0" bIns="0" anchor="t">
            <a:spAutoFit/>
          </a:bodyPr>
          <a:lstStyle/>
          <a:p>
            <a:pPr algn="l"/>
            <a:r>
              <a:rPr sz="580" b="1" i="0">
                <a:solidFill>
                  <a:srgbClr val="FFFFFF"/>
                </a:solidFill>
                <a:latin typeface="Aptos"/>
              </a:rPr>
              <a:t>DETAIL · RELEASE</a:t>
            </a:r>
          </a:p>
        </p:txBody>
      </p:sp>
      <p:sp>
        <p:nvSpPr>
          <p:cNvPr id="5" name="TextBox 4"/>
          <p:cNvSpPr txBox="1"/>
          <p:nvPr/>
        </p:nvSpPr>
        <p:spPr>
          <a:xfrm>
            <a:off x="384048" y="6670548"/>
            <a:ext cx="4754880" cy="109728"/>
          </a:xfrm>
          <a:prstGeom prst="rect">
            <a:avLst/>
          </a:prstGeom>
          <a:noFill/>
        </p:spPr>
        <p:txBody>
          <a:bodyPr wrap="square" lIns="0" rIns="0" tIns="0" bIns="0" anchor="t">
            <a:spAutoFit/>
          </a:bodyPr>
          <a:lstStyle/>
          <a:p>
            <a:pPr algn="l"/>
            <a:r>
              <a:rPr sz="560" b="0" i="0">
                <a:solidFill>
                  <a:srgbClr val="DCEAF5"/>
                </a:solidFill>
                <a:latin typeface="Aptos"/>
              </a:rPr>
              <a:t>IASI · Introducing IASI · detail</a:t>
            </a:r>
          </a:p>
        </p:txBody>
      </p:sp>
      <p:sp>
        <p:nvSpPr>
          <p:cNvPr id="6" name="TextBox 5"/>
          <p:cNvSpPr txBox="1"/>
          <p:nvPr/>
        </p:nvSpPr>
        <p:spPr>
          <a:xfrm>
            <a:off x="11597639" y="6670548"/>
            <a:ext cx="256032" cy="109728"/>
          </a:xfrm>
          <a:prstGeom prst="rect">
            <a:avLst/>
          </a:prstGeom>
          <a:noFill/>
        </p:spPr>
        <p:txBody>
          <a:bodyPr wrap="square" lIns="0" rIns="0" tIns="0" bIns="0" anchor="t">
            <a:spAutoFit/>
          </a:bodyPr>
          <a:lstStyle/>
          <a:p>
            <a:pPr algn="r"/>
            <a:r>
              <a:rPr sz="560" b="1" i="0">
                <a:solidFill>
                  <a:srgbClr val="FFFFFF"/>
                </a:solidFill>
                <a:latin typeface="Aptos"/>
              </a:rPr>
              <a:t>08</a:t>
            </a:r>
          </a:p>
        </p:txBody>
      </p:sp>
      <p:sp>
        <p:nvSpPr>
          <p:cNvPr id="7" name="TextBox 6"/>
          <p:cNvSpPr txBox="1"/>
          <p:nvPr/>
        </p:nvSpPr>
        <p:spPr>
          <a:xfrm>
            <a:off x="749808" y="566928"/>
            <a:ext cx="10241280" cy="438912"/>
          </a:xfrm>
          <a:prstGeom prst="rect">
            <a:avLst/>
          </a:prstGeom>
          <a:noFill/>
        </p:spPr>
        <p:txBody>
          <a:bodyPr wrap="square" lIns="0" rIns="0" tIns="0" bIns="0" anchor="t">
            <a:spAutoFit/>
          </a:bodyPr>
          <a:lstStyle/>
          <a:p>
            <a:pPr algn="l"/>
            <a:r>
              <a:rPr sz="2400" b="1" i="0">
                <a:solidFill>
                  <a:srgbClr val="39729E"/>
                </a:solidFill>
                <a:latin typeface="Cormorant Garamond"/>
              </a:rPr>
              <a:t>Release</a:t>
            </a:r>
          </a:p>
        </p:txBody>
      </p:sp>
      <p:sp>
        <p:nvSpPr>
          <p:cNvPr id="8" name="TextBox 7"/>
          <p:cNvSpPr txBox="1"/>
          <p:nvPr/>
        </p:nvSpPr>
        <p:spPr>
          <a:xfrm>
            <a:off x="768096" y="1005840"/>
            <a:ext cx="10149840" cy="329184"/>
          </a:xfrm>
          <a:prstGeom prst="rect">
            <a:avLst/>
          </a:prstGeom>
          <a:noFill/>
        </p:spPr>
        <p:txBody>
          <a:bodyPr wrap="square" lIns="0" rIns="0" tIns="0" bIns="0" anchor="t">
            <a:spAutoFit/>
          </a:bodyPr>
          <a:lstStyle/>
          <a:p>
            <a:pPr algn="l"/>
            <a:r>
              <a:rPr sz="1080" b="0" i="0">
                <a:solidFill>
                  <a:srgbClr val="52606D"/>
                </a:solidFill>
                <a:latin typeface="Aptos"/>
              </a:rPr>
              <a:t>Inside IASI · current authorized materialization</a:t>
            </a:r>
          </a:p>
        </p:txBody>
      </p:sp>
      <p:sp>
        <p:nvSpPr>
          <p:cNvPr id="9" name="TextBox 8"/>
          <p:cNvSpPr txBox="1"/>
          <p:nvPr/>
        </p:nvSpPr>
        <p:spPr>
          <a:xfrm>
            <a:off x="804672" y="1389888"/>
            <a:ext cx="10332720" cy="502920"/>
          </a:xfrm>
          <a:prstGeom prst="rect">
            <a:avLst/>
          </a:prstGeom>
          <a:noFill/>
        </p:spPr>
        <p:txBody>
          <a:bodyPr wrap="square" lIns="0" rIns="0" tIns="0" bIns="0" anchor="t">
            <a:spAutoFit/>
          </a:bodyPr>
          <a:lstStyle/>
          <a:p>
            <a:pPr algn="l"/>
            <a:r>
              <a:rPr sz="1460" b="1" i="0">
                <a:solidFill>
                  <a:srgbClr val="1F2933"/>
                </a:solidFill>
                <a:latin typeface="Aptos"/>
              </a:rPr>
              <a:t>Release is the current materialization prepared from authorized deliverables for consumption outside IASI.</a:t>
            </a:r>
          </a:p>
        </p:txBody>
      </p:sp>
      <p:sp>
        <p:nvSpPr>
          <p:cNvPr id="10" name="Rounded Rectangle 9"/>
          <p:cNvSpPr/>
          <p:nvPr/>
        </p:nvSpPr>
        <p:spPr>
          <a:xfrm>
            <a:off x="1078992" y="2267712"/>
            <a:ext cx="2880360" cy="1389888"/>
          </a:xfrm>
          <a:prstGeom prst="roundRect">
            <a:avLst/>
          </a:prstGeom>
          <a:solidFill>
            <a:srgbClr val="F0F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78992" y="2267712"/>
            <a:ext cx="64008" cy="1389888"/>
          </a:xfrm>
          <a:prstGeom prst="rect">
            <a:avLst/>
          </a:prstGeom>
          <a:solidFill>
            <a:srgbClr val="8AC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61872" y="2432304"/>
            <a:ext cx="2532888" cy="292608"/>
          </a:xfrm>
          <a:prstGeom prst="rect">
            <a:avLst/>
          </a:prstGeom>
          <a:noFill/>
        </p:spPr>
        <p:txBody>
          <a:bodyPr wrap="square" lIns="0" rIns="0" tIns="0" bIns="0" anchor="t">
            <a:spAutoFit/>
          </a:bodyPr>
          <a:lstStyle/>
          <a:p>
            <a:pPr algn="l"/>
            <a:r>
              <a:rPr sz="1420" b="1" i="0">
                <a:solidFill>
                  <a:srgbClr val="1F2933"/>
                </a:solidFill>
                <a:latin typeface="Aptos"/>
              </a:rPr>
              <a:t>Deliverable</a:t>
            </a:r>
          </a:p>
        </p:txBody>
      </p:sp>
      <p:sp>
        <p:nvSpPr>
          <p:cNvPr id="13" name="TextBox 12"/>
          <p:cNvSpPr txBox="1"/>
          <p:nvPr/>
        </p:nvSpPr>
        <p:spPr>
          <a:xfrm>
            <a:off x="1261872" y="2798064"/>
            <a:ext cx="2532888" cy="749808"/>
          </a:xfrm>
          <a:prstGeom prst="rect">
            <a:avLst/>
          </a:prstGeom>
          <a:noFill/>
        </p:spPr>
        <p:txBody>
          <a:bodyPr wrap="square" lIns="0" rIns="0" tIns="0" bIns="0" anchor="t">
            <a:spAutoFit/>
          </a:bodyPr>
          <a:lstStyle/>
          <a:p>
            <a:pPr algn="l"/>
            <a:r>
              <a:rPr sz="840" b="0" i="0">
                <a:solidFill>
                  <a:srgbClr val="52606D"/>
                </a:solidFill>
                <a:latin typeface="Aptos"/>
              </a:rPr>
              <a:t>Verified + authorized</a:t>
            </a:r>
          </a:p>
        </p:txBody>
      </p:sp>
      <p:sp>
        <p:nvSpPr>
          <p:cNvPr id="14" name="TextBox 13"/>
          <p:cNvSpPr txBox="1"/>
          <p:nvPr/>
        </p:nvSpPr>
        <p:spPr>
          <a:xfrm>
            <a:off x="4142232" y="2724912"/>
            <a:ext cx="384048" cy="310896"/>
          </a:xfrm>
          <a:prstGeom prst="rect">
            <a:avLst/>
          </a:prstGeom>
          <a:noFill/>
        </p:spPr>
        <p:txBody>
          <a:bodyPr wrap="square" lIns="0" rIns="0" tIns="0" bIns="0" anchor="t">
            <a:spAutoFit/>
          </a:bodyPr>
          <a:lstStyle/>
          <a:p>
            <a:pPr algn="ctr"/>
            <a:r>
              <a:rPr sz="1800" b="1" i="0">
                <a:solidFill>
                  <a:srgbClr val="7B8794"/>
                </a:solidFill>
                <a:latin typeface="Aptos"/>
              </a:rPr>
              <a:t>→</a:t>
            </a:r>
          </a:p>
        </p:txBody>
      </p:sp>
      <p:sp>
        <p:nvSpPr>
          <p:cNvPr id="15" name="Rounded Rectangle 14"/>
          <p:cNvSpPr/>
          <p:nvPr/>
        </p:nvSpPr>
        <p:spPr>
          <a:xfrm>
            <a:off x="4754879" y="2267712"/>
            <a:ext cx="2880360" cy="1389888"/>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54879" y="2267712"/>
            <a:ext cx="64008" cy="1389888"/>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59" y="2432304"/>
            <a:ext cx="2532888" cy="292608"/>
          </a:xfrm>
          <a:prstGeom prst="rect">
            <a:avLst/>
          </a:prstGeom>
          <a:noFill/>
        </p:spPr>
        <p:txBody>
          <a:bodyPr wrap="square" lIns="0" rIns="0" tIns="0" bIns="0" anchor="t">
            <a:spAutoFit/>
          </a:bodyPr>
          <a:lstStyle/>
          <a:p>
            <a:pPr algn="l"/>
            <a:r>
              <a:rPr sz="1420" b="1" i="0">
                <a:solidFill>
                  <a:srgbClr val="1F2933"/>
                </a:solidFill>
                <a:latin typeface="Aptos"/>
              </a:rPr>
              <a:t>Release</a:t>
            </a:r>
          </a:p>
        </p:txBody>
      </p:sp>
      <p:sp>
        <p:nvSpPr>
          <p:cNvPr id="18" name="TextBox 17"/>
          <p:cNvSpPr txBox="1"/>
          <p:nvPr/>
        </p:nvSpPr>
        <p:spPr>
          <a:xfrm>
            <a:off x="4937759" y="2798064"/>
            <a:ext cx="2532888" cy="749808"/>
          </a:xfrm>
          <a:prstGeom prst="rect">
            <a:avLst/>
          </a:prstGeom>
          <a:noFill/>
        </p:spPr>
        <p:txBody>
          <a:bodyPr wrap="square" lIns="0" rIns="0" tIns="0" bIns="0" anchor="t">
            <a:spAutoFit/>
          </a:bodyPr>
          <a:lstStyle/>
          <a:p>
            <a:pPr algn="l"/>
            <a:r>
              <a:rPr sz="840" b="0" i="0">
                <a:solidFill>
                  <a:srgbClr val="52606D"/>
                </a:solidFill>
                <a:latin typeface="Aptos"/>
              </a:rPr>
              <a:t>Current materialization</a:t>
            </a:r>
          </a:p>
        </p:txBody>
      </p:sp>
      <p:sp>
        <p:nvSpPr>
          <p:cNvPr id="19" name="TextBox 18"/>
          <p:cNvSpPr txBox="1"/>
          <p:nvPr/>
        </p:nvSpPr>
        <p:spPr>
          <a:xfrm>
            <a:off x="7818119" y="2724912"/>
            <a:ext cx="384048" cy="310896"/>
          </a:xfrm>
          <a:prstGeom prst="rect">
            <a:avLst/>
          </a:prstGeom>
          <a:noFill/>
        </p:spPr>
        <p:txBody>
          <a:bodyPr wrap="square" lIns="0" rIns="0" tIns="0" bIns="0" anchor="t">
            <a:spAutoFit/>
          </a:bodyPr>
          <a:lstStyle/>
          <a:p>
            <a:pPr algn="ctr"/>
            <a:r>
              <a:rPr sz="1800" b="1" i="0">
                <a:solidFill>
                  <a:srgbClr val="7B8794"/>
                </a:solidFill>
                <a:latin typeface="Aptos"/>
              </a:rPr>
              <a:t>→</a:t>
            </a:r>
          </a:p>
        </p:txBody>
      </p:sp>
      <p:sp>
        <p:nvSpPr>
          <p:cNvPr id="20" name="Rounded Rectangle 19"/>
          <p:cNvSpPr/>
          <p:nvPr/>
        </p:nvSpPr>
        <p:spPr>
          <a:xfrm>
            <a:off x="8430767" y="2267712"/>
            <a:ext cx="2880360" cy="1389888"/>
          </a:xfrm>
          <a:prstGeom prst="roundRect">
            <a:avLst/>
          </a:prstGeom>
          <a:solidFill>
            <a:srgbClr val="E7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30767" y="2267712"/>
            <a:ext cx="64008" cy="1389888"/>
          </a:xfrm>
          <a:prstGeom prst="rect">
            <a:avLst/>
          </a:prstGeom>
          <a:solidFill>
            <a:srgbClr val="45B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13647" y="2432304"/>
            <a:ext cx="2532888" cy="292608"/>
          </a:xfrm>
          <a:prstGeom prst="rect">
            <a:avLst/>
          </a:prstGeom>
          <a:noFill/>
        </p:spPr>
        <p:txBody>
          <a:bodyPr wrap="square" lIns="0" rIns="0" tIns="0" bIns="0" anchor="t">
            <a:spAutoFit/>
          </a:bodyPr>
          <a:lstStyle/>
          <a:p>
            <a:pPr algn="l"/>
            <a:r>
              <a:rPr sz="1420" b="1" i="0">
                <a:solidFill>
                  <a:srgbClr val="1F2933"/>
                </a:solidFill>
                <a:latin typeface="Aptos"/>
              </a:rPr>
              <a:t>Outside</a:t>
            </a:r>
          </a:p>
        </p:txBody>
      </p:sp>
      <p:sp>
        <p:nvSpPr>
          <p:cNvPr id="23" name="TextBox 22"/>
          <p:cNvSpPr txBox="1"/>
          <p:nvPr/>
        </p:nvSpPr>
        <p:spPr>
          <a:xfrm>
            <a:off x="8613647" y="2798064"/>
            <a:ext cx="2532888" cy="749808"/>
          </a:xfrm>
          <a:prstGeom prst="rect">
            <a:avLst/>
          </a:prstGeom>
          <a:noFill/>
        </p:spPr>
        <p:txBody>
          <a:bodyPr wrap="square" lIns="0" rIns="0" tIns="0" bIns="0" anchor="t">
            <a:spAutoFit/>
          </a:bodyPr>
          <a:lstStyle/>
          <a:p>
            <a:pPr algn="l"/>
            <a:r>
              <a:rPr sz="840" b="0" i="0">
                <a:solidFill>
                  <a:srgbClr val="52606D"/>
                </a:solidFill>
                <a:latin typeface="Aptos"/>
              </a:rPr>
              <a:t>Consumed by its destination</a:t>
            </a:r>
          </a:p>
        </p:txBody>
      </p:sp>
      <p:sp>
        <p:nvSpPr>
          <p:cNvPr id="24" name="Rounded Rectangle 23"/>
          <p:cNvSpPr/>
          <p:nvPr/>
        </p:nvSpPr>
        <p:spPr>
          <a:xfrm>
            <a:off x="914400" y="4160520"/>
            <a:ext cx="3337560" cy="960120"/>
          </a:xfrm>
          <a:prstGeom prst="round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352544"/>
            <a:ext cx="2971800" cy="182880"/>
          </a:xfrm>
          <a:prstGeom prst="rect">
            <a:avLst/>
          </a:prstGeom>
          <a:noFill/>
        </p:spPr>
        <p:txBody>
          <a:bodyPr wrap="square" lIns="0" rIns="0" tIns="0" bIns="0" anchor="t">
            <a:spAutoFit/>
          </a:bodyPr>
          <a:lstStyle/>
          <a:p>
            <a:pPr algn="ctr"/>
            <a:r>
              <a:rPr sz="800" b="1" i="0">
                <a:solidFill>
                  <a:srgbClr val="39729E"/>
                </a:solidFill>
                <a:latin typeface="Aptos"/>
              </a:rPr>
              <a:t>CURRENT</a:t>
            </a:r>
          </a:p>
        </p:txBody>
      </p:sp>
      <p:sp>
        <p:nvSpPr>
          <p:cNvPr id="26" name="TextBox 25"/>
          <p:cNvSpPr txBox="1"/>
          <p:nvPr/>
        </p:nvSpPr>
        <p:spPr>
          <a:xfrm>
            <a:off x="1115568" y="4608576"/>
            <a:ext cx="2926080" cy="384048"/>
          </a:xfrm>
          <a:prstGeom prst="rect">
            <a:avLst/>
          </a:prstGeom>
          <a:noFill/>
        </p:spPr>
        <p:txBody>
          <a:bodyPr wrap="square" lIns="0" rIns="0" tIns="0" bIns="0" anchor="t">
            <a:spAutoFit/>
          </a:bodyPr>
          <a:lstStyle/>
          <a:p>
            <a:pPr algn="ctr"/>
            <a:r>
              <a:rPr sz="819" b="0" i="0">
                <a:solidFill>
                  <a:srgbClr val="52606D"/>
                </a:solidFill>
                <a:latin typeface="Aptos"/>
              </a:rPr>
              <a:t>One current release materialization, not a local release history.</a:t>
            </a:r>
          </a:p>
        </p:txBody>
      </p:sp>
      <p:sp>
        <p:nvSpPr>
          <p:cNvPr id="27" name="Rounded Rectangle 26"/>
          <p:cNvSpPr/>
          <p:nvPr/>
        </p:nvSpPr>
        <p:spPr>
          <a:xfrm>
            <a:off x="4645152" y="4160520"/>
            <a:ext cx="3337560" cy="960120"/>
          </a:xfrm>
          <a:prstGeom prst="round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28032" y="4352544"/>
            <a:ext cx="2971800" cy="182880"/>
          </a:xfrm>
          <a:prstGeom prst="rect">
            <a:avLst/>
          </a:prstGeom>
          <a:noFill/>
        </p:spPr>
        <p:txBody>
          <a:bodyPr wrap="square" lIns="0" rIns="0" tIns="0" bIns="0" anchor="t">
            <a:spAutoFit/>
          </a:bodyPr>
          <a:lstStyle/>
          <a:p>
            <a:pPr algn="ctr"/>
            <a:r>
              <a:rPr sz="800" b="1" i="0">
                <a:solidFill>
                  <a:srgbClr val="39729E"/>
                </a:solidFill>
                <a:latin typeface="Aptos"/>
              </a:rPr>
              <a:t>AUTHORIZED</a:t>
            </a:r>
          </a:p>
        </p:txBody>
      </p:sp>
      <p:sp>
        <p:nvSpPr>
          <p:cNvPr id="29" name="TextBox 28"/>
          <p:cNvSpPr txBox="1"/>
          <p:nvPr/>
        </p:nvSpPr>
        <p:spPr>
          <a:xfrm>
            <a:off x="4846320" y="4608576"/>
            <a:ext cx="2926080" cy="384048"/>
          </a:xfrm>
          <a:prstGeom prst="rect">
            <a:avLst/>
          </a:prstGeom>
          <a:noFill/>
        </p:spPr>
        <p:txBody>
          <a:bodyPr wrap="square" lIns="0" rIns="0" tIns="0" bIns="0" anchor="t">
            <a:spAutoFit/>
          </a:bodyPr>
          <a:lstStyle/>
          <a:p>
            <a:pPr algn="ctr"/>
            <a:r>
              <a:rPr sz="819" b="0" i="0">
                <a:solidFill>
                  <a:srgbClr val="52606D"/>
                </a:solidFill>
                <a:latin typeface="Aptos"/>
              </a:rPr>
              <a:t>Release is built only from results that have passed verification and authorization.</a:t>
            </a:r>
          </a:p>
        </p:txBody>
      </p:sp>
      <p:sp>
        <p:nvSpPr>
          <p:cNvPr id="30" name="Rounded Rectangle 29"/>
          <p:cNvSpPr/>
          <p:nvPr/>
        </p:nvSpPr>
        <p:spPr>
          <a:xfrm>
            <a:off x="8375904" y="4160520"/>
            <a:ext cx="3337560" cy="960120"/>
          </a:xfrm>
          <a:prstGeom prst="round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58784" y="4352544"/>
            <a:ext cx="2971800" cy="182880"/>
          </a:xfrm>
          <a:prstGeom prst="rect">
            <a:avLst/>
          </a:prstGeom>
          <a:noFill/>
        </p:spPr>
        <p:txBody>
          <a:bodyPr wrap="square" lIns="0" rIns="0" tIns="0" bIns="0" anchor="t">
            <a:spAutoFit/>
          </a:bodyPr>
          <a:lstStyle/>
          <a:p>
            <a:pPr algn="ctr"/>
            <a:r>
              <a:rPr sz="800" b="1" i="0">
                <a:solidFill>
                  <a:srgbClr val="39729E"/>
                </a:solidFill>
                <a:latin typeface="Aptos"/>
              </a:rPr>
              <a:t>CONSUMABLE</a:t>
            </a:r>
          </a:p>
        </p:txBody>
      </p:sp>
      <p:sp>
        <p:nvSpPr>
          <p:cNvPr id="32" name="TextBox 31"/>
          <p:cNvSpPr txBox="1"/>
          <p:nvPr/>
        </p:nvSpPr>
        <p:spPr>
          <a:xfrm>
            <a:off x="8577072" y="4608576"/>
            <a:ext cx="2926080" cy="384048"/>
          </a:xfrm>
          <a:prstGeom prst="rect">
            <a:avLst/>
          </a:prstGeom>
          <a:noFill/>
        </p:spPr>
        <p:txBody>
          <a:bodyPr wrap="square" lIns="0" rIns="0" tIns="0" bIns="0" anchor="t">
            <a:spAutoFit/>
          </a:bodyPr>
          <a:lstStyle/>
          <a:p>
            <a:pPr algn="ctr"/>
            <a:r>
              <a:rPr sz="819" b="0" i="0">
                <a:solidFill>
                  <a:srgbClr val="52606D"/>
                </a:solidFill>
                <a:latin typeface="Aptos"/>
              </a:rPr>
              <a:t>Release is the stable surface intended for external consumption.</a:t>
            </a:r>
          </a:p>
        </p:txBody>
      </p:sp>
      <p:sp>
        <p:nvSpPr>
          <p:cNvPr id="33" name="Rounded Rectangle 32">
            <a:hlinkClick action="ppaction://hlinksldjump" r:id="rId2"/>
          </p:cNvPr>
          <p:cNvSpPr/>
          <p:nvPr/>
        </p:nvSpPr>
        <p:spPr>
          <a:xfrm>
            <a:off x="10317480" y="6199632"/>
            <a:ext cx="1325880" cy="310896"/>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63199" y="6249924"/>
            <a:ext cx="1234440" cy="228600"/>
          </a:xfrm>
          <a:prstGeom prst="rect">
            <a:avLst/>
          </a:prstGeom>
          <a:noFill/>
        </p:spPr>
        <p:txBody>
          <a:bodyPr wrap="square" lIns="0" rIns="0" tIns="0" bIns="0" anchor="ctr">
            <a:spAutoFit/>
          </a:bodyPr>
          <a:lstStyle/>
          <a:p>
            <a:pPr algn="ctr"/>
            <a:r>
              <a:rPr sz="760" b="1" i="0">
                <a:solidFill>
                  <a:srgbClr val="39729E"/>
                </a:solidFill>
                <a:latin typeface="Aptos"/>
              </a:rPr>
              <a:t>←  Back to boundary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38" name="Title 9"/>
          <p:cNvSpPr>
            <a:spLocks noGrp="1"/>
          </p:cNvSpPr>
          <p:nvPr>
            <p:ph type="title"/>
          </p:nvPr>
        </p:nvSpPr>
        <p:spPr>
          <a:xfrm>
            <a:off x="0" y="6900000"/>
            <a:ext cx="1000" cy="1000"/>
          </a:xfrm>
          <a:noFill/>
          <a:ln>
            <a:noFill/>
          </a:ln>
        </p:spPr>
        <p:txBody>
          <a:bodyPr/>
          <a:lstStyle/>
          <a:p>
            <a:r>
              <a:rPr lang="en-US" sz="100"/>
              <a:t>Delivery targets</a:t>
            </a:r>
            <a:endParaRPr lang="en-US" sz="100"/>
          </a:p>
        </p:txBody>
      </p:sp>
      <p:sp>
        <p:nvSpPr>
          <p:cNvPr id="2" name="Rectangle 1"/>
          <p:cNvSpPr/>
          <p:nvPr/>
        </p:nvSpPr>
        <p:spPr>
          <a:xfrm>
            <a:off x="0" y="0"/>
            <a:ext cx="12191999" cy="256032"/>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999" cy="237744"/>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50292"/>
            <a:ext cx="2743200" cy="146304"/>
          </a:xfrm>
          <a:prstGeom prst="rect">
            <a:avLst/>
          </a:prstGeom>
          <a:noFill/>
        </p:spPr>
        <p:txBody>
          <a:bodyPr wrap="square" lIns="0" rIns="0" tIns="0" bIns="0" anchor="t">
            <a:spAutoFit/>
          </a:bodyPr>
          <a:lstStyle/>
          <a:p>
            <a:pPr algn="l"/>
            <a:r>
              <a:rPr sz="580" b="1" i="0">
                <a:solidFill>
                  <a:srgbClr val="FFFFFF"/>
                </a:solidFill>
                <a:latin typeface="Aptos"/>
              </a:rPr>
              <a:t>DETAIL · DELIVERY</a:t>
            </a:r>
          </a:p>
        </p:txBody>
      </p:sp>
      <p:sp>
        <p:nvSpPr>
          <p:cNvPr id="5" name="TextBox 4"/>
          <p:cNvSpPr txBox="1"/>
          <p:nvPr/>
        </p:nvSpPr>
        <p:spPr>
          <a:xfrm>
            <a:off x="384048" y="6670548"/>
            <a:ext cx="4754880" cy="109728"/>
          </a:xfrm>
          <a:prstGeom prst="rect">
            <a:avLst/>
          </a:prstGeom>
          <a:noFill/>
        </p:spPr>
        <p:txBody>
          <a:bodyPr wrap="square" lIns="0" rIns="0" tIns="0" bIns="0" anchor="t">
            <a:spAutoFit/>
          </a:bodyPr>
          <a:lstStyle/>
          <a:p>
            <a:pPr algn="l"/>
            <a:r>
              <a:rPr sz="560" b="0" i="0">
                <a:solidFill>
                  <a:srgbClr val="DCEAF5"/>
                </a:solidFill>
                <a:latin typeface="Aptos"/>
              </a:rPr>
              <a:t>IASI · Introducing IASI · detail</a:t>
            </a:r>
          </a:p>
        </p:txBody>
      </p:sp>
      <p:sp>
        <p:nvSpPr>
          <p:cNvPr id="6" name="TextBox 5"/>
          <p:cNvSpPr txBox="1"/>
          <p:nvPr/>
        </p:nvSpPr>
        <p:spPr>
          <a:xfrm>
            <a:off x="11597639" y="6670548"/>
            <a:ext cx="256032" cy="109728"/>
          </a:xfrm>
          <a:prstGeom prst="rect">
            <a:avLst/>
          </a:prstGeom>
          <a:noFill/>
        </p:spPr>
        <p:txBody>
          <a:bodyPr wrap="square" lIns="0" rIns="0" tIns="0" bIns="0" anchor="t">
            <a:spAutoFit/>
          </a:bodyPr>
          <a:lstStyle/>
          <a:p>
            <a:pPr algn="r"/>
            <a:r>
              <a:rPr sz="560" b="1" i="0">
                <a:solidFill>
                  <a:srgbClr val="FFFFFF"/>
                </a:solidFill>
                <a:latin typeface="Aptos"/>
              </a:rPr>
              <a:t>09</a:t>
            </a:r>
          </a:p>
        </p:txBody>
      </p:sp>
      <p:sp>
        <p:nvSpPr>
          <p:cNvPr id="7" name="TextBox 6"/>
          <p:cNvSpPr txBox="1"/>
          <p:nvPr/>
        </p:nvSpPr>
        <p:spPr>
          <a:xfrm>
            <a:off x="749808" y="566928"/>
            <a:ext cx="10241280" cy="438912"/>
          </a:xfrm>
          <a:prstGeom prst="rect">
            <a:avLst/>
          </a:prstGeom>
          <a:noFill/>
        </p:spPr>
        <p:txBody>
          <a:bodyPr wrap="square" lIns="0" rIns="0" tIns="0" bIns="0" anchor="t">
            <a:spAutoFit/>
          </a:bodyPr>
          <a:lstStyle/>
          <a:p>
            <a:pPr algn="l"/>
            <a:r>
              <a:rPr sz="2400" b="1" i="0">
                <a:solidFill>
                  <a:srgbClr val="39729E"/>
                </a:solidFill>
                <a:latin typeface="Cormorant Garamond"/>
              </a:rPr>
              <a:t>Delivery targets</a:t>
            </a:r>
          </a:p>
        </p:txBody>
      </p:sp>
      <p:sp>
        <p:nvSpPr>
          <p:cNvPr id="8" name="TextBox 7"/>
          <p:cNvSpPr txBox="1"/>
          <p:nvPr/>
        </p:nvSpPr>
        <p:spPr>
          <a:xfrm>
            <a:off x="768096" y="1005840"/>
            <a:ext cx="10149840" cy="329184"/>
          </a:xfrm>
          <a:prstGeom prst="rect">
            <a:avLst/>
          </a:prstGeom>
          <a:noFill/>
        </p:spPr>
        <p:txBody>
          <a:bodyPr wrap="square" lIns="0" rIns="0" tIns="0" bIns="0" anchor="t">
            <a:spAutoFit/>
          </a:bodyPr>
          <a:lstStyle/>
          <a:p>
            <a:pPr algn="l"/>
            <a:r>
              <a:rPr sz="1080" b="0" i="0">
                <a:solidFill>
                  <a:srgbClr val="52606D"/>
                </a:solidFill>
                <a:latin typeface="Aptos"/>
              </a:rPr>
              <a:t>Release → Outside</a:t>
            </a:r>
          </a:p>
        </p:txBody>
      </p:sp>
      <p:sp>
        <p:nvSpPr>
          <p:cNvPr id="9" name="TextBox 8"/>
          <p:cNvSpPr txBox="1"/>
          <p:nvPr/>
        </p:nvSpPr>
        <p:spPr>
          <a:xfrm>
            <a:off x="804672" y="1389888"/>
            <a:ext cx="10332720" cy="457200"/>
          </a:xfrm>
          <a:prstGeom prst="rect">
            <a:avLst/>
          </a:prstGeom>
          <a:noFill/>
        </p:spPr>
        <p:txBody>
          <a:bodyPr wrap="square" lIns="0" rIns="0" tIns="0" bIns="0" anchor="t">
            <a:spAutoFit/>
          </a:bodyPr>
          <a:lstStyle/>
          <a:p>
            <a:pPr algn="l"/>
            <a:r>
              <a:rPr sz="1480" b="1" i="0">
                <a:solidFill>
                  <a:srgbClr val="1F2933"/>
                </a:solidFill>
                <a:latin typeface="Aptos"/>
              </a:rPr>
              <a:t>The current release is the authorized materialization exposed to its intended destination.</a:t>
            </a:r>
          </a:p>
        </p:txBody>
      </p:sp>
      <p:sp>
        <p:nvSpPr>
          <p:cNvPr id="10" name="Rounded Rectangle 9"/>
          <p:cNvSpPr/>
          <p:nvPr/>
        </p:nvSpPr>
        <p:spPr>
          <a:xfrm>
            <a:off x="868680" y="2148840"/>
            <a:ext cx="3246120" cy="1207008"/>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148840"/>
            <a:ext cx="64008" cy="1207008"/>
          </a:xfrm>
          <a:prstGeom prst="rect">
            <a:avLst/>
          </a:prstGeom>
          <a:solidFill>
            <a:srgbClr val="397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13432"/>
            <a:ext cx="2898648" cy="292608"/>
          </a:xfrm>
          <a:prstGeom prst="rect">
            <a:avLst/>
          </a:prstGeom>
          <a:noFill/>
        </p:spPr>
        <p:txBody>
          <a:bodyPr wrap="square" lIns="0" rIns="0" tIns="0" bIns="0" anchor="t">
            <a:spAutoFit/>
          </a:bodyPr>
          <a:lstStyle/>
          <a:p>
            <a:pPr algn="l"/>
            <a:r>
              <a:rPr sz="1420" b="1" i="0">
                <a:solidFill>
                  <a:srgbClr val="1F2933"/>
                </a:solidFill>
                <a:latin typeface="Aptos"/>
              </a:rPr>
              <a:t>Human / Client</a:t>
            </a:r>
          </a:p>
        </p:txBody>
      </p:sp>
      <p:sp>
        <p:nvSpPr>
          <p:cNvPr id="13" name="TextBox 12"/>
          <p:cNvSpPr txBox="1"/>
          <p:nvPr/>
        </p:nvSpPr>
        <p:spPr>
          <a:xfrm>
            <a:off x="1051560" y="2679192"/>
            <a:ext cx="2898648" cy="566928"/>
          </a:xfrm>
          <a:prstGeom prst="rect">
            <a:avLst/>
          </a:prstGeom>
          <a:noFill/>
        </p:spPr>
        <p:txBody>
          <a:bodyPr wrap="square" lIns="0" rIns="0" tIns="0" bIns="0" anchor="t">
            <a:spAutoFit/>
          </a:bodyPr>
          <a:lstStyle/>
          <a:p>
            <a:pPr algn="l"/>
            <a:r>
              <a:rPr sz="840" b="0" i="0">
                <a:solidFill>
                  <a:srgbClr val="52606D"/>
                </a:solidFill>
                <a:latin typeface="Aptos"/>
              </a:rPr>
              <a:t>Review, decision, handoff</a:t>
            </a:r>
          </a:p>
        </p:txBody>
      </p:sp>
      <p:sp>
        <p:nvSpPr>
          <p:cNvPr id="14" name="Rounded Rectangle 13"/>
          <p:cNvSpPr/>
          <p:nvPr/>
        </p:nvSpPr>
        <p:spPr>
          <a:xfrm>
            <a:off x="4572000" y="2148840"/>
            <a:ext cx="3246120" cy="1207008"/>
          </a:xfrm>
          <a:prstGeom prst="roundRect">
            <a:avLst/>
          </a:prstGeom>
          <a:solidFill>
            <a:srgbClr val="E7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0" y="2148840"/>
            <a:ext cx="64008" cy="1207008"/>
          </a:xfrm>
          <a:prstGeom prst="rect">
            <a:avLst/>
          </a:prstGeom>
          <a:solidFill>
            <a:srgbClr val="45B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2313432"/>
            <a:ext cx="2898648" cy="292608"/>
          </a:xfrm>
          <a:prstGeom prst="rect">
            <a:avLst/>
          </a:prstGeom>
          <a:noFill/>
        </p:spPr>
        <p:txBody>
          <a:bodyPr wrap="square" lIns="0" rIns="0" tIns="0" bIns="0" anchor="t">
            <a:spAutoFit/>
          </a:bodyPr>
          <a:lstStyle/>
          <a:p>
            <a:pPr algn="l"/>
            <a:r>
              <a:rPr sz="1420" b="1" i="0">
                <a:solidFill>
                  <a:srgbClr val="1F2933"/>
                </a:solidFill>
                <a:latin typeface="Aptos"/>
              </a:rPr>
              <a:t>Repository</a:t>
            </a:r>
          </a:p>
        </p:txBody>
      </p:sp>
      <p:sp>
        <p:nvSpPr>
          <p:cNvPr id="17" name="TextBox 16"/>
          <p:cNvSpPr txBox="1"/>
          <p:nvPr/>
        </p:nvSpPr>
        <p:spPr>
          <a:xfrm>
            <a:off x="4754880" y="2679192"/>
            <a:ext cx="2898648" cy="566928"/>
          </a:xfrm>
          <a:prstGeom prst="rect">
            <a:avLst/>
          </a:prstGeom>
          <a:noFill/>
        </p:spPr>
        <p:txBody>
          <a:bodyPr wrap="square" lIns="0" rIns="0" tIns="0" bIns="0" anchor="t">
            <a:spAutoFit/>
          </a:bodyPr>
          <a:lstStyle/>
          <a:p>
            <a:pPr algn="l"/>
            <a:r>
              <a:rPr sz="840" b="0" i="0">
                <a:solidFill>
                  <a:srgbClr val="52606D"/>
                </a:solidFill>
                <a:latin typeface="Aptos"/>
              </a:rPr>
              <a:t>Source or artifact store</a:t>
            </a:r>
          </a:p>
        </p:txBody>
      </p:sp>
      <p:sp>
        <p:nvSpPr>
          <p:cNvPr id="18" name="Rounded Rectangle 17"/>
          <p:cNvSpPr/>
          <p:nvPr/>
        </p:nvSpPr>
        <p:spPr>
          <a:xfrm>
            <a:off x="8275319" y="2148840"/>
            <a:ext cx="3246120" cy="1207008"/>
          </a:xfrm>
          <a:prstGeom prst="roundRect">
            <a:avLst/>
          </a:prstGeom>
          <a:solidFill>
            <a:srgbClr val="FF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19" y="2148840"/>
            <a:ext cx="64008" cy="1207008"/>
          </a:xfrm>
          <a:prstGeom prst="rect">
            <a:avLst/>
          </a:prstGeom>
          <a:solidFill>
            <a:srgbClr val="F07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199" y="2313432"/>
            <a:ext cx="2898648" cy="292608"/>
          </a:xfrm>
          <a:prstGeom prst="rect">
            <a:avLst/>
          </a:prstGeom>
          <a:noFill/>
        </p:spPr>
        <p:txBody>
          <a:bodyPr wrap="square" lIns="0" rIns="0" tIns="0" bIns="0" anchor="t">
            <a:spAutoFit/>
          </a:bodyPr>
          <a:lstStyle/>
          <a:p>
            <a:pPr algn="l"/>
            <a:r>
              <a:rPr sz="1420" b="1" i="0">
                <a:solidFill>
                  <a:srgbClr val="1F2933"/>
                </a:solidFill>
                <a:latin typeface="Aptos"/>
              </a:rPr>
              <a:t>Deployment</a:t>
            </a:r>
          </a:p>
        </p:txBody>
      </p:sp>
      <p:sp>
        <p:nvSpPr>
          <p:cNvPr id="21" name="TextBox 20"/>
          <p:cNvSpPr txBox="1"/>
          <p:nvPr/>
        </p:nvSpPr>
        <p:spPr>
          <a:xfrm>
            <a:off x="8458199" y="2679192"/>
            <a:ext cx="2898648" cy="566928"/>
          </a:xfrm>
          <a:prstGeom prst="rect">
            <a:avLst/>
          </a:prstGeom>
          <a:noFill/>
        </p:spPr>
        <p:txBody>
          <a:bodyPr wrap="square" lIns="0" rIns="0" tIns="0" bIns="0" anchor="t">
            <a:spAutoFit/>
          </a:bodyPr>
          <a:lstStyle/>
          <a:p>
            <a:pPr algn="l"/>
            <a:r>
              <a:rPr sz="840" b="0" i="0">
                <a:solidFill>
                  <a:srgbClr val="52606D"/>
                </a:solidFill>
                <a:latin typeface="Aptos"/>
              </a:rPr>
              <a:t>Runtime or environment</a:t>
            </a:r>
          </a:p>
        </p:txBody>
      </p:sp>
      <p:sp>
        <p:nvSpPr>
          <p:cNvPr id="22" name="Rounded Rectangle 21"/>
          <p:cNvSpPr/>
          <p:nvPr/>
        </p:nvSpPr>
        <p:spPr>
          <a:xfrm>
            <a:off x="868680" y="3749039"/>
            <a:ext cx="3246120" cy="1207008"/>
          </a:xfrm>
          <a:prstGeom prst="roundRect">
            <a:avLst/>
          </a:prstGeom>
          <a:solidFill>
            <a:srgbClr val="F0E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3749039"/>
            <a:ext cx="64008" cy="1207008"/>
          </a:xfrm>
          <a:prstGeom prst="rect">
            <a:avLst/>
          </a:prstGeom>
          <a:solidFill>
            <a:srgbClr val="8B7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3913631"/>
            <a:ext cx="2898648" cy="292608"/>
          </a:xfrm>
          <a:prstGeom prst="rect">
            <a:avLst/>
          </a:prstGeom>
          <a:noFill/>
        </p:spPr>
        <p:txBody>
          <a:bodyPr wrap="square" lIns="0" rIns="0" tIns="0" bIns="0" anchor="t">
            <a:spAutoFit/>
          </a:bodyPr>
          <a:lstStyle/>
          <a:p>
            <a:pPr algn="l"/>
            <a:r>
              <a:rPr sz="1420" b="1" i="0">
                <a:solidFill>
                  <a:srgbClr val="1F2933"/>
                </a:solidFill>
                <a:latin typeface="Aptos"/>
              </a:rPr>
              <a:t>Publication</a:t>
            </a:r>
          </a:p>
        </p:txBody>
      </p:sp>
      <p:sp>
        <p:nvSpPr>
          <p:cNvPr id="25" name="TextBox 24"/>
          <p:cNvSpPr txBox="1"/>
          <p:nvPr/>
        </p:nvSpPr>
        <p:spPr>
          <a:xfrm>
            <a:off x="1051560" y="4279391"/>
            <a:ext cx="2898648" cy="566928"/>
          </a:xfrm>
          <a:prstGeom prst="rect">
            <a:avLst/>
          </a:prstGeom>
          <a:noFill/>
        </p:spPr>
        <p:txBody>
          <a:bodyPr wrap="square" lIns="0" rIns="0" tIns="0" bIns="0" anchor="t">
            <a:spAutoFit/>
          </a:bodyPr>
          <a:lstStyle/>
          <a:p>
            <a:pPr algn="l"/>
            <a:r>
              <a:rPr sz="840" b="0" i="0">
                <a:solidFill>
                  <a:srgbClr val="52606D"/>
                </a:solidFill>
                <a:latin typeface="Aptos"/>
              </a:rPr>
              <a:t>Book, web, documentation</a:t>
            </a:r>
          </a:p>
        </p:txBody>
      </p:sp>
      <p:sp>
        <p:nvSpPr>
          <p:cNvPr id="26" name="Rounded Rectangle 25"/>
          <p:cNvSpPr/>
          <p:nvPr/>
        </p:nvSpPr>
        <p:spPr>
          <a:xfrm>
            <a:off x="4572000" y="3749039"/>
            <a:ext cx="3246120" cy="1207008"/>
          </a:xfrm>
          <a:prstGeom prst="roundRect">
            <a:avLst/>
          </a:prstGeom>
          <a:solidFill>
            <a:srgbClr val="F0F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3749039"/>
            <a:ext cx="64008" cy="1207008"/>
          </a:xfrm>
          <a:prstGeom prst="rect">
            <a:avLst/>
          </a:prstGeom>
          <a:solidFill>
            <a:srgbClr val="8AC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3913631"/>
            <a:ext cx="2898648" cy="292608"/>
          </a:xfrm>
          <a:prstGeom prst="rect">
            <a:avLst/>
          </a:prstGeom>
          <a:noFill/>
        </p:spPr>
        <p:txBody>
          <a:bodyPr wrap="square" lIns="0" rIns="0" tIns="0" bIns="0" anchor="t">
            <a:spAutoFit/>
          </a:bodyPr>
          <a:lstStyle/>
          <a:p>
            <a:pPr algn="l"/>
            <a:r>
              <a:rPr sz="1420" b="1" i="0">
                <a:solidFill>
                  <a:srgbClr val="1F2933"/>
                </a:solidFill>
                <a:latin typeface="Aptos"/>
              </a:rPr>
              <a:t>Communication</a:t>
            </a:r>
          </a:p>
        </p:txBody>
      </p:sp>
      <p:sp>
        <p:nvSpPr>
          <p:cNvPr id="29" name="TextBox 28"/>
          <p:cNvSpPr txBox="1"/>
          <p:nvPr/>
        </p:nvSpPr>
        <p:spPr>
          <a:xfrm>
            <a:off x="4754880" y="4279391"/>
            <a:ext cx="2898648" cy="566928"/>
          </a:xfrm>
          <a:prstGeom prst="rect">
            <a:avLst/>
          </a:prstGeom>
          <a:noFill/>
        </p:spPr>
        <p:txBody>
          <a:bodyPr wrap="square" lIns="0" rIns="0" tIns="0" bIns="0" anchor="t">
            <a:spAutoFit/>
          </a:bodyPr>
          <a:lstStyle/>
          <a:p>
            <a:pPr algn="l"/>
            <a:r>
              <a:rPr sz="840" b="0" i="0">
                <a:solidFill>
                  <a:srgbClr val="52606D"/>
                </a:solidFill>
                <a:latin typeface="Aptos"/>
              </a:rPr>
              <a:t>Email, message, notification</a:t>
            </a:r>
          </a:p>
        </p:txBody>
      </p:sp>
      <p:sp>
        <p:nvSpPr>
          <p:cNvPr id="30" name="Rounded Rectangle 29"/>
          <p:cNvSpPr/>
          <p:nvPr/>
        </p:nvSpPr>
        <p:spPr>
          <a:xfrm>
            <a:off x="8275319" y="3749039"/>
            <a:ext cx="3246120" cy="1207008"/>
          </a:xfrm>
          <a:prstGeom prst="round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75319" y="3749039"/>
            <a:ext cx="64008" cy="1207008"/>
          </a:xfrm>
          <a:prstGeom prst="rect">
            <a:avLst/>
          </a:prstGeom>
          <a:solidFill>
            <a:srgbClr val="B78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199" y="3913631"/>
            <a:ext cx="2898648" cy="292608"/>
          </a:xfrm>
          <a:prstGeom prst="rect">
            <a:avLst/>
          </a:prstGeom>
          <a:noFill/>
        </p:spPr>
        <p:txBody>
          <a:bodyPr wrap="square" lIns="0" rIns="0" tIns="0" bIns="0" anchor="t">
            <a:spAutoFit/>
          </a:bodyPr>
          <a:lstStyle/>
          <a:p>
            <a:pPr algn="l"/>
            <a:r>
              <a:rPr sz="1420" b="1" i="0">
                <a:solidFill>
                  <a:srgbClr val="1F2933"/>
                </a:solidFill>
                <a:latin typeface="Aptos"/>
              </a:rPr>
              <a:t>Package</a:t>
            </a:r>
          </a:p>
        </p:txBody>
      </p:sp>
      <p:sp>
        <p:nvSpPr>
          <p:cNvPr id="33" name="TextBox 32"/>
          <p:cNvSpPr txBox="1"/>
          <p:nvPr/>
        </p:nvSpPr>
        <p:spPr>
          <a:xfrm>
            <a:off x="8458199" y="4279391"/>
            <a:ext cx="2898648" cy="566928"/>
          </a:xfrm>
          <a:prstGeom prst="rect">
            <a:avLst/>
          </a:prstGeom>
          <a:noFill/>
        </p:spPr>
        <p:txBody>
          <a:bodyPr wrap="square" lIns="0" rIns="0" tIns="0" bIns="0" anchor="t">
            <a:spAutoFit/>
          </a:bodyPr>
          <a:lstStyle/>
          <a:p>
            <a:pPr algn="l"/>
            <a:r>
              <a:rPr sz="840" b="0" i="0">
                <a:solidFill>
                  <a:srgbClr val="52606D"/>
                </a:solidFill>
                <a:latin typeface="Aptos"/>
              </a:rPr>
              <a:t>Binary or distributable artifact</a:t>
            </a:r>
          </a:p>
        </p:txBody>
      </p:sp>
      <p:sp>
        <p:nvSpPr>
          <p:cNvPr id="34" name="Rounded Rectangle 33"/>
          <p:cNvSpPr/>
          <p:nvPr/>
        </p:nvSpPr>
        <p:spPr>
          <a:xfrm>
            <a:off x="2788920" y="5074920"/>
            <a:ext cx="6629400" cy="457200"/>
          </a:xfrm>
          <a:prstGeom prst="round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71800" y="5193792"/>
            <a:ext cx="6263640" cy="219456"/>
          </a:xfrm>
          <a:prstGeom prst="rect">
            <a:avLst/>
          </a:prstGeom>
          <a:noFill/>
        </p:spPr>
        <p:txBody>
          <a:bodyPr wrap="square" lIns="0" rIns="0" tIns="0" bIns="0" anchor="t">
            <a:spAutoFit/>
          </a:bodyPr>
          <a:lstStyle/>
          <a:p>
            <a:pPr algn="ctr"/>
            <a:r>
              <a:rPr sz="1160" b="1" i="0">
                <a:solidFill>
                  <a:srgbClr val="285B82"/>
                </a:solidFill>
                <a:latin typeface="Aptos"/>
              </a:rPr>
              <a:t>Release is exposed outside IASI. Outputs remain internal.</a:t>
            </a:r>
          </a:p>
        </p:txBody>
      </p:sp>
      <p:sp>
        <p:nvSpPr>
          <p:cNvPr id="36" name="Rounded Rectangle 35">
            <a:hlinkClick action="ppaction://hlinksldjump" r:id="rId2"/>
          </p:cNvPr>
          <p:cNvSpPr/>
          <p:nvPr/>
        </p:nvSpPr>
        <p:spPr>
          <a:xfrm>
            <a:off x="10317480" y="6199632"/>
            <a:ext cx="1325880" cy="310896"/>
          </a:xfrm>
          <a:prstGeom prst="roundRect">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63199" y="6249924"/>
            <a:ext cx="1234440" cy="228600"/>
          </a:xfrm>
          <a:prstGeom prst="rect">
            <a:avLst/>
          </a:prstGeom>
          <a:noFill/>
        </p:spPr>
        <p:txBody>
          <a:bodyPr wrap="square" lIns="0" rIns="0" tIns="0" bIns="0" anchor="ctr">
            <a:spAutoFit/>
          </a:bodyPr>
          <a:lstStyle/>
          <a:p>
            <a:pPr algn="ctr"/>
            <a:r>
              <a:rPr sz="760" b="1" i="0">
                <a:solidFill>
                  <a:srgbClr val="39729E"/>
                </a:solidFill>
                <a:latin typeface="Aptos"/>
              </a:rPr>
              <a:t>←  Back to boundary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nder-construction(1).png"/>
          <p:cNvPicPr>
            <a:picLocks noChangeAspect="1"/>
          </p:cNvPicPr>
          <p:nvPr/>
        </p:nvPicPr>
        <p:blipFill>
          <a:blip r:embed="rId2"/>
          <a:stretch>
            <a:fillRect/>
          </a:stretch>
        </p:blipFill>
        <p:spPr>
          <a:xfrm>
            <a:off x="0" y="1398985"/>
            <a:ext cx="12191999" cy="4060030"/>
          </a:xfrm>
          <a:prstGeom prst="rect">
            <a:avLst/>
          </a:prstGeom>
        </p:spPr>
      </p:pic>
      <p:sp>
        <p:nvSpPr>
          <p:cNvPr id="3" name="Structural Title"/>
          <p:cNvSpPr txBox="1"/>
          <p:nvPr>
            <p:ph type="title"/>
          </p:nvPr>
        </p:nvSpPr>
        <p:spPr>
          <a:xfrm>
            <a:off x="0" y="6900000"/>
            <a:ext cx="1000" cy="1000"/>
          </a:xfrm>
          <a:prstGeom prst="rect">
            <a:avLst/>
          </a:prstGeom>
          <a:noFill/>
          <a:ln>
            <a:noFill/>
          </a:ln>
        </p:spPr>
        <p:txBody>
          <a:bodyPr wrap="none">
            <a:spAutoFit/>
          </a:bodyPr>
          <a:lstStyle/>
          <a:p>
            <a:r>
              <a:rPr sz="100"/>
              <a:t>IASI está en construcción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IASI — Methodology</dc:title>
  <dc:subject>Introducing IASI methodology presentation</dc:subject>
  <dc:creator>IASI</dc:creator>
  <cp:keywords/>
  <dc:description>PowerPoint materialization of the Introducing IASI prototype, updated with the Release stage.</dc:description>
  <cp:lastModifiedBy>Steve Canny</cp:lastModifiedBy>
  <cp:revision>1</cp:revision>
  <dcterms:created xsi:type="dcterms:W3CDTF">2013-01-27T09:14:16Z</dcterms:created>
  <dcterms:modified xsi:type="dcterms:W3CDTF">2013-01-27T09:15:58Z</dcterms:modified>
  <cp:category/>
</cp:coreProperties>
</file>